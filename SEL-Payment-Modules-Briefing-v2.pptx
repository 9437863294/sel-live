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A3A0765-09FF-BDAC-1D8E-FA13325EB215}">
          <p14:sldIdLst>
            <p14:sldId id="256"/>
            <p14:sldId id="257"/>
            <p14:sldId id="258"/>
            <p14:sldId id="259"/>
          </p14:sldIdLst>
        </p14:section>
        <p14:section name="The modules" id="{790C45A4-590A-DAE6-A3C6-530647422518}">
          <p14:sldIdLst>
            <p14:sldId id="260"/>
            <p14:sldId id="261"/>
            <p14:sldId id="262"/>
            <p14:sldId id="263"/>
          </p14:sldIdLst>
        </p14:section>
        <p14:section name="Control" id="{FE7A8CF3-E420-ACBA-1997-CBC8E16D3929}">
          <p14:sldIdLst>
            <p14:sldId id="264"/>
            <p14:sldId id="265"/>
            <p14:sldId id="266"/>
            <p14:sldId id="267"/>
          </p14:sldIdLst>
        </p14:section>
        <p14:section name="GST across seven states" id="{44CAC098-F05E-6B51-941E-81706D5B685F}">
          <p14:sldIdLst>
            <p14:sldId id="268"/>
            <p14:sldId id="269"/>
            <p14:sldId id="270"/>
            <p14:sldId id="271"/>
          </p14:sldIdLst>
        </p14:section>
        <p14:section name="Visibility" id="{E3AF0300-E72E-8EE8-A87B-A28CE999E155}">
          <p14:sldIdLst>
            <p14:sldId id="272"/>
          </p14:sldIdLst>
        </p14:section>
        <p14:section name="What next" id="{45B1BAB3-FFB2-4AA6-5278-3B8FE85377FD}">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3" d="100"/>
          <a:sy n="113" d="100"/>
        </p:scale>
        <p:origin x="47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5285C"/>
                </a:solidFill>
                <a:latin typeface="+mn-lt"/>
              </a:defRPr>
            </a:pPr>
            <a:r>
              <a:rPr lang="en-IN" sz="1300" b="0" i="0" u="none" strike="noStrike">
                <a:solidFill>
                  <a:srgbClr val="15285C"/>
                </a:solidFill>
                <a:latin typeface="+mn-lt"/>
              </a:rPr>
              <a:t>Ageing of open requisitions</a:t>
            </a:r>
          </a:p>
        </c:rich>
      </c:tx>
      <c:overlay val="0"/>
    </c:title>
    <c:autoTitleDeleted val="0"/>
    <c:plotArea>
      <c:layout/>
      <c:barChart>
        <c:barDir val="col"/>
        <c:grouping val="clustered"/>
        <c:varyColors val="0"/>
        <c:ser>
          <c:idx val="0"/>
          <c:order val="0"/>
          <c:tx>
            <c:strRef>
              <c:f>Sheet1!$B$1</c:f>
              <c:strCache>
                <c:ptCount val="1"/>
                <c:pt idx="0">
                  <c:v>Open requisitions</c:v>
                </c:pt>
              </c:strCache>
            </c:strRef>
          </c:tx>
          <c:spPr>
            <a:solidFill>
              <a:srgbClr val="15285C"/>
            </a:solidFill>
            <a:effectLst/>
          </c:spPr>
          <c:invertIfNegative val="0"/>
          <c:dPt>
            <c:idx val="0"/>
            <c:invertIfNegative val="0"/>
            <c:bubble3D val="0"/>
            <c:extLst>
              <c:ext xmlns:c16="http://schemas.microsoft.com/office/drawing/2014/chart" uri="{C3380CC4-5D6E-409C-BE32-E72D297353CC}">
                <c16:uniqueId val="{00000001-A38D-4237-B344-FAFA840D93C1}"/>
              </c:ext>
            </c:extLst>
          </c:dPt>
          <c:dPt>
            <c:idx val="1"/>
            <c:invertIfNegative val="0"/>
            <c:bubble3D val="0"/>
            <c:spPr>
              <a:solidFill>
                <a:srgbClr val="4C6FA5"/>
              </a:solidFill>
              <a:effectLst/>
            </c:spPr>
            <c:extLst>
              <c:ext xmlns:c16="http://schemas.microsoft.com/office/drawing/2014/chart" uri="{C3380CC4-5D6E-409C-BE32-E72D297353CC}">
                <c16:uniqueId val="{00000003-A38D-4237-B344-FAFA840D93C1}"/>
              </c:ext>
            </c:extLst>
          </c:dPt>
          <c:dPt>
            <c:idx val="2"/>
            <c:invertIfNegative val="0"/>
            <c:bubble3D val="0"/>
            <c:spPr>
              <a:solidFill>
                <a:srgbClr val="B4801A"/>
              </a:solidFill>
              <a:effectLst/>
            </c:spPr>
            <c:extLst>
              <c:ext xmlns:c16="http://schemas.microsoft.com/office/drawing/2014/chart" uri="{C3380CC4-5D6E-409C-BE32-E72D297353CC}">
                <c16:uniqueId val="{00000005-A38D-4237-B344-FAFA840D93C1}"/>
              </c:ext>
            </c:extLst>
          </c:dPt>
          <c:dPt>
            <c:idx val="3"/>
            <c:invertIfNegative val="0"/>
            <c:bubble3D val="0"/>
            <c:spPr>
              <a:solidFill>
                <a:srgbClr val="C9772A"/>
              </a:solidFill>
              <a:effectLst/>
            </c:spPr>
            <c:extLst>
              <c:ext xmlns:c16="http://schemas.microsoft.com/office/drawing/2014/chart" uri="{C3380CC4-5D6E-409C-BE32-E72D297353CC}">
                <c16:uniqueId val="{00000007-A38D-4237-B344-FAFA840D93C1}"/>
              </c:ext>
            </c:extLst>
          </c:dPt>
          <c:dPt>
            <c:idx val="4"/>
            <c:invertIfNegative val="0"/>
            <c:bubble3D val="0"/>
            <c:spPr>
              <a:solidFill>
                <a:srgbClr val="A6281F"/>
              </a:solidFill>
              <a:effectLst/>
            </c:spPr>
            <c:extLst>
              <c:ext xmlns:c16="http://schemas.microsoft.com/office/drawing/2014/chart" uri="{C3380CC4-5D6E-409C-BE32-E72D297353CC}">
                <c16:uniqueId val="{00000009-A38D-4237-B344-FAFA840D93C1}"/>
              </c:ext>
            </c:extLst>
          </c:dPt>
          <c:dLbls>
            <c:numFmt formatCode="#,##0" sourceLinked="0"/>
            <c:spPr>
              <a:noFill/>
              <a:ln>
                <a:noFill/>
              </a:ln>
              <a:effectLst/>
            </c:spPr>
            <c:txPr>
              <a:bodyPr/>
              <a:lstStyle/>
              <a:p>
                <a:pPr>
                  <a:defRPr sz="1000" b="0" i="0" u="none" strike="noStrike">
                    <a:solidFill>
                      <a:srgbClr val="5A6577"/>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0–7 days</c:v>
                </c:pt>
                <c:pt idx="1">
                  <c:v>8–15</c:v>
                </c:pt>
                <c:pt idx="2">
                  <c:v>16–30</c:v>
                </c:pt>
                <c:pt idx="3">
                  <c:v>31–60</c:v>
                </c:pt>
                <c:pt idx="4">
                  <c:v>60+</c:v>
                </c:pt>
              </c:strCache>
            </c:strRef>
          </c:cat>
          <c:val>
            <c:numRef>
              <c:f>Sheet1!$B$2:$B$6</c:f>
              <c:numCache>
                <c:formatCode>General</c:formatCode>
                <c:ptCount val="5"/>
                <c:pt idx="0">
                  <c:v>34</c:v>
                </c:pt>
                <c:pt idx="1">
                  <c:v>22</c:v>
                </c:pt>
                <c:pt idx="2">
                  <c:v>15</c:v>
                </c:pt>
                <c:pt idx="3">
                  <c:v>8</c:v>
                </c:pt>
                <c:pt idx="4">
                  <c:v>4</c:v>
                </c:pt>
              </c:numCache>
            </c:numRef>
          </c:val>
          <c:extLst>
            <c:ext xmlns:c16="http://schemas.microsoft.com/office/drawing/2014/chart" uri="{C3380CC4-5D6E-409C-BE32-E72D297353CC}">
              <c16:uniqueId val="{0000000A-A38D-4237-B344-FAFA840D93C1}"/>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6577"/>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7EB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577"/>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90755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line: today a payment touches three registers and several people. This briefing shows the single path it now follows, and the controls and records that come with it. Directors: focus on slides 3, 10, 14 and 15. Users: slides 6 to 8 and 18.</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 the audience lives these three problems. Invite one example from the room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figures are facts about the build, not performance claims. Live figures appear on the dashboards themselves.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this left to right. The point to land: GST and TDS are captured at step 1 and travel with the bill, so verification starts filled 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now the day-to-day. Ask people to notice which module is theirs.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this is the form most of you use. Point out that GST and TDS only appear if you tick them.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multiple-receive point matters to the finance team: they used to key these one at a time.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Directors care about the last card here — the position is derived, not typed.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directors should take away: the controls are theirs to set and to audit.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 default: adding an assignment changes nothing until you also choose to enforce it. Nobody gets locked out by accident.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this slide used to require a developer. Mention that defaults match the old behaviour, so nothing changed on the day it shipped.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live if possible: open a requisition, show its Activity timeline. This is usually the slide that reassures directors most.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This section is for the directors and the accounts team.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old behaviour assumed one company state, so a supplier in any other state was treated as IGST. That was wrong six times out of seven.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important accounting point in the deck. One combined "GST" figure would read as credit that does not exist.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linger on with the accounts team. Each of these is money the company would otherwise lose quietly.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shape is illustrative — say so out loud, then switch to the live dashboard if the room wants numbers.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slide. Read the row that belongs to each person in the room; skip the others.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specifics and owners. Agree who does each of these and by when, before leaving the room.</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 three dashboards already open in tabs before you start the deck.</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5285C"/>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RICH">
    <p:bg>
      <p:bgPr>
        <a:solidFill>
          <a:srgbClr val="15285C"/>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400800"/>
            <a:ext cx="7680960" cy="274320"/>
          </a:xfrm>
          <a:prstGeom prst="rect">
            <a:avLst/>
          </a:prstGeom>
          <a:noFill/>
          <a:ln/>
        </p:spPr>
        <p:txBody>
          <a:bodyPr wrap="square" rtlCol="0" anchor="ctr"/>
          <a:lstStyle/>
          <a:p>
            <a:pPr marL="0" indent="0">
              <a:buNone/>
            </a:pPr>
            <a:r>
              <a:rPr lang="en-US" sz="950" dirty="0">
                <a:solidFill>
                  <a:srgbClr val="A8B0BD"/>
                </a:solidFill>
                <a:latin typeface="Calibri" pitchFamily="34" charset="0"/>
                <a:ea typeface="Calibri" pitchFamily="34" charset="-122"/>
                <a:cs typeface="Calibri" pitchFamily="34" charset="-120"/>
              </a:rPr>
              <a:t>SEL · Expenses · Daily Requisition · Bank Balance</a:t>
            </a:r>
            <a:endParaRPr lang="en-US" sz="950" dirty="0"/>
          </a:p>
        </p:txBody>
      </p:sp>
      <p:sp>
        <p:nvSpPr>
          <p:cNvPr id="25" name="Slide Number Placeholder 0"/>
          <p:cNvSpPr>
            <a:spLocks noGrp="1"/>
          </p:cNvSpPr>
          <p:nvPr>
            <p:ph type="sldNum" sz="quarter" idx="4294967295"/>
          </p:nvPr>
        </p:nvSpPr>
        <p:spPr>
          <a:xfrm>
            <a:off x="1143000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950">
                <a:solidFill>
                  <a:srgbClr val="A8B0BD"/>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950">
                <a:solidFill>
                  <a:srgbClr val="A8B0BD"/>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566928" y="1783080"/>
            <a:ext cx="10058400" cy="310896"/>
          </a:xfrm>
          <a:prstGeom prst="rect">
            <a:avLst/>
          </a:prstGeom>
          <a:noFill/>
          <a:ln/>
        </p:spPr>
        <p:txBody>
          <a:bodyPr wrap="square" lIns="0" tIns="0" rIns="0" bIns="0" rtlCol="0" anchor="ctr"/>
          <a:lstStyle/>
          <a:p>
            <a:pPr marL="0" indent="0">
              <a:buNone/>
            </a:pPr>
            <a:r>
              <a:rPr lang="en-US" sz="1400" b="1" kern="0" spc="300" dirty="0">
                <a:solidFill>
                  <a:srgbClr val="B4801A"/>
                </a:solidFill>
                <a:latin typeface="Calibri" pitchFamily="34" charset="0"/>
                <a:ea typeface="Calibri" pitchFamily="34" charset="-122"/>
                <a:cs typeface="Calibri" pitchFamily="34" charset="-120"/>
              </a:rPr>
              <a:t>EXPENSES · DAILY REQUISITION · BANK BALANCE</a:t>
            </a:r>
            <a:endParaRPr lang="en-US" sz="1400" dirty="0"/>
          </a:p>
        </p:txBody>
      </p:sp>
      <p:sp>
        <p:nvSpPr>
          <p:cNvPr id="3" name="dark-title"/>
          <p:cNvSpPr txBox="1"/>
          <p:nvPr/>
        </p:nvSpPr>
        <p:spPr>
          <a:xfrm>
            <a:off x="566928" y="2203704"/>
            <a:ext cx="10058400" cy="754888"/>
          </a:xfrm>
          <a:prstGeom prst="rect">
            <a:avLst/>
          </a:prstGeom>
          <a:noFill/>
          <a:ln/>
        </p:spPr>
        <p:txBody>
          <a:bodyPr wrap="square" lIns="0" tIns="0" rIns="0" bIns="0" rtlCol="0" anchor="t"/>
          <a:lstStyle/>
          <a:p>
            <a:pPr marL="0" indent="0">
              <a:buNone/>
            </a:pPr>
            <a:r>
              <a:rPr lang="en-US" sz="4400" b="1" dirty="0">
                <a:solidFill>
                  <a:srgbClr val="FFFFFF"/>
                </a:solidFill>
              </a:rPr>
              <a:t>One window, from request to payment</a:t>
            </a:r>
            <a:endParaRPr lang="en-US" sz="4400" dirty="0"/>
          </a:p>
        </p:txBody>
      </p:sp>
      <p:sp>
        <p:nvSpPr>
          <p:cNvPr id="4" name="dark-sub"/>
          <p:cNvSpPr txBox="1"/>
          <p:nvPr/>
        </p:nvSpPr>
        <p:spPr>
          <a:xfrm>
            <a:off x="566928" y="3123184"/>
            <a:ext cx="9692640" cy="336550"/>
          </a:xfrm>
          <a:prstGeom prst="rect">
            <a:avLst/>
          </a:prstGeom>
          <a:noFill/>
          <a:ln/>
        </p:spPr>
        <p:txBody>
          <a:bodyPr wrap="square" lIns="0" tIns="0" rIns="0" bIns="0" rtlCol="0" anchor="t"/>
          <a:lstStyle/>
          <a:p>
            <a:pPr marL="0" indent="0">
              <a:buNone/>
            </a:pPr>
            <a:r>
              <a:rPr lang="en-US" sz="1700" dirty="0">
                <a:solidFill>
                  <a:srgbClr val="CBD6E8"/>
                </a:solidFill>
                <a:latin typeface="Calibri" pitchFamily="34" charset="0"/>
                <a:ea typeface="Calibri" pitchFamily="34" charset="-122"/>
                <a:cs typeface="Calibri" pitchFamily="34" charset="-120"/>
              </a:rPr>
              <a:t>How a payment is raised, checked, approved and paid — and what each of us sees on the way.</a:t>
            </a:r>
            <a:endParaRPr lang="en-US" sz="1700" dirty="0"/>
          </a:p>
        </p:txBody>
      </p:sp>
      <p:sp>
        <p:nvSpPr>
          <p:cNvPr id="5" name="Text 3"/>
          <p:cNvSpPr txBox="1"/>
          <p:nvPr/>
        </p:nvSpPr>
        <p:spPr>
          <a:xfrm>
            <a:off x="566928" y="3840480"/>
            <a:ext cx="5486400" cy="292608"/>
          </a:xfrm>
          <a:prstGeom prst="rect">
            <a:avLst/>
          </a:prstGeom>
          <a:noFill/>
          <a:ln/>
        </p:spPr>
        <p:txBody>
          <a:bodyPr wrap="square" lIns="0" tIns="0" rIns="0" bIns="0" rtlCol="0" anchor="ctr"/>
          <a:lstStyle/>
          <a:p>
            <a:pPr marL="0" indent="0">
              <a:buNone/>
            </a:pPr>
            <a:r>
              <a:rPr lang="en-US" sz="1300" b="1" dirty="0">
                <a:solidFill>
                  <a:srgbClr val="B4801A"/>
                </a:solidFill>
                <a:latin typeface="Calibri" pitchFamily="34" charset="0"/>
                <a:ea typeface="Calibri" pitchFamily="34" charset="-122"/>
                <a:cs typeface="Calibri" pitchFamily="34" charset="-120"/>
              </a:rPr>
              <a:t>Briefing for users and directors</a:t>
            </a:r>
            <a:endParaRPr lang="en-US" sz="1300" dirty="0"/>
          </a:p>
        </p:txBody>
      </p:sp>
      <p:sp>
        <p:nvSpPr>
          <p:cNvPr id="6" name="dot-1"/>
          <p:cNvSpPr/>
          <p:nvPr/>
        </p:nvSpPr>
        <p:spPr>
          <a:xfrm>
            <a:off x="1444752" y="4892040"/>
            <a:ext cx="438912" cy="438912"/>
          </a:xfrm>
          <a:prstGeom prst="ellipse">
            <a:avLst/>
          </a:prstGeom>
          <a:solidFill>
            <a:srgbClr val="2F5192"/>
          </a:solidFill>
          <a:ln w="12700">
            <a:solidFill>
              <a:srgbClr val="2F5192"/>
            </a:solidFill>
            <a:prstDash val="solid"/>
          </a:ln>
        </p:spPr>
      </p:sp>
      <p:sp>
        <p:nvSpPr>
          <p:cNvPr id="7" name="Text 5"/>
          <p:cNvSpPr txBox="1"/>
          <p:nvPr/>
        </p:nvSpPr>
        <p:spPr>
          <a:xfrm>
            <a:off x="1444752" y="4892040"/>
            <a:ext cx="438912" cy="438912"/>
          </a:xfrm>
          <a:prstGeom prst="rect">
            <a:avLst/>
          </a:prstGeom>
          <a:noFill/>
          <a:ln/>
        </p:spPr>
        <p:txBody>
          <a:bodyPr wrap="square" lIns="0" tIns="0" rIns="0" bIns="0" rtlCol="0" anchor="ctr"/>
          <a:lstStyle/>
          <a:p>
            <a:pPr marL="0" indent="0" algn="ctr">
              <a:buNone/>
            </a:pPr>
            <a:r>
              <a:rPr lang="en-US" sz="1500" b="1" dirty="0">
                <a:solidFill>
                  <a:srgbClr val="FFFFFF"/>
                </a:solidFill>
              </a:rPr>
              <a:t>1</a:t>
            </a:r>
            <a:endParaRPr lang="en-US" sz="1500" dirty="0"/>
          </a:p>
        </p:txBody>
      </p:sp>
      <p:sp>
        <p:nvSpPr>
          <p:cNvPr id="8" name="Text 6"/>
          <p:cNvSpPr txBox="1"/>
          <p:nvPr/>
        </p:nvSpPr>
        <p:spPr>
          <a:xfrm>
            <a:off x="566928" y="5413248"/>
            <a:ext cx="2194560" cy="292608"/>
          </a:xfrm>
          <a:prstGeom prst="rect">
            <a:avLst/>
          </a:prstGeom>
          <a:noFill/>
          <a:ln/>
        </p:spPr>
        <p:txBody>
          <a:bodyPr wrap="square" lIns="0" tIns="0" rIns="0" bIns="0" rtlCol="0" anchor="ctr"/>
          <a:lstStyle/>
          <a:p>
            <a:pPr marL="0" indent="0" algn="ctr">
              <a:buNone/>
            </a:pPr>
            <a:r>
              <a:rPr lang="en-US" sz="1250" b="1" dirty="0">
                <a:solidFill>
                  <a:srgbClr val="CBD6E8"/>
                </a:solidFill>
                <a:latin typeface="Calibri" pitchFamily="34" charset="0"/>
                <a:ea typeface="Calibri" pitchFamily="34" charset="-122"/>
                <a:cs typeface="Calibri" pitchFamily="34" charset="-120"/>
              </a:rPr>
              <a:t>Request</a:t>
            </a:r>
            <a:endParaRPr lang="en-US" sz="1250" dirty="0"/>
          </a:p>
        </p:txBody>
      </p:sp>
      <p:sp>
        <p:nvSpPr>
          <p:cNvPr id="9" name="title-arrow-0"/>
          <p:cNvSpPr/>
          <p:nvPr/>
        </p:nvSpPr>
        <p:spPr>
          <a:xfrm>
            <a:off x="2825496" y="5047488"/>
            <a:ext cx="283464" cy="137160"/>
          </a:xfrm>
          <a:prstGeom prst="rightArrow">
            <a:avLst/>
          </a:prstGeom>
          <a:solidFill>
            <a:srgbClr val="2F5192"/>
          </a:solidFill>
          <a:ln w="12700">
            <a:solidFill>
              <a:srgbClr val="2F5192"/>
            </a:solidFill>
            <a:prstDash val="solid"/>
          </a:ln>
        </p:spPr>
      </p:sp>
      <p:sp>
        <p:nvSpPr>
          <p:cNvPr id="10" name="dot-2"/>
          <p:cNvSpPr/>
          <p:nvPr/>
        </p:nvSpPr>
        <p:spPr>
          <a:xfrm>
            <a:off x="4050792" y="4892040"/>
            <a:ext cx="438912" cy="438912"/>
          </a:xfrm>
          <a:prstGeom prst="ellipse">
            <a:avLst/>
          </a:prstGeom>
          <a:solidFill>
            <a:srgbClr val="2F5192"/>
          </a:solidFill>
          <a:ln w="12700">
            <a:solidFill>
              <a:srgbClr val="2F5192"/>
            </a:solidFill>
            <a:prstDash val="solid"/>
          </a:ln>
        </p:spPr>
      </p:sp>
      <p:sp>
        <p:nvSpPr>
          <p:cNvPr id="11" name="Text 9"/>
          <p:cNvSpPr txBox="1"/>
          <p:nvPr/>
        </p:nvSpPr>
        <p:spPr>
          <a:xfrm>
            <a:off x="4050792" y="4892040"/>
            <a:ext cx="438912" cy="438912"/>
          </a:xfrm>
          <a:prstGeom prst="rect">
            <a:avLst/>
          </a:prstGeom>
          <a:noFill/>
          <a:ln/>
        </p:spPr>
        <p:txBody>
          <a:bodyPr wrap="square" lIns="0" tIns="0" rIns="0" bIns="0" rtlCol="0" anchor="ctr"/>
          <a:lstStyle/>
          <a:p>
            <a:pPr marL="0" indent="0" algn="ctr">
              <a:buNone/>
            </a:pPr>
            <a:r>
              <a:rPr lang="en-US" sz="1500" b="1" dirty="0">
                <a:solidFill>
                  <a:srgbClr val="FFFFFF"/>
                </a:solidFill>
              </a:rPr>
              <a:t>2</a:t>
            </a:r>
            <a:endParaRPr lang="en-US" sz="1500" dirty="0"/>
          </a:p>
        </p:txBody>
      </p:sp>
      <p:sp>
        <p:nvSpPr>
          <p:cNvPr id="12" name="Text 10"/>
          <p:cNvSpPr txBox="1"/>
          <p:nvPr/>
        </p:nvSpPr>
        <p:spPr>
          <a:xfrm>
            <a:off x="3172968" y="5413248"/>
            <a:ext cx="2194560" cy="292608"/>
          </a:xfrm>
          <a:prstGeom prst="rect">
            <a:avLst/>
          </a:prstGeom>
          <a:noFill/>
          <a:ln/>
        </p:spPr>
        <p:txBody>
          <a:bodyPr wrap="square" lIns="0" tIns="0" rIns="0" bIns="0" rtlCol="0" anchor="ctr"/>
          <a:lstStyle/>
          <a:p>
            <a:pPr marL="0" indent="0" algn="ctr">
              <a:buNone/>
            </a:pPr>
            <a:r>
              <a:rPr lang="en-US" sz="1250" b="1" dirty="0">
                <a:solidFill>
                  <a:srgbClr val="CBD6E8"/>
                </a:solidFill>
                <a:latin typeface="Calibri" pitchFamily="34" charset="0"/>
                <a:ea typeface="Calibri" pitchFamily="34" charset="-122"/>
                <a:cs typeface="Calibri" pitchFamily="34" charset="-120"/>
              </a:rPr>
              <a:t>Received</a:t>
            </a:r>
            <a:endParaRPr lang="en-US" sz="1250" dirty="0"/>
          </a:p>
        </p:txBody>
      </p:sp>
      <p:sp>
        <p:nvSpPr>
          <p:cNvPr id="13" name="title-arrow-1"/>
          <p:cNvSpPr/>
          <p:nvPr/>
        </p:nvSpPr>
        <p:spPr>
          <a:xfrm>
            <a:off x="5431536" y="5047488"/>
            <a:ext cx="283464" cy="137160"/>
          </a:xfrm>
          <a:prstGeom prst="rightArrow">
            <a:avLst/>
          </a:prstGeom>
          <a:solidFill>
            <a:srgbClr val="2F5192"/>
          </a:solidFill>
          <a:ln w="12700">
            <a:solidFill>
              <a:srgbClr val="2F5192"/>
            </a:solidFill>
            <a:prstDash val="solid"/>
          </a:ln>
        </p:spPr>
      </p:sp>
      <p:sp>
        <p:nvSpPr>
          <p:cNvPr id="14" name="dot-3"/>
          <p:cNvSpPr/>
          <p:nvPr/>
        </p:nvSpPr>
        <p:spPr>
          <a:xfrm>
            <a:off x="6656832" y="4892040"/>
            <a:ext cx="438912" cy="438912"/>
          </a:xfrm>
          <a:prstGeom prst="ellipse">
            <a:avLst/>
          </a:prstGeom>
          <a:solidFill>
            <a:srgbClr val="2F5192"/>
          </a:solidFill>
          <a:ln w="12700">
            <a:solidFill>
              <a:srgbClr val="2F5192"/>
            </a:solidFill>
            <a:prstDash val="solid"/>
          </a:ln>
        </p:spPr>
      </p:sp>
      <p:sp>
        <p:nvSpPr>
          <p:cNvPr id="15" name="Text 13"/>
          <p:cNvSpPr txBox="1"/>
          <p:nvPr/>
        </p:nvSpPr>
        <p:spPr>
          <a:xfrm>
            <a:off x="6656832" y="4892040"/>
            <a:ext cx="438912" cy="438912"/>
          </a:xfrm>
          <a:prstGeom prst="rect">
            <a:avLst/>
          </a:prstGeom>
          <a:noFill/>
          <a:ln/>
        </p:spPr>
        <p:txBody>
          <a:bodyPr wrap="square" lIns="0" tIns="0" rIns="0" bIns="0" rtlCol="0" anchor="ctr"/>
          <a:lstStyle/>
          <a:p>
            <a:pPr marL="0" indent="0" algn="ctr">
              <a:buNone/>
            </a:pPr>
            <a:r>
              <a:rPr lang="en-US" sz="1500" b="1" dirty="0">
                <a:solidFill>
                  <a:srgbClr val="FFFFFF"/>
                </a:solidFill>
              </a:rPr>
              <a:t>3</a:t>
            </a:r>
            <a:endParaRPr lang="en-US" sz="1500" dirty="0"/>
          </a:p>
        </p:txBody>
      </p:sp>
      <p:sp>
        <p:nvSpPr>
          <p:cNvPr id="16" name="Text 14"/>
          <p:cNvSpPr txBox="1"/>
          <p:nvPr/>
        </p:nvSpPr>
        <p:spPr>
          <a:xfrm>
            <a:off x="5779008" y="5413248"/>
            <a:ext cx="2194560" cy="292608"/>
          </a:xfrm>
          <a:prstGeom prst="rect">
            <a:avLst/>
          </a:prstGeom>
          <a:noFill/>
          <a:ln/>
        </p:spPr>
        <p:txBody>
          <a:bodyPr wrap="square" lIns="0" tIns="0" rIns="0" bIns="0" rtlCol="0" anchor="ctr"/>
          <a:lstStyle/>
          <a:p>
            <a:pPr marL="0" indent="0" algn="ctr">
              <a:buNone/>
            </a:pPr>
            <a:r>
              <a:rPr lang="en-US" sz="1250" b="1" dirty="0">
                <a:solidFill>
                  <a:srgbClr val="CBD6E8"/>
                </a:solidFill>
                <a:latin typeface="Calibri" pitchFamily="34" charset="0"/>
                <a:ea typeface="Calibri" pitchFamily="34" charset="-122"/>
                <a:cs typeface="Calibri" pitchFamily="34" charset="-120"/>
              </a:rPr>
              <a:t>Verified</a:t>
            </a:r>
            <a:endParaRPr lang="en-US" sz="1250" dirty="0"/>
          </a:p>
        </p:txBody>
      </p:sp>
      <p:sp>
        <p:nvSpPr>
          <p:cNvPr id="17" name="title-arrow-2"/>
          <p:cNvSpPr/>
          <p:nvPr/>
        </p:nvSpPr>
        <p:spPr>
          <a:xfrm>
            <a:off x="8037576" y="5047488"/>
            <a:ext cx="283464" cy="137160"/>
          </a:xfrm>
          <a:prstGeom prst="rightArrow">
            <a:avLst/>
          </a:prstGeom>
          <a:solidFill>
            <a:srgbClr val="2F5192"/>
          </a:solidFill>
          <a:ln w="12700">
            <a:solidFill>
              <a:srgbClr val="2F5192"/>
            </a:solidFill>
            <a:prstDash val="solid"/>
          </a:ln>
        </p:spPr>
      </p:sp>
      <p:sp>
        <p:nvSpPr>
          <p:cNvPr id="18" name="dot-4"/>
          <p:cNvSpPr/>
          <p:nvPr/>
        </p:nvSpPr>
        <p:spPr>
          <a:xfrm>
            <a:off x="9262872" y="4892040"/>
            <a:ext cx="438912" cy="438912"/>
          </a:xfrm>
          <a:prstGeom prst="ellipse">
            <a:avLst/>
          </a:prstGeom>
          <a:solidFill>
            <a:srgbClr val="0E7A58"/>
          </a:solidFill>
          <a:ln w="12700">
            <a:solidFill>
              <a:srgbClr val="0E7A58"/>
            </a:solidFill>
            <a:prstDash val="solid"/>
          </a:ln>
        </p:spPr>
      </p:sp>
      <p:sp>
        <p:nvSpPr>
          <p:cNvPr id="19" name="Text 17"/>
          <p:cNvSpPr txBox="1"/>
          <p:nvPr/>
        </p:nvSpPr>
        <p:spPr>
          <a:xfrm>
            <a:off x="9262872" y="4892040"/>
            <a:ext cx="438912" cy="438912"/>
          </a:xfrm>
          <a:prstGeom prst="rect">
            <a:avLst/>
          </a:prstGeom>
          <a:noFill/>
          <a:ln/>
        </p:spPr>
        <p:txBody>
          <a:bodyPr wrap="square" lIns="0" tIns="0" rIns="0" bIns="0" rtlCol="0" anchor="ctr"/>
          <a:lstStyle/>
          <a:p>
            <a:pPr marL="0" indent="0" algn="ctr">
              <a:buNone/>
            </a:pPr>
            <a:r>
              <a:rPr lang="en-US" sz="1500" b="1" dirty="0">
                <a:solidFill>
                  <a:srgbClr val="FFFFFF"/>
                </a:solidFill>
              </a:rPr>
              <a:t>4</a:t>
            </a:r>
            <a:endParaRPr lang="en-US" sz="1500" dirty="0"/>
          </a:p>
        </p:txBody>
      </p:sp>
      <p:sp>
        <p:nvSpPr>
          <p:cNvPr id="20" name="Text 18"/>
          <p:cNvSpPr txBox="1"/>
          <p:nvPr/>
        </p:nvSpPr>
        <p:spPr>
          <a:xfrm>
            <a:off x="8385048" y="5413248"/>
            <a:ext cx="2194560" cy="292608"/>
          </a:xfrm>
          <a:prstGeom prst="rect">
            <a:avLst/>
          </a:prstGeom>
          <a:noFill/>
          <a:ln/>
        </p:spPr>
        <p:txBody>
          <a:bodyPr wrap="square" lIns="0" tIns="0" rIns="0" bIns="0" rtlCol="0" anchor="ctr"/>
          <a:lstStyle/>
          <a:p>
            <a:pPr marL="0" indent="0" algn="ctr">
              <a:buNone/>
            </a:pPr>
            <a:r>
              <a:rPr lang="en-US" sz="1250" b="1" dirty="0">
                <a:solidFill>
                  <a:srgbClr val="A7DCC6"/>
                </a:solidFill>
                <a:latin typeface="Calibri" pitchFamily="34" charset="0"/>
                <a:ea typeface="Calibri" pitchFamily="34" charset="-122"/>
                <a:cs typeface="Calibri" pitchFamily="34" charset="-120"/>
              </a:rPr>
              <a:t>Paid</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lide-title"/>
          <p:cNvSpPr txBox="1"/>
          <p:nvPr/>
        </p:nvSpPr>
        <p:spPr>
          <a:xfrm>
            <a:off x="566928" y="438912"/>
            <a:ext cx="11057839" cy="603504"/>
          </a:xfrm>
          <a:prstGeom prst="rect">
            <a:avLst/>
          </a:prstGeom>
          <a:noFill/>
          <a:ln/>
        </p:spPr>
        <p:txBody>
          <a:bodyPr wrap="square" lIns="0" tIns="0" rIns="0" bIns="0" rtlCol="0" anchor="ctr"/>
          <a:lstStyle/>
          <a:p>
            <a:pPr marL="0" indent="0">
              <a:buNone/>
            </a:pPr>
            <a:r>
              <a:rPr lang="en-US" sz="3000" b="1" dirty="0">
                <a:solidFill>
                  <a:srgbClr val="15285C"/>
                </a:solidFill>
              </a:rPr>
              <a:t>What this set out to fix</a:t>
            </a:r>
            <a:endParaRPr lang="en-US" sz="3000" dirty="0"/>
          </a:p>
        </p:txBody>
      </p:sp>
      <p:sp>
        <p:nvSpPr>
          <p:cNvPr id="3" name="slide-lead"/>
          <p:cNvSpPr txBox="1"/>
          <p:nvPr/>
        </p:nvSpPr>
        <p:spPr>
          <a:xfrm>
            <a:off x="566928" y="1060704"/>
            <a:ext cx="11057839" cy="402336"/>
          </a:xfrm>
          <a:prstGeom prst="rect">
            <a:avLst/>
          </a:prstGeom>
          <a:noFill/>
          <a:ln/>
        </p:spPr>
        <p:txBody>
          <a:bodyPr wrap="square" lIns="0" tIns="0" rIns="0" bIns="0" rtlCol="0" anchor="ctr"/>
          <a:lstStyle/>
          <a:p>
            <a:pPr marL="0" indent="0">
              <a:buNone/>
            </a:pPr>
            <a:r>
              <a:rPr lang="en-US" sz="1450" dirty="0">
                <a:solidFill>
                  <a:srgbClr val="5A6577"/>
                </a:solidFill>
                <a:latin typeface="Calibri" pitchFamily="34" charset="0"/>
                <a:ea typeface="Calibri" pitchFamily="34" charset="-122"/>
                <a:cs typeface="Calibri" pitchFamily="34" charset="-120"/>
              </a:rPr>
              <a:t>Three problems that cost time and risk money.</a:t>
            </a:r>
            <a:endParaRPr lang="en-US" sz="1450" dirty="0"/>
          </a:p>
        </p:txBody>
      </p:sp>
      <p:sp>
        <p:nvSpPr>
          <p:cNvPr id="5" name="p1"/>
          <p:cNvSpPr/>
          <p:nvPr/>
        </p:nvSpPr>
        <p:spPr>
          <a:xfrm>
            <a:off x="566928" y="1627632"/>
            <a:ext cx="3442106" cy="2377440"/>
          </a:xfrm>
          <a:prstGeom prst="roundRect">
            <a:avLst>
              <a:gd name="adj" fmla="val 2692"/>
            </a:avLst>
          </a:prstGeom>
          <a:solidFill>
            <a:srgbClr val="EEF2FA"/>
          </a:solidFill>
          <a:ln w="12700">
            <a:solidFill>
              <a:srgbClr val="DCE4F2"/>
            </a:solidFill>
            <a:prstDash val="solid"/>
          </a:ln>
        </p:spPr>
      </p:sp>
      <p:sp>
        <p:nvSpPr>
          <p:cNvPr id="6" name="dot-1"/>
          <p:cNvSpPr/>
          <p:nvPr/>
        </p:nvSpPr>
        <p:spPr>
          <a:xfrm>
            <a:off x="804672" y="1865376"/>
            <a:ext cx="347472" cy="347472"/>
          </a:xfrm>
          <a:prstGeom prst="ellipse">
            <a:avLst/>
          </a:prstGeom>
          <a:solidFill>
            <a:srgbClr val="A6281F"/>
          </a:solidFill>
          <a:ln w="12700">
            <a:solidFill>
              <a:srgbClr val="A6281F"/>
            </a:solidFill>
            <a:prstDash val="solid"/>
          </a:ln>
        </p:spPr>
      </p:sp>
      <p:sp>
        <p:nvSpPr>
          <p:cNvPr id="7" name="Text 4"/>
          <p:cNvSpPr txBox="1"/>
          <p:nvPr/>
        </p:nvSpPr>
        <p:spPr>
          <a:xfrm>
            <a:off x="804672" y="186537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8" name="Text 5"/>
          <p:cNvSpPr txBox="1"/>
          <p:nvPr/>
        </p:nvSpPr>
        <p:spPr>
          <a:xfrm>
            <a:off x="1280160" y="1865376"/>
            <a:ext cx="2491130" cy="535178"/>
          </a:xfrm>
          <a:prstGeom prst="rect">
            <a:avLst/>
          </a:prstGeom>
          <a:noFill/>
          <a:ln/>
        </p:spPr>
        <p:txBody>
          <a:bodyPr wrap="square" lIns="0" tIns="0" rIns="0" bIns="0" rtlCol="0" anchor="ctr"/>
          <a:lstStyle/>
          <a:p>
            <a:pPr marL="0" indent="0">
              <a:buNone/>
            </a:pPr>
            <a:r>
              <a:rPr lang="en-US" sz="1550" b="1" dirty="0">
                <a:solidFill>
                  <a:srgbClr val="15285C"/>
                </a:solidFill>
              </a:rPr>
              <a:t>A payment lived in three places</a:t>
            </a:r>
            <a:endParaRPr lang="en-US" sz="1550" dirty="0"/>
          </a:p>
        </p:txBody>
      </p:sp>
      <p:sp>
        <p:nvSpPr>
          <p:cNvPr id="9" name="Text 6"/>
          <p:cNvSpPr txBox="1"/>
          <p:nvPr/>
        </p:nvSpPr>
        <p:spPr>
          <a:xfrm>
            <a:off x="804672" y="2473706"/>
            <a:ext cx="2966618" cy="1364945"/>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Request, reception register and bank entry kept apart</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Reconciling them was manual, and late</a:t>
            </a:r>
            <a:endParaRPr lang="en-US" sz="1350" dirty="0"/>
          </a:p>
        </p:txBody>
      </p:sp>
      <p:sp>
        <p:nvSpPr>
          <p:cNvPr id="10" name="p2"/>
          <p:cNvSpPr/>
          <p:nvPr/>
        </p:nvSpPr>
        <p:spPr>
          <a:xfrm>
            <a:off x="4374794" y="1627632"/>
            <a:ext cx="3442106" cy="2377440"/>
          </a:xfrm>
          <a:prstGeom prst="roundRect">
            <a:avLst>
              <a:gd name="adj" fmla="val 2692"/>
            </a:avLst>
          </a:prstGeom>
          <a:solidFill>
            <a:srgbClr val="EEF2FA"/>
          </a:solidFill>
          <a:ln w="12700">
            <a:solidFill>
              <a:srgbClr val="DCE4F2"/>
            </a:solidFill>
            <a:prstDash val="solid"/>
          </a:ln>
        </p:spPr>
      </p:sp>
      <p:sp>
        <p:nvSpPr>
          <p:cNvPr id="11" name="dot-2"/>
          <p:cNvSpPr/>
          <p:nvPr/>
        </p:nvSpPr>
        <p:spPr>
          <a:xfrm>
            <a:off x="4612538" y="1865376"/>
            <a:ext cx="347472" cy="347472"/>
          </a:xfrm>
          <a:prstGeom prst="ellipse">
            <a:avLst/>
          </a:prstGeom>
          <a:solidFill>
            <a:srgbClr val="A6281F"/>
          </a:solidFill>
          <a:ln w="12700">
            <a:solidFill>
              <a:srgbClr val="A6281F"/>
            </a:solidFill>
            <a:prstDash val="solid"/>
          </a:ln>
        </p:spPr>
      </p:sp>
      <p:sp>
        <p:nvSpPr>
          <p:cNvPr id="12" name="Text 9"/>
          <p:cNvSpPr txBox="1"/>
          <p:nvPr/>
        </p:nvSpPr>
        <p:spPr>
          <a:xfrm>
            <a:off x="4612538" y="186537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3" name="Text 10"/>
          <p:cNvSpPr txBox="1"/>
          <p:nvPr/>
        </p:nvSpPr>
        <p:spPr>
          <a:xfrm>
            <a:off x="5088026" y="1865376"/>
            <a:ext cx="2491130" cy="535178"/>
          </a:xfrm>
          <a:prstGeom prst="rect">
            <a:avLst/>
          </a:prstGeom>
          <a:noFill/>
          <a:ln/>
        </p:spPr>
        <p:txBody>
          <a:bodyPr wrap="square" lIns="0" tIns="0" rIns="0" bIns="0" rtlCol="0" anchor="ctr"/>
          <a:lstStyle/>
          <a:p>
            <a:pPr marL="0" indent="0">
              <a:buNone/>
            </a:pPr>
            <a:r>
              <a:rPr lang="en-US" sz="1550" b="1" dirty="0">
                <a:solidFill>
                  <a:srgbClr val="15285C"/>
                </a:solidFill>
              </a:rPr>
              <a:t>No record of who did what</a:t>
            </a:r>
            <a:endParaRPr lang="en-US" sz="1550" dirty="0"/>
          </a:p>
        </p:txBody>
      </p:sp>
      <p:sp>
        <p:nvSpPr>
          <p:cNvPr id="14" name="Text 11"/>
          <p:cNvSpPr txBox="1"/>
          <p:nvPr/>
        </p:nvSpPr>
        <p:spPr>
          <a:xfrm>
            <a:off x="4612538" y="2473706"/>
            <a:ext cx="2966618" cy="1364945"/>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Changes were hard to trace afterwards</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Questions could not be answered from the system</a:t>
            </a:r>
            <a:endParaRPr lang="en-US" sz="1350" dirty="0"/>
          </a:p>
        </p:txBody>
      </p:sp>
      <p:sp>
        <p:nvSpPr>
          <p:cNvPr id="15" name="p3"/>
          <p:cNvSpPr/>
          <p:nvPr/>
        </p:nvSpPr>
        <p:spPr>
          <a:xfrm>
            <a:off x="8182661" y="1627632"/>
            <a:ext cx="3442106" cy="2377440"/>
          </a:xfrm>
          <a:prstGeom prst="roundRect">
            <a:avLst>
              <a:gd name="adj" fmla="val 2692"/>
            </a:avLst>
          </a:prstGeom>
          <a:solidFill>
            <a:srgbClr val="EEF2FA"/>
          </a:solidFill>
          <a:ln w="12700">
            <a:solidFill>
              <a:srgbClr val="DCE4F2"/>
            </a:solidFill>
            <a:prstDash val="solid"/>
          </a:ln>
        </p:spPr>
      </p:sp>
      <p:sp>
        <p:nvSpPr>
          <p:cNvPr id="16" name="dot-3"/>
          <p:cNvSpPr/>
          <p:nvPr/>
        </p:nvSpPr>
        <p:spPr>
          <a:xfrm>
            <a:off x="8420405" y="1865376"/>
            <a:ext cx="347472" cy="347472"/>
          </a:xfrm>
          <a:prstGeom prst="ellipse">
            <a:avLst/>
          </a:prstGeom>
          <a:solidFill>
            <a:srgbClr val="A6281F"/>
          </a:solidFill>
          <a:ln w="12700">
            <a:solidFill>
              <a:srgbClr val="A6281F"/>
            </a:solidFill>
            <a:prstDash val="solid"/>
          </a:ln>
        </p:spPr>
      </p:sp>
      <p:sp>
        <p:nvSpPr>
          <p:cNvPr id="17" name="Text 14"/>
          <p:cNvSpPr txBox="1"/>
          <p:nvPr/>
        </p:nvSpPr>
        <p:spPr>
          <a:xfrm>
            <a:off x="8420405" y="186537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8" name="Text 15"/>
          <p:cNvSpPr txBox="1"/>
          <p:nvPr/>
        </p:nvSpPr>
        <p:spPr>
          <a:xfrm>
            <a:off x="8895893" y="1865376"/>
            <a:ext cx="2491130" cy="295021"/>
          </a:xfrm>
          <a:prstGeom prst="rect">
            <a:avLst/>
          </a:prstGeom>
          <a:noFill/>
          <a:ln/>
        </p:spPr>
        <p:txBody>
          <a:bodyPr wrap="square" lIns="0" tIns="0" rIns="0" bIns="0" rtlCol="0" anchor="ctr"/>
          <a:lstStyle/>
          <a:p>
            <a:pPr marL="0" indent="0">
              <a:buNone/>
            </a:pPr>
            <a:r>
              <a:rPr lang="en-US" sz="1550" b="1" dirty="0">
                <a:solidFill>
                  <a:srgbClr val="15285C"/>
                </a:solidFill>
              </a:rPr>
              <a:t>GST across seven states</a:t>
            </a:r>
            <a:endParaRPr lang="en-US" sz="1550" dirty="0"/>
          </a:p>
        </p:txBody>
      </p:sp>
      <p:sp>
        <p:nvSpPr>
          <p:cNvPr id="19" name="Text 16"/>
          <p:cNvSpPr txBox="1"/>
          <p:nvPr/>
        </p:nvSpPr>
        <p:spPr>
          <a:xfrm>
            <a:off x="8420405" y="2340864"/>
            <a:ext cx="2966618" cy="1497787"/>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One company state was assumed everywhere</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Credit could be claimed under the wrong head</a:t>
            </a:r>
            <a:endParaRPr lang="en-US" sz="1350" dirty="0"/>
          </a:p>
        </p:txBody>
      </p:sp>
      <p:sp>
        <p:nvSpPr>
          <p:cNvPr id="20" name="p-goal"/>
          <p:cNvSpPr/>
          <p:nvPr/>
        </p:nvSpPr>
        <p:spPr>
          <a:xfrm>
            <a:off x="566928" y="4279392"/>
            <a:ext cx="11057839" cy="1371600"/>
          </a:xfrm>
          <a:prstGeom prst="roundRect">
            <a:avLst>
              <a:gd name="adj" fmla="val 4667"/>
            </a:avLst>
          </a:prstGeom>
          <a:solidFill>
            <a:srgbClr val="15285C"/>
          </a:solidFill>
          <a:ln w="12700">
            <a:solidFill>
              <a:srgbClr val="15285C"/>
            </a:solidFill>
            <a:prstDash val="solid"/>
          </a:ln>
        </p:spPr>
      </p:sp>
      <p:sp>
        <p:nvSpPr>
          <p:cNvPr id="21" name="Text 18"/>
          <p:cNvSpPr txBox="1"/>
          <p:nvPr/>
        </p:nvSpPr>
        <p:spPr>
          <a:xfrm>
            <a:off x="804672" y="4517136"/>
            <a:ext cx="10582351" cy="295021"/>
          </a:xfrm>
          <a:prstGeom prst="rect">
            <a:avLst/>
          </a:prstGeom>
          <a:noFill/>
          <a:ln/>
        </p:spPr>
        <p:txBody>
          <a:bodyPr wrap="square" lIns="0" tIns="0" rIns="0" bIns="0" rtlCol="0" anchor="ctr"/>
          <a:lstStyle/>
          <a:p>
            <a:pPr marL="0" indent="0">
              <a:buNone/>
            </a:pPr>
            <a:r>
              <a:rPr lang="en-US" sz="1550" b="1" dirty="0">
                <a:solidFill>
                  <a:srgbClr val="FFFFFF"/>
                </a:solidFill>
              </a:rPr>
              <a:t>So the goal was simple</a:t>
            </a:r>
            <a:endParaRPr lang="en-US" sz="1550" dirty="0"/>
          </a:p>
        </p:txBody>
      </p:sp>
      <p:sp>
        <p:nvSpPr>
          <p:cNvPr id="22" name="Text 19"/>
          <p:cNvSpPr txBox="1"/>
          <p:nvPr/>
        </p:nvSpPr>
        <p:spPr>
          <a:xfrm>
            <a:off x="804672" y="4885309"/>
            <a:ext cx="10582351" cy="599262"/>
          </a:xfrm>
          <a:prstGeom prst="rect">
            <a:avLst/>
          </a:prstGeom>
          <a:noFill/>
          <a:ln/>
        </p:spPr>
        <p:txBody>
          <a:bodyPr wrap="square" lIns="0" tIns="0" rIns="0" bIns="0" rtlCol="0" anchor="t"/>
          <a:lstStyle/>
          <a:p>
            <a:pPr marL="0" indent="0">
              <a:buNone/>
            </a:pPr>
            <a:r>
              <a:rPr lang="en-US" sz="1500" dirty="0">
                <a:solidFill>
                  <a:srgbClr val="D7E0EF"/>
                </a:solidFill>
                <a:latin typeface="Calibri" pitchFamily="34" charset="0"/>
                <a:ea typeface="Calibri" pitchFamily="34" charset="-122"/>
                <a:cs typeface="Calibri" pitchFamily="34" charset="-120"/>
              </a:rPr>
              <a:t>One path from request to payment, with the rules set by the business rather than by code, and a record of every action that anyone can read afterwards.</a:t>
            </a:r>
            <a:endParaRPr lang="en-US" sz="1500" dirty="0"/>
          </a:p>
        </p:txBody>
      </p:sp>
      <p:sp>
        <p:nvSpPr>
          <p:cNvPr id="25" name="Slide Number Placeholder 0"/>
          <p:cNvSpPr>
            <a:spLocks noGrp="1"/>
          </p:cNvSpPr>
          <p:nvPr>
            <p:ph type="sldNum" sz="quarter" idx="4294967295"/>
          </p:nvPr>
        </p:nvSpPr>
        <p:spPr>
          <a:xfrm>
            <a:off x="1143000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950">
                <a:solidFill>
                  <a:srgbClr val="A8B0BD"/>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lide-title"/>
          <p:cNvSpPr txBox="1"/>
          <p:nvPr/>
        </p:nvSpPr>
        <p:spPr>
          <a:xfrm>
            <a:off x="566928" y="438912"/>
            <a:ext cx="11057839" cy="603504"/>
          </a:xfrm>
          <a:prstGeom prst="rect">
            <a:avLst/>
          </a:prstGeom>
          <a:noFill/>
          <a:ln/>
        </p:spPr>
        <p:txBody>
          <a:bodyPr wrap="square" lIns="0" tIns="0" rIns="0" bIns="0" rtlCol="0" anchor="ctr"/>
          <a:lstStyle/>
          <a:p>
            <a:pPr marL="0" indent="0">
              <a:buNone/>
            </a:pPr>
            <a:r>
              <a:rPr lang="en-US" sz="3000" b="1" dirty="0">
                <a:solidFill>
                  <a:srgbClr val="15285C"/>
                </a:solidFill>
              </a:rPr>
              <a:t>Where we have got to</a:t>
            </a:r>
            <a:endParaRPr lang="en-US" sz="3000" dirty="0"/>
          </a:p>
        </p:txBody>
      </p:sp>
      <p:sp>
        <p:nvSpPr>
          <p:cNvPr id="3" name="slide-lead"/>
          <p:cNvSpPr txBox="1"/>
          <p:nvPr/>
        </p:nvSpPr>
        <p:spPr>
          <a:xfrm>
            <a:off x="566928" y="1060704"/>
            <a:ext cx="11057839" cy="402336"/>
          </a:xfrm>
          <a:prstGeom prst="rect">
            <a:avLst/>
          </a:prstGeom>
          <a:noFill/>
          <a:ln/>
        </p:spPr>
        <p:txBody>
          <a:bodyPr wrap="square" lIns="0" tIns="0" rIns="0" bIns="0" rtlCol="0" anchor="ctr"/>
          <a:lstStyle/>
          <a:p>
            <a:pPr marL="0" indent="0">
              <a:buNone/>
            </a:pPr>
            <a:r>
              <a:rPr lang="en-US" sz="1450" dirty="0">
                <a:solidFill>
                  <a:srgbClr val="5A6577"/>
                </a:solidFill>
                <a:latin typeface="Calibri" pitchFamily="34" charset="0"/>
                <a:ea typeface="Calibri" pitchFamily="34" charset="-122"/>
                <a:cs typeface="Calibri" pitchFamily="34" charset="-120"/>
              </a:rPr>
              <a:t>All three modules are live and in use.</a:t>
            </a:r>
            <a:endParaRPr lang="en-US" sz="1450" dirty="0"/>
          </a:p>
        </p:txBody>
      </p:sp>
      <p:sp>
        <p:nvSpPr>
          <p:cNvPr id="5" name="s1"/>
          <p:cNvSpPr/>
          <p:nvPr/>
        </p:nvSpPr>
        <p:spPr>
          <a:xfrm>
            <a:off x="566928" y="1627632"/>
            <a:ext cx="2531288" cy="1783080"/>
          </a:xfrm>
          <a:prstGeom prst="roundRect">
            <a:avLst>
              <a:gd name="adj" fmla="val 3590"/>
            </a:avLst>
          </a:prstGeom>
          <a:solidFill>
            <a:srgbClr val="FFFFFF"/>
          </a:solidFill>
          <a:ln w="12700">
            <a:solidFill>
              <a:srgbClr val="DCE4F2"/>
            </a:solidFill>
            <a:prstDash val="solid"/>
          </a:ln>
          <a:effectLst>
            <a:outerShdw blurRad="127000" dist="25400" dir="5400000" algn="bl" rotWithShape="0">
              <a:srgbClr val="8792A8">
                <a:alpha val="18000"/>
              </a:srgbClr>
            </a:outerShdw>
          </a:effectLst>
        </p:spPr>
      </p:sp>
      <p:sp>
        <p:nvSpPr>
          <p:cNvPr id="6" name="Text 3"/>
          <p:cNvSpPr txBox="1"/>
          <p:nvPr/>
        </p:nvSpPr>
        <p:spPr>
          <a:xfrm>
            <a:off x="749808" y="1828800"/>
            <a:ext cx="2165528" cy="786384"/>
          </a:xfrm>
          <a:prstGeom prst="rect">
            <a:avLst/>
          </a:prstGeom>
          <a:noFill/>
          <a:ln/>
        </p:spPr>
        <p:txBody>
          <a:bodyPr wrap="square" lIns="0" tIns="0" rIns="0" bIns="0" rtlCol="0" anchor="ctr"/>
          <a:lstStyle/>
          <a:p>
            <a:pPr marL="0" indent="0" algn="ctr">
              <a:buNone/>
            </a:pPr>
            <a:r>
              <a:rPr lang="en-US" sz="4200" b="1" dirty="0">
                <a:solidFill>
                  <a:srgbClr val="15285C"/>
                </a:solidFill>
              </a:rPr>
              <a:t>3</a:t>
            </a:r>
            <a:endParaRPr lang="en-US" sz="4200" dirty="0"/>
          </a:p>
        </p:txBody>
      </p:sp>
      <p:sp>
        <p:nvSpPr>
          <p:cNvPr id="7" name="Text 4"/>
          <p:cNvSpPr txBox="1"/>
          <p:nvPr/>
        </p:nvSpPr>
        <p:spPr>
          <a:xfrm>
            <a:off x="731520" y="2633472"/>
            <a:ext cx="2202104" cy="630936"/>
          </a:xfrm>
          <a:prstGeom prst="rect">
            <a:avLst/>
          </a:prstGeom>
          <a:noFill/>
          <a:ln/>
        </p:spPr>
        <p:txBody>
          <a:bodyPr wrap="square" lIns="0" tIns="0" rIns="0" bIns="0" rtlCol="0" anchor="t"/>
          <a:lstStyle/>
          <a:p>
            <a:pPr marL="0" indent="0" algn="ctr">
              <a:buNone/>
            </a:pPr>
            <a:r>
              <a:rPr lang="en-US" sz="1250" dirty="0">
                <a:solidFill>
                  <a:srgbClr val="5A6577"/>
                </a:solidFill>
                <a:latin typeface="Calibri" pitchFamily="34" charset="0"/>
                <a:ea typeface="Calibri" pitchFamily="34" charset="-122"/>
                <a:cs typeface="Calibri" pitchFamily="34" charset="-120"/>
              </a:rPr>
              <a:t>modules on one chain: Expenses, Daily Requisition, Bank Balance</a:t>
            </a:r>
            <a:endParaRPr lang="en-US" sz="1250" dirty="0"/>
          </a:p>
        </p:txBody>
      </p:sp>
      <p:sp>
        <p:nvSpPr>
          <p:cNvPr id="8" name="s2"/>
          <p:cNvSpPr/>
          <p:nvPr/>
        </p:nvSpPr>
        <p:spPr>
          <a:xfrm>
            <a:off x="3409112" y="1627632"/>
            <a:ext cx="2531288" cy="1783080"/>
          </a:xfrm>
          <a:prstGeom prst="roundRect">
            <a:avLst>
              <a:gd name="adj" fmla="val 3590"/>
            </a:avLst>
          </a:prstGeom>
          <a:solidFill>
            <a:srgbClr val="FFFFFF"/>
          </a:solidFill>
          <a:ln w="12700">
            <a:solidFill>
              <a:srgbClr val="DCE4F2"/>
            </a:solidFill>
            <a:prstDash val="solid"/>
          </a:ln>
          <a:effectLst>
            <a:outerShdw blurRad="127000" dist="25400" dir="5400000" algn="bl" rotWithShape="0">
              <a:srgbClr val="8792A8">
                <a:alpha val="18000"/>
              </a:srgbClr>
            </a:outerShdw>
          </a:effectLst>
        </p:spPr>
      </p:sp>
      <p:sp>
        <p:nvSpPr>
          <p:cNvPr id="9" name="Text 6"/>
          <p:cNvSpPr txBox="1"/>
          <p:nvPr/>
        </p:nvSpPr>
        <p:spPr>
          <a:xfrm>
            <a:off x="3591992" y="1828800"/>
            <a:ext cx="2165528" cy="786384"/>
          </a:xfrm>
          <a:prstGeom prst="rect">
            <a:avLst/>
          </a:prstGeom>
          <a:noFill/>
          <a:ln/>
        </p:spPr>
        <p:txBody>
          <a:bodyPr wrap="square" lIns="0" tIns="0" rIns="0" bIns="0" rtlCol="0" anchor="ctr"/>
          <a:lstStyle/>
          <a:p>
            <a:pPr marL="0" indent="0" algn="ctr">
              <a:buNone/>
            </a:pPr>
            <a:r>
              <a:rPr lang="en-US" sz="4200" b="1" dirty="0">
                <a:solidFill>
                  <a:srgbClr val="B4801A"/>
                </a:solidFill>
              </a:rPr>
              <a:t>7</a:t>
            </a:r>
            <a:endParaRPr lang="en-US" sz="4200" dirty="0"/>
          </a:p>
        </p:txBody>
      </p:sp>
      <p:sp>
        <p:nvSpPr>
          <p:cNvPr id="10" name="Text 7"/>
          <p:cNvSpPr txBox="1"/>
          <p:nvPr/>
        </p:nvSpPr>
        <p:spPr>
          <a:xfrm>
            <a:off x="3573704" y="2633472"/>
            <a:ext cx="2202104" cy="630936"/>
          </a:xfrm>
          <a:prstGeom prst="rect">
            <a:avLst/>
          </a:prstGeom>
          <a:noFill/>
          <a:ln/>
        </p:spPr>
        <p:txBody>
          <a:bodyPr wrap="square" lIns="0" tIns="0" rIns="0" bIns="0" rtlCol="0" anchor="t"/>
          <a:lstStyle/>
          <a:p>
            <a:pPr marL="0" indent="0" algn="ctr">
              <a:buNone/>
            </a:pPr>
            <a:r>
              <a:rPr lang="en-US" sz="1250" dirty="0">
                <a:solidFill>
                  <a:srgbClr val="5A6577"/>
                </a:solidFill>
                <a:latin typeface="Calibri" pitchFamily="34" charset="0"/>
                <a:ea typeface="Calibri" pitchFamily="34" charset="-122"/>
                <a:cs typeface="Calibri" pitchFamily="34" charset="-120"/>
              </a:rPr>
              <a:t>GST registrations supported, one per state</a:t>
            </a:r>
            <a:endParaRPr lang="en-US" sz="1250" dirty="0"/>
          </a:p>
        </p:txBody>
      </p:sp>
      <p:sp>
        <p:nvSpPr>
          <p:cNvPr id="11" name="s3"/>
          <p:cNvSpPr/>
          <p:nvPr/>
        </p:nvSpPr>
        <p:spPr>
          <a:xfrm>
            <a:off x="6251296" y="1627632"/>
            <a:ext cx="2531288" cy="1783080"/>
          </a:xfrm>
          <a:prstGeom prst="roundRect">
            <a:avLst>
              <a:gd name="adj" fmla="val 3590"/>
            </a:avLst>
          </a:prstGeom>
          <a:solidFill>
            <a:srgbClr val="FFFFFF"/>
          </a:solidFill>
          <a:ln w="12700">
            <a:solidFill>
              <a:srgbClr val="DCE4F2"/>
            </a:solidFill>
            <a:prstDash val="solid"/>
          </a:ln>
          <a:effectLst>
            <a:outerShdw blurRad="127000" dist="25400" dir="5400000" algn="bl" rotWithShape="0">
              <a:srgbClr val="8792A8">
                <a:alpha val="18000"/>
              </a:srgbClr>
            </a:outerShdw>
          </a:effectLst>
        </p:spPr>
      </p:sp>
      <p:sp>
        <p:nvSpPr>
          <p:cNvPr id="12" name="Text 9"/>
          <p:cNvSpPr txBox="1"/>
          <p:nvPr/>
        </p:nvSpPr>
        <p:spPr>
          <a:xfrm>
            <a:off x="6434176" y="1828800"/>
            <a:ext cx="2165528" cy="786384"/>
          </a:xfrm>
          <a:prstGeom prst="rect">
            <a:avLst/>
          </a:prstGeom>
          <a:noFill/>
          <a:ln/>
        </p:spPr>
        <p:txBody>
          <a:bodyPr wrap="square" lIns="0" tIns="0" rIns="0" bIns="0" rtlCol="0" anchor="ctr"/>
          <a:lstStyle/>
          <a:p>
            <a:pPr marL="0" indent="0" algn="ctr">
              <a:buNone/>
            </a:pPr>
            <a:r>
              <a:rPr lang="en-US" sz="4200" b="1" dirty="0">
                <a:solidFill>
                  <a:srgbClr val="0E7A58"/>
                </a:solidFill>
              </a:rPr>
              <a:t>11</a:t>
            </a:r>
            <a:endParaRPr lang="en-US" sz="4200" dirty="0"/>
          </a:p>
        </p:txBody>
      </p:sp>
      <p:sp>
        <p:nvSpPr>
          <p:cNvPr id="13" name="Text 10"/>
          <p:cNvSpPr txBox="1"/>
          <p:nvPr/>
        </p:nvSpPr>
        <p:spPr>
          <a:xfrm>
            <a:off x="6415888" y="2633472"/>
            <a:ext cx="2202104" cy="630936"/>
          </a:xfrm>
          <a:prstGeom prst="rect">
            <a:avLst/>
          </a:prstGeom>
          <a:noFill/>
          <a:ln/>
        </p:spPr>
        <p:txBody>
          <a:bodyPr wrap="square" lIns="0" tIns="0" rIns="0" bIns="0" rtlCol="0" anchor="t"/>
          <a:lstStyle/>
          <a:p>
            <a:pPr marL="0" indent="0" algn="ctr">
              <a:buNone/>
            </a:pPr>
            <a:r>
              <a:rPr lang="en-US" sz="1250" dirty="0">
                <a:solidFill>
                  <a:srgbClr val="5A6577"/>
                </a:solidFill>
                <a:latin typeface="Calibri" pitchFamily="34" charset="0"/>
                <a:ea typeface="Calibri" pitchFamily="34" charset="-122"/>
                <a:cs typeface="Calibri" pitchFamily="34" charset="-120"/>
              </a:rPr>
              <a:t>actions you can assign to named people</a:t>
            </a:r>
            <a:endParaRPr lang="en-US" sz="1250" dirty="0"/>
          </a:p>
        </p:txBody>
      </p:sp>
      <p:sp>
        <p:nvSpPr>
          <p:cNvPr id="14" name="s4"/>
          <p:cNvSpPr/>
          <p:nvPr/>
        </p:nvSpPr>
        <p:spPr>
          <a:xfrm>
            <a:off x="9093479" y="1627632"/>
            <a:ext cx="2531288" cy="1783080"/>
          </a:xfrm>
          <a:prstGeom prst="roundRect">
            <a:avLst>
              <a:gd name="adj" fmla="val 3590"/>
            </a:avLst>
          </a:prstGeom>
          <a:solidFill>
            <a:srgbClr val="FFFFFF"/>
          </a:solidFill>
          <a:ln w="12700">
            <a:solidFill>
              <a:srgbClr val="DCE4F2"/>
            </a:solidFill>
            <a:prstDash val="solid"/>
          </a:ln>
          <a:effectLst>
            <a:outerShdw blurRad="127000" dist="25400" dir="5400000" algn="bl" rotWithShape="0">
              <a:srgbClr val="8792A8">
                <a:alpha val="18000"/>
              </a:srgbClr>
            </a:outerShdw>
          </a:effectLst>
        </p:spPr>
      </p:sp>
      <p:sp>
        <p:nvSpPr>
          <p:cNvPr id="15" name="Text 12"/>
          <p:cNvSpPr txBox="1"/>
          <p:nvPr/>
        </p:nvSpPr>
        <p:spPr>
          <a:xfrm>
            <a:off x="9276359" y="1828800"/>
            <a:ext cx="2165528" cy="786384"/>
          </a:xfrm>
          <a:prstGeom prst="rect">
            <a:avLst/>
          </a:prstGeom>
          <a:noFill/>
          <a:ln/>
        </p:spPr>
        <p:txBody>
          <a:bodyPr wrap="square" lIns="0" tIns="0" rIns="0" bIns="0" rtlCol="0" anchor="ctr"/>
          <a:lstStyle/>
          <a:p>
            <a:pPr marL="0" indent="0" algn="ctr">
              <a:buNone/>
            </a:pPr>
            <a:r>
              <a:rPr lang="en-US" sz="4200" b="1" dirty="0">
                <a:solidFill>
                  <a:srgbClr val="4C6FA5"/>
                </a:solidFill>
              </a:rPr>
              <a:t>4</a:t>
            </a:r>
            <a:endParaRPr lang="en-US" sz="4200" dirty="0"/>
          </a:p>
        </p:txBody>
      </p:sp>
      <p:sp>
        <p:nvSpPr>
          <p:cNvPr id="16" name="Text 13"/>
          <p:cNvSpPr txBox="1"/>
          <p:nvPr/>
        </p:nvSpPr>
        <p:spPr>
          <a:xfrm>
            <a:off x="9258071" y="2633472"/>
            <a:ext cx="2202104" cy="630936"/>
          </a:xfrm>
          <a:prstGeom prst="rect">
            <a:avLst/>
          </a:prstGeom>
          <a:noFill/>
          <a:ln/>
        </p:spPr>
        <p:txBody>
          <a:bodyPr wrap="square" lIns="0" tIns="0" rIns="0" bIns="0" rtlCol="0" anchor="t"/>
          <a:lstStyle/>
          <a:p>
            <a:pPr marL="0" indent="0" algn="ctr">
              <a:buNone/>
            </a:pPr>
            <a:r>
              <a:rPr lang="en-US" sz="1250" dirty="0">
                <a:solidFill>
                  <a:srgbClr val="5A6577"/>
                </a:solidFill>
                <a:latin typeface="Calibri" pitchFamily="34" charset="0"/>
                <a:ea typeface="Calibri" pitchFamily="34" charset="-122"/>
                <a:cs typeface="Calibri" pitchFamily="34" charset="-120"/>
              </a:rPr>
              <a:t>checks protecting your input tax credit</a:t>
            </a:r>
            <a:endParaRPr lang="en-US" sz="1250" dirty="0"/>
          </a:p>
        </p:txBody>
      </p:sp>
      <p:sp>
        <p:nvSpPr>
          <p:cNvPr id="17" name="e-left"/>
          <p:cNvSpPr/>
          <p:nvPr/>
        </p:nvSpPr>
        <p:spPr>
          <a:xfrm>
            <a:off x="566928" y="3730752"/>
            <a:ext cx="5346040" cy="2286000"/>
          </a:xfrm>
          <a:prstGeom prst="roundRect">
            <a:avLst>
              <a:gd name="adj" fmla="val 2800"/>
            </a:avLst>
          </a:prstGeom>
          <a:solidFill>
            <a:srgbClr val="EEF2FA"/>
          </a:solidFill>
          <a:ln w="12700">
            <a:solidFill>
              <a:srgbClr val="DCE4F2"/>
            </a:solidFill>
            <a:prstDash val="solid"/>
          </a:ln>
        </p:spPr>
      </p:sp>
      <p:sp>
        <p:nvSpPr>
          <p:cNvPr id="18" name="Text 15"/>
          <p:cNvSpPr txBox="1"/>
          <p:nvPr/>
        </p:nvSpPr>
        <p:spPr>
          <a:xfrm>
            <a:off x="804672" y="3968496"/>
            <a:ext cx="4870552" cy="295021"/>
          </a:xfrm>
          <a:prstGeom prst="rect">
            <a:avLst/>
          </a:prstGeom>
          <a:noFill/>
          <a:ln/>
        </p:spPr>
        <p:txBody>
          <a:bodyPr wrap="square" lIns="0" tIns="0" rIns="0" bIns="0" rtlCol="0" anchor="ctr"/>
          <a:lstStyle/>
          <a:p>
            <a:pPr marL="0" indent="0">
              <a:buNone/>
            </a:pPr>
            <a:r>
              <a:rPr lang="en-US" sz="1550" b="1" dirty="0">
                <a:solidFill>
                  <a:srgbClr val="15285C"/>
                </a:solidFill>
              </a:rPr>
              <a:t>For the business</a:t>
            </a:r>
            <a:endParaRPr lang="en-US" sz="1550" dirty="0"/>
          </a:p>
        </p:txBody>
      </p:sp>
      <p:sp>
        <p:nvSpPr>
          <p:cNvPr id="19" name="Text 16"/>
          <p:cNvSpPr txBox="1"/>
          <p:nvPr/>
        </p:nvSpPr>
        <p:spPr>
          <a:xfrm>
            <a:off x="804672" y="4336669"/>
            <a:ext cx="4870552" cy="1513662"/>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Every rupee traceable from the request that started it to the cheque that settled it</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GST and TDS captured once, at the source, and carried forward</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Who may act is a setting you control, not a change request</a:t>
            </a:r>
            <a:endParaRPr lang="en-US" sz="1350" dirty="0"/>
          </a:p>
        </p:txBody>
      </p:sp>
      <p:sp>
        <p:nvSpPr>
          <p:cNvPr id="20" name="e-right"/>
          <p:cNvSpPr/>
          <p:nvPr/>
        </p:nvSpPr>
        <p:spPr>
          <a:xfrm>
            <a:off x="6278728" y="3730752"/>
            <a:ext cx="5346040" cy="2286000"/>
          </a:xfrm>
          <a:prstGeom prst="roundRect">
            <a:avLst>
              <a:gd name="adj" fmla="val 2800"/>
            </a:avLst>
          </a:prstGeom>
          <a:solidFill>
            <a:srgbClr val="EEF2FA"/>
          </a:solidFill>
          <a:ln w="12700">
            <a:solidFill>
              <a:srgbClr val="DCE4F2"/>
            </a:solidFill>
            <a:prstDash val="solid"/>
          </a:ln>
        </p:spPr>
      </p:sp>
      <p:sp>
        <p:nvSpPr>
          <p:cNvPr id="21" name="Text 18"/>
          <p:cNvSpPr txBox="1"/>
          <p:nvPr/>
        </p:nvSpPr>
        <p:spPr>
          <a:xfrm>
            <a:off x="6516472" y="3968496"/>
            <a:ext cx="4870552" cy="295021"/>
          </a:xfrm>
          <a:prstGeom prst="rect">
            <a:avLst/>
          </a:prstGeom>
          <a:noFill/>
          <a:ln/>
        </p:spPr>
        <p:txBody>
          <a:bodyPr wrap="square" lIns="0" tIns="0" rIns="0" bIns="0" rtlCol="0" anchor="ctr"/>
          <a:lstStyle/>
          <a:p>
            <a:pPr marL="0" indent="0">
              <a:buNone/>
            </a:pPr>
            <a:r>
              <a:rPr lang="en-US" sz="1550" b="1" dirty="0">
                <a:solidFill>
                  <a:srgbClr val="15285C"/>
                </a:solidFill>
              </a:rPr>
              <a:t>For the people using it</a:t>
            </a:r>
            <a:endParaRPr lang="en-US" sz="1550" dirty="0"/>
          </a:p>
        </p:txBody>
      </p:sp>
      <p:sp>
        <p:nvSpPr>
          <p:cNvPr id="22" name="Text 19"/>
          <p:cNvSpPr txBox="1"/>
          <p:nvPr/>
        </p:nvSpPr>
        <p:spPr>
          <a:xfrm>
            <a:off x="6516472" y="4336669"/>
            <a:ext cx="4870552" cy="1513662"/>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One form, shorter, with only the fields that apply</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Receive many requests together instead of one at a time</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See where anything is, without asking</a:t>
            </a:r>
            <a:endParaRPr lang="en-US" sz="1350" dirty="0"/>
          </a:p>
        </p:txBody>
      </p:sp>
      <p:sp>
        <p:nvSpPr>
          <p:cNvPr id="25" name="Slide Number Placeholder 0"/>
          <p:cNvSpPr>
            <a:spLocks noGrp="1"/>
          </p:cNvSpPr>
          <p:nvPr>
            <p:ph type="sldNum" sz="quarter" idx="4294967295"/>
          </p:nvPr>
        </p:nvSpPr>
        <p:spPr>
          <a:xfrm>
            <a:off x="1143000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950">
                <a:solidFill>
                  <a:srgbClr val="A8B0BD"/>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lide-title"/>
          <p:cNvSpPr txBox="1"/>
          <p:nvPr/>
        </p:nvSpPr>
        <p:spPr>
          <a:xfrm>
            <a:off x="566928" y="438912"/>
            <a:ext cx="11057839" cy="603504"/>
          </a:xfrm>
          <a:prstGeom prst="rect">
            <a:avLst/>
          </a:prstGeom>
          <a:noFill/>
          <a:ln/>
        </p:spPr>
        <p:txBody>
          <a:bodyPr wrap="square" lIns="0" tIns="0" rIns="0" bIns="0" rtlCol="0" anchor="ctr"/>
          <a:lstStyle/>
          <a:p>
            <a:pPr marL="0" indent="0">
              <a:buNone/>
            </a:pPr>
            <a:r>
              <a:rPr lang="en-US" sz="3000" b="1" dirty="0">
                <a:solidFill>
                  <a:srgbClr val="15285C"/>
                </a:solidFill>
              </a:rPr>
              <a:t>The chain a payment now follows</a:t>
            </a:r>
            <a:endParaRPr lang="en-US" sz="3000" dirty="0"/>
          </a:p>
        </p:txBody>
      </p:sp>
      <p:sp>
        <p:nvSpPr>
          <p:cNvPr id="3" name="slide-lead"/>
          <p:cNvSpPr txBox="1"/>
          <p:nvPr/>
        </p:nvSpPr>
        <p:spPr>
          <a:xfrm>
            <a:off x="566928" y="1060704"/>
            <a:ext cx="11057839" cy="402336"/>
          </a:xfrm>
          <a:prstGeom prst="rect">
            <a:avLst/>
          </a:prstGeom>
          <a:noFill/>
          <a:ln/>
        </p:spPr>
        <p:txBody>
          <a:bodyPr wrap="square" lIns="0" tIns="0" rIns="0" bIns="0" rtlCol="0" anchor="ctr"/>
          <a:lstStyle/>
          <a:p>
            <a:pPr marL="0" indent="0">
              <a:buNone/>
            </a:pPr>
            <a:r>
              <a:rPr lang="en-US" sz="1450" dirty="0">
                <a:solidFill>
                  <a:srgbClr val="5A6577"/>
                </a:solidFill>
                <a:latin typeface="Calibri" pitchFamily="34" charset="0"/>
                <a:ea typeface="Calibri" pitchFamily="34" charset="-122"/>
                <a:cs typeface="Calibri" pitchFamily="34" charset="-120"/>
              </a:rPr>
              <a:t>Each step hands the next one everything it needs. Nothing is keyed twice.</a:t>
            </a:r>
            <a:endParaRPr lang="en-US" sz="1450" dirty="0"/>
          </a:p>
        </p:txBody>
      </p:sp>
      <p:sp>
        <p:nvSpPr>
          <p:cNvPr id="5" name="step-1"/>
          <p:cNvSpPr/>
          <p:nvPr/>
        </p:nvSpPr>
        <p:spPr>
          <a:xfrm>
            <a:off x="566928" y="1856232"/>
            <a:ext cx="2558720" cy="2286000"/>
          </a:xfrm>
          <a:prstGeom prst="roundRect">
            <a:avLst>
              <a:gd name="adj" fmla="val 2800"/>
            </a:avLst>
          </a:prstGeom>
          <a:solidFill>
            <a:srgbClr val="FFFFFF"/>
          </a:solidFill>
          <a:ln w="12700">
            <a:solidFill>
              <a:srgbClr val="DCE4F2"/>
            </a:solidFill>
            <a:prstDash val="solid"/>
          </a:ln>
          <a:effectLst>
            <a:outerShdw blurRad="114300" dist="25400" dir="5400000" algn="bl" rotWithShape="0">
              <a:srgbClr val="8792A8">
                <a:alpha val="16000"/>
              </a:srgbClr>
            </a:outerShdw>
          </a:effectLst>
        </p:spPr>
      </p:sp>
      <p:sp>
        <p:nvSpPr>
          <p:cNvPr id="6" name="dot-1"/>
          <p:cNvSpPr/>
          <p:nvPr/>
        </p:nvSpPr>
        <p:spPr>
          <a:xfrm>
            <a:off x="1635976" y="2093976"/>
            <a:ext cx="420624" cy="420624"/>
          </a:xfrm>
          <a:prstGeom prst="ellipse">
            <a:avLst/>
          </a:prstGeom>
          <a:solidFill>
            <a:srgbClr val="15285C"/>
          </a:solidFill>
          <a:ln w="12700">
            <a:solidFill>
              <a:srgbClr val="15285C"/>
            </a:solidFill>
            <a:prstDash val="solid"/>
          </a:ln>
        </p:spPr>
      </p:sp>
      <p:sp>
        <p:nvSpPr>
          <p:cNvPr id="7" name="Text 4"/>
          <p:cNvSpPr txBox="1"/>
          <p:nvPr/>
        </p:nvSpPr>
        <p:spPr>
          <a:xfrm>
            <a:off x="1635976" y="2093976"/>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rPr>
              <a:t>1</a:t>
            </a:r>
            <a:endParaRPr lang="en-US" sz="1500" dirty="0"/>
          </a:p>
        </p:txBody>
      </p:sp>
      <p:sp>
        <p:nvSpPr>
          <p:cNvPr id="8" name="Text 5"/>
          <p:cNvSpPr txBox="1"/>
          <p:nvPr/>
        </p:nvSpPr>
        <p:spPr>
          <a:xfrm>
            <a:off x="713232" y="2624328"/>
            <a:ext cx="2266112" cy="310896"/>
          </a:xfrm>
          <a:prstGeom prst="rect">
            <a:avLst/>
          </a:prstGeom>
          <a:noFill/>
          <a:ln/>
        </p:spPr>
        <p:txBody>
          <a:bodyPr wrap="square" lIns="0" tIns="0" rIns="0" bIns="0" rtlCol="0" anchor="ctr"/>
          <a:lstStyle/>
          <a:p>
            <a:pPr marL="0" indent="0" algn="ctr">
              <a:buNone/>
            </a:pPr>
            <a:r>
              <a:rPr lang="en-US" sz="1550" b="1" dirty="0">
                <a:solidFill>
                  <a:srgbClr val="15285C"/>
                </a:solidFill>
              </a:rPr>
              <a:t>Request raised</a:t>
            </a:r>
            <a:endParaRPr lang="en-US" sz="1550" dirty="0"/>
          </a:p>
        </p:txBody>
      </p:sp>
      <p:sp>
        <p:nvSpPr>
          <p:cNvPr id="9" name="Text 6"/>
          <p:cNvSpPr txBox="1"/>
          <p:nvPr/>
        </p:nvSpPr>
        <p:spPr>
          <a:xfrm>
            <a:off x="713232" y="2926080"/>
            <a:ext cx="2266112" cy="256032"/>
          </a:xfrm>
          <a:prstGeom prst="rect">
            <a:avLst/>
          </a:prstGeom>
          <a:noFill/>
          <a:ln/>
        </p:spPr>
        <p:txBody>
          <a:bodyPr wrap="square" lIns="0" tIns="0" rIns="0" bIns="0" rtlCol="0" anchor="ctr"/>
          <a:lstStyle/>
          <a:p>
            <a:pPr marL="0" indent="0" algn="ctr">
              <a:buNone/>
            </a:pPr>
            <a:r>
              <a:rPr lang="en-US" sz="1100" b="1" kern="0" spc="100" dirty="0">
                <a:solidFill>
                  <a:srgbClr val="B4801A"/>
                </a:solidFill>
              </a:rPr>
              <a:t>Expenses</a:t>
            </a:r>
            <a:endParaRPr lang="en-US" sz="1100" dirty="0"/>
          </a:p>
        </p:txBody>
      </p:sp>
      <p:sp>
        <p:nvSpPr>
          <p:cNvPr id="10" name="Text 7"/>
          <p:cNvSpPr txBox="1"/>
          <p:nvPr/>
        </p:nvSpPr>
        <p:spPr>
          <a:xfrm>
            <a:off x="749808" y="3227832"/>
            <a:ext cx="2192960" cy="786384"/>
          </a:xfrm>
          <a:prstGeom prst="rect">
            <a:avLst/>
          </a:prstGeom>
          <a:noFill/>
          <a:ln/>
        </p:spPr>
        <p:txBody>
          <a:bodyPr wrap="square" lIns="0" tIns="0" rIns="0" bIns="0" rtlCol="0" anchor="t"/>
          <a:lstStyle/>
          <a:p>
            <a:pPr marL="0" indent="0" algn="ctr">
              <a:buNone/>
            </a:pPr>
            <a:r>
              <a:rPr lang="en-US" sz="1200" dirty="0">
                <a:solidFill>
                  <a:srgbClr val="5A6577"/>
                </a:solidFill>
                <a:latin typeface="Calibri" pitchFamily="34" charset="0"/>
                <a:ea typeface="Calibri" pitchFamily="34" charset="-122"/>
                <a:cs typeface="Calibri" pitchFamily="34" charset="-120"/>
              </a:rPr>
              <a:t>Department, party, amount, and GST or TDS if the bill has them</a:t>
            </a:r>
            <a:endParaRPr lang="en-US" sz="1200" dirty="0"/>
          </a:p>
        </p:txBody>
      </p:sp>
      <p:sp>
        <p:nvSpPr>
          <p:cNvPr id="11" name="arrow-0"/>
          <p:cNvSpPr/>
          <p:nvPr/>
        </p:nvSpPr>
        <p:spPr>
          <a:xfrm>
            <a:off x="3166796" y="2880360"/>
            <a:ext cx="192024" cy="237744"/>
          </a:xfrm>
          <a:prstGeom prst="rightArrow">
            <a:avLst/>
          </a:prstGeom>
          <a:solidFill>
            <a:srgbClr val="C3CEE2"/>
          </a:solidFill>
          <a:ln w="12700">
            <a:solidFill>
              <a:srgbClr val="C3CEE2"/>
            </a:solidFill>
            <a:prstDash val="solid"/>
          </a:ln>
        </p:spPr>
      </p:sp>
      <p:sp>
        <p:nvSpPr>
          <p:cNvPr id="12" name="step-2"/>
          <p:cNvSpPr/>
          <p:nvPr/>
        </p:nvSpPr>
        <p:spPr>
          <a:xfrm>
            <a:off x="3399968" y="1856232"/>
            <a:ext cx="2558720" cy="2286000"/>
          </a:xfrm>
          <a:prstGeom prst="roundRect">
            <a:avLst>
              <a:gd name="adj" fmla="val 2800"/>
            </a:avLst>
          </a:prstGeom>
          <a:solidFill>
            <a:srgbClr val="FFFFFF"/>
          </a:solidFill>
          <a:ln w="12700">
            <a:solidFill>
              <a:srgbClr val="DCE4F2"/>
            </a:solidFill>
            <a:prstDash val="solid"/>
          </a:ln>
          <a:effectLst>
            <a:outerShdw blurRad="114300" dist="25400" dir="5400000" algn="bl" rotWithShape="0">
              <a:srgbClr val="8792A8">
                <a:alpha val="16000"/>
              </a:srgbClr>
            </a:outerShdw>
          </a:effectLst>
        </p:spPr>
      </p:sp>
      <p:sp>
        <p:nvSpPr>
          <p:cNvPr id="13" name="dot-2"/>
          <p:cNvSpPr/>
          <p:nvPr/>
        </p:nvSpPr>
        <p:spPr>
          <a:xfrm>
            <a:off x="4469016" y="2093976"/>
            <a:ext cx="420624" cy="420624"/>
          </a:xfrm>
          <a:prstGeom prst="ellipse">
            <a:avLst/>
          </a:prstGeom>
          <a:solidFill>
            <a:srgbClr val="15285C"/>
          </a:solidFill>
          <a:ln w="12700">
            <a:solidFill>
              <a:srgbClr val="15285C"/>
            </a:solidFill>
            <a:prstDash val="solid"/>
          </a:ln>
        </p:spPr>
      </p:sp>
      <p:sp>
        <p:nvSpPr>
          <p:cNvPr id="14" name="Text 11"/>
          <p:cNvSpPr txBox="1"/>
          <p:nvPr/>
        </p:nvSpPr>
        <p:spPr>
          <a:xfrm>
            <a:off x="4469016" y="2093976"/>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rPr>
              <a:t>2</a:t>
            </a:r>
            <a:endParaRPr lang="en-US" sz="1500" dirty="0"/>
          </a:p>
        </p:txBody>
      </p:sp>
      <p:sp>
        <p:nvSpPr>
          <p:cNvPr id="15" name="Text 12"/>
          <p:cNvSpPr txBox="1"/>
          <p:nvPr/>
        </p:nvSpPr>
        <p:spPr>
          <a:xfrm>
            <a:off x="3546272" y="2624328"/>
            <a:ext cx="2266112" cy="310896"/>
          </a:xfrm>
          <a:prstGeom prst="rect">
            <a:avLst/>
          </a:prstGeom>
          <a:noFill/>
          <a:ln/>
        </p:spPr>
        <p:txBody>
          <a:bodyPr wrap="square" lIns="0" tIns="0" rIns="0" bIns="0" rtlCol="0" anchor="ctr"/>
          <a:lstStyle/>
          <a:p>
            <a:pPr marL="0" indent="0" algn="ctr">
              <a:buNone/>
            </a:pPr>
            <a:r>
              <a:rPr lang="en-US" sz="1550" b="1" dirty="0">
                <a:solidFill>
                  <a:srgbClr val="15285C"/>
                </a:solidFill>
              </a:rPr>
              <a:t>Received</a:t>
            </a:r>
            <a:endParaRPr lang="en-US" sz="1550" dirty="0"/>
          </a:p>
        </p:txBody>
      </p:sp>
      <p:sp>
        <p:nvSpPr>
          <p:cNvPr id="16" name="Text 13"/>
          <p:cNvSpPr txBox="1"/>
          <p:nvPr/>
        </p:nvSpPr>
        <p:spPr>
          <a:xfrm>
            <a:off x="3546272" y="2926080"/>
            <a:ext cx="2266112" cy="256032"/>
          </a:xfrm>
          <a:prstGeom prst="rect">
            <a:avLst/>
          </a:prstGeom>
          <a:noFill/>
          <a:ln/>
        </p:spPr>
        <p:txBody>
          <a:bodyPr wrap="square" lIns="0" tIns="0" rIns="0" bIns="0" rtlCol="0" anchor="ctr"/>
          <a:lstStyle/>
          <a:p>
            <a:pPr marL="0" indent="0" algn="ctr">
              <a:buNone/>
            </a:pPr>
            <a:r>
              <a:rPr lang="en-US" sz="1100" b="1" kern="0" spc="100" dirty="0">
                <a:solidFill>
                  <a:srgbClr val="B4801A"/>
                </a:solidFill>
              </a:rPr>
              <a:t>Daily Requisition</a:t>
            </a:r>
            <a:endParaRPr lang="en-US" sz="1100" dirty="0"/>
          </a:p>
        </p:txBody>
      </p:sp>
      <p:sp>
        <p:nvSpPr>
          <p:cNvPr id="17" name="Text 14"/>
          <p:cNvSpPr txBox="1"/>
          <p:nvPr/>
        </p:nvSpPr>
        <p:spPr>
          <a:xfrm>
            <a:off x="3582848" y="3227832"/>
            <a:ext cx="2192960" cy="786384"/>
          </a:xfrm>
          <a:prstGeom prst="rect">
            <a:avLst/>
          </a:prstGeom>
          <a:noFill/>
          <a:ln/>
        </p:spPr>
        <p:txBody>
          <a:bodyPr wrap="square" lIns="0" tIns="0" rIns="0" bIns="0" rtlCol="0" anchor="t"/>
          <a:lstStyle/>
          <a:p>
            <a:pPr marL="0" indent="0" algn="ctr">
              <a:buNone/>
            </a:pPr>
            <a:r>
              <a:rPr lang="en-US" sz="1200" dirty="0">
                <a:solidFill>
                  <a:srgbClr val="5A6577"/>
                </a:solidFill>
                <a:latin typeface="Calibri" pitchFamily="34" charset="0"/>
                <a:ea typeface="Calibri" pitchFamily="34" charset="-122"/>
                <a:cs typeface="Calibri" pitchFamily="34" charset="-120"/>
              </a:rPr>
              <a:t>Given a reception number; details and tax carried across</a:t>
            </a:r>
            <a:endParaRPr lang="en-US" sz="1200" dirty="0"/>
          </a:p>
        </p:txBody>
      </p:sp>
      <p:sp>
        <p:nvSpPr>
          <p:cNvPr id="18" name="arrow-1"/>
          <p:cNvSpPr/>
          <p:nvPr/>
        </p:nvSpPr>
        <p:spPr>
          <a:xfrm>
            <a:off x="5999836" y="2880360"/>
            <a:ext cx="192024" cy="237744"/>
          </a:xfrm>
          <a:prstGeom prst="rightArrow">
            <a:avLst/>
          </a:prstGeom>
          <a:solidFill>
            <a:srgbClr val="C3CEE2"/>
          </a:solidFill>
          <a:ln w="12700">
            <a:solidFill>
              <a:srgbClr val="C3CEE2"/>
            </a:solidFill>
            <a:prstDash val="solid"/>
          </a:ln>
        </p:spPr>
      </p:sp>
      <p:sp>
        <p:nvSpPr>
          <p:cNvPr id="19" name="step-3"/>
          <p:cNvSpPr/>
          <p:nvPr/>
        </p:nvSpPr>
        <p:spPr>
          <a:xfrm>
            <a:off x="6233008" y="1856232"/>
            <a:ext cx="2558720" cy="2286000"/>
          </a:xfrm>
          <a:prstGeom prst="roundRect">
            <a:avLst>
              <a:gd name="adj" fmla="val 2800"/>
            </a:avLst>
          </a:prstGeom>
          <a:solidFill>
            <a:srgbClr val="FFFFFF"/>
          </a:solidFill>
          <a:ln w="12700">
            <a:solidFill>
              <a:srgbClr val="DCE4F2"/>
            </a:solidFill>
            <a:prstDash val="solid"/>
          </a:ln>
          <a:effectLst>
            <a:outerShdw blurRad="114300" dist="25400" dir="5400000" algn="bl" rotWithShape="0">
              <a:srgbClr val="8792A8">
                <a:alpha val="16000"/>
              </a:srgbClr>
            </a:outerShdw>
          </a:effectLst>
        </p:spPr>
      </p:sp>
      <p:sp>
        <p:nvSpPr>
          <p:cNvPr id="20" name="dot-3"/>
          <p:cNvSpPr/>
          <p:nvPr/>
        </p:nvSpPr>
        <p:spPr>
          <a:xfrm>
            <a:off x="7302056" y="2093976"/>
            <a:ext cx="420624" cy="420624"/>
          </a:xfrm>
          <a:prstGeom prst="ellipse">
            <a:avLst/>
          </a:prstGeom>
          <a:solidFill>
            <a:srgbClr val="15285C"/>
          </a:solidFill>
          <a:ln w="12700">
            <a:solidFill>
              <a:srgbClr val="15285C"/>
            </a:solidFill>
            <a:prstDash val="solid"/>
          </a:ln>
        </p:spPr>
      </p:sp>
      <p:sp>
        <p:nvSpPr>
          <p:cNvPr id="21" name="Text 18"/>
          <p:cNvSpPr txBox="1"/>
          <p:nvPr/>
        </p:nvSpPr>
        <p:spPr>
          <a:xfrm>
            <a:off x="7302056" y="2093976"/>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rPr>
              <a:t>3</a:t>
            </a:r>
            <a:endParaRPr lang="en-US" sz="1500" dirty="0"/>
          </a:p>
        </p:txBody>
      </p:sp>
      <p:sp>
        <p:nvSpPr>
          <p:cNvPr id="22" name="Text 19"/>
          <p:cNvSpPr txBox="1"/>
          <p:nvPr/>
        </p:nvSpPr>
        <p:spPr>
          <a:xfrm>
            <a:off x="6379312" y="2624328"/>
            <a:ext cx="2266112" cy="310896"/>
          </a:xfrm>
          <a:prstGeom prst="rect">
            <a:avLst/>
          </a:prstGeom>
          <a:noFill/>
          <a:ln/>
        </p:spPr>
        <p:txBody>
          <a:bodyPr wrap="square" lIns="0" tIns="0" rIns="0" bIns="0" rtlCol="0" anchor="ctr"/>
          <a:lstStyle/>
          <a:p>
            <a:pPr marL="0" indent="0" algn="ctr">
              <a:buNone/>
            </a:pPr>
            <a:r>
              <a:rPr lang="en-US" sz="1550" b="1" dirty="0">
                <a:solidFill>
                  <a:srgbClr val="15285C"/>
                </a:solidFill>
              </a:rPr>
              <a:t>Verified</a:t>
            </a:r>
            <a:endParaRPr lang="en-US" sz="1550" dirty="0"/>
          </a:p>
        </p:txBody>
      </p:sp>
      <p:sp>
        <p:nvSpPr>
          <p:cNvPr id="23" name="Text 20"/>
          <p:cNvSpPr txBox="1"/>
          <p:nvPr/>
        </p:nvSpPr>
        <p:spPr>
          <a:xfrm>
            <a:off x="6379312" y="2926080"/>
            <a:ext cx="2266112" cy="256032"/>
          </a:xfrm>
          <a:prstGeom prst="rect">
            <a:avLst/>
          </a:prstGeom>
          <a:noFill/>
          <a:ln/>
        </p:spPr>
        <p:txBody>
          <a:bodyPr wrap="square" lIns="0" tIns="0" rIns="0" bIns="0" rtlCol="0" anchor="ctr"/>
          <a:lstStyle/>
          <a:p>
            <a:pPr marL="0" indent="0" algn="ctr">
              <a:buNone/>
            </a:pPr>
            <a:r>
              <a:rPr lang="en-US" sz="1100" b="1" kern="0" spc="100" dirty="0">
                <a:solidFill>
                  <a:srgbClr val="B4801A"/>
                </a:solidFill>
              </a:rPr>
              <a:t>Daily Requisition</a:t>
            </a:r>
            <a:endParaRPr lang="en-US" sz="1100" dirty="0"/>
          </a:p>
        </p:txBody>
      </p:sp>
      <p:sp>
        <p:nvSpPr>
          <p:cNvPr id="24" name="Text 21"/>
          <p:cNvSpPr txBox="1"/>
          <p:nvPr/>
        </p:nvSpPr>
        <p:spPr>
          <a:xfrm>
            <a:off x="6415888" y="3227832"/>
            <a:ext cx="2192960" cy="786384"/>
          </a:xfrm>
          <a:prstGeom prst="rect">
            <a:avLst/>
          </a:prstGeom>
          <a:noFill/>
          <a:ln/>
        </p:spPr>
        <p:txBody>
          <a:bodyPr wrap="square" lIns="0" tIns="0" rIns="0" bIns="0" rtlCol="0" anchor="t"/>
          <a:lstStyle/>
          <a:p>
            <a:pPr marL="0" indent="0" algn="ctr">
              <a:buNone/>
            </a:pPr>
            <a:r>
              <a:rPr lang="en-US" sz="1200" dirty="0">
                <a:solidFill>
                  <a:srgbClr val="5A6577"/>
                </a:solidFill>
                <a:latin typeface="Calibri" pitchFamily="34" charset="0"/>
                <a:ea typeface="Calibri" pitchFamily="34" charset="-122"/>
                <a:cs typeface="Calibri" pitchFamily="34" charset="-120"/>
              </a:rPr>
              <a:t>GST and TDS checked; net payable settled</a:t>
            </a:r>
            <a:endParaRPr lang="en-US" sz="1200" dirty="0"/>
          </a:p>
        </p:txBody>
      </p:sp>
      <p:sp>
        <p:nvSpPr>
          <p:cNvPr id="25" name="arrow-2"/>
          <p:cNvSpPr/>
          <p:nvPr/>
        </p:nvSpPr>
        <p:spPr>
          <a:xfrm>
            <a:off x="8832875" y="2880360"/>
            <a:ext cx="192024" cy="237744"/>
          </a:xfrm>
          <a:prstGeom prst="rightArrow">
            <a:avLst/>
          </a:prstGeom>
          <a:solidFill>
            <a:srgbClr val="C3CEE2"/>
          </a:solidFill>
          <a:ln w="12700">
            <a:solidFill>
              <a:srgbClr val="C3CEE2"/>
            </a:solidFill>
            <a:prstDash val="solid"/>
          </a:ln>
        </p:spPr>
      </p:sp>
      <p:sp>
        <p:nvSpPr>
          <p:cNvPr id="26" name="step-4"/>
          <p:cNvSpPr/>
          <p:nvPr/>
        </p:nvSpPr>
        <p:spPr>
          <a:xfrm>
            <a:off x="9066047" y="1856232"/>
            <a:ext cx="2558720" cy="2286000"/>
          </a:xfrm>
          <a:prstGeom prst="roundRect">
            <a:avLst>
              <a:gd name="adj" fmla="val 2800"/>
            </a:avLst>
          </a:prstGeom>
          <a:solidFill>
            <a:srgbClr val="FFFFFF"/>
          </a:solidFill>
          <a:ln w="25400">
            <a:solidFill>
              <a:srgbClr val="0E7A58"/>
            </a:solidFill>
            <a:prstDash val="solid"/>
          </a:ln>
          <a:effectLst>
            <a:outerShdw blurRad="114300" dist="25400" dir="5400000" algn="bl" rotWithShape="0">
              <a:srgbClr val="8792A8">
                <a:alpha val="16000"/>
              </a:srgbClr>
            </a:outerShdw>
          </a:effectLst>
        </p:spPr>
      </p:sp>
      <p:sp>
        <p:nvSpPr>
          <p:cNvPr id="27" name="dot-4"/>
          <p:cNvSpPr/>
          <p:nvPr/>
        </p:nvSpPr>
        <p:spPr>
          <a:xfrm>
            <a:off x="10135095" y="2093976"/>
            <a:ext cx="420624" cy="420624"/>
          </a:xfrm>
          <a:prstGeom prst="ellipse">
            <a:avLst/>
          </a:prstGeom>
          <a:solidFill>
            <a:srgbClr val="0E7A58"/>
          </a:solidFill>
          <a:ln w="12700">
            <a:solidFill>
              <a:srgbClr val="0E7A58"/>
            </a:solidFill>
            <a:prstDash val="solid"/>
          </a:ln>
        </p:spPr>
      </p:sp>
      <p:sp>
        <p:nvSpPr>
          <p:cNvPr id="28" name="Text 25"/>
          <p:cNvSpPr txBox="1"/>
          <p:nvPr/>
        </p:nvSpPr>
        <p:spPr>
          <a:xfrm>
            <a:off x="10135095" y="2093976"/>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rPr>
              <a:t>4</a:t>
            </a:r>
            <a:endParaRPr lang="en-US" sz="1500" dirty="0"/>
          </a:p>
        </p:txBody>
      </p:sp>
      <p:sp>
        <p:nvSpPr>
          <p:cNvPr id="29" name="Text 26"/>
          <p:cNvSpPr txBox="1"/>
          <p:nvPr/>
        </p:nvSpPr>
        <p:spPr>
          <a:xfrm>
            <a:off x="9212351" y="2624328"/>
            <a:ext cx="2266112" cy="310896"/>
          </a:xfrm>
          <a:prstGeom prst="rect">
            <a:avLst/>
          </a:prstGeom>
          <a:noFill/>
          <a:ln/>
        </p:spPr>
        <p:txBody>
          <a:bodyPr wrap="square" lIns="0" tIns="0" rIns="0" bIns="0" rtlCol="0" anchor="ctr"/>
          <a:lstStyle/>
          <a:p>
            <a:pPr marL="0" indent="0" algn="ctr">
              <a:buNone/>
            </a:pPr>
            <a:r>
              <a:rPr lang="en-US" sz="1550" b="1" dirty="0">
                <a:solidFill>
                  <a:srgbClr val="15285C"/>
                </a:solidFill>
              </a:rPr>
              <a:t>Paid</a:t>
            </a:r>
            <a:endParaRPr lang="en-US" sz="1550" dirty="0"/>
          </a:p>
        </p:txBody>
      </p:sp>
      <p:sp>
        <p:nvSpPr>
          <p:cNvPr id="30" name="Text 27"/>
          <p:cNvSpPr txBox="1"/>
          <p:nvPr/>
        </p:nvSpPr>
        <p:spPr>
          <a:xfrm>
            <a:off x="9212351" y="2926080"/>
            <a:ext cx="2266112" cy="256032"/>
          </a:xfrm>
          <a:prstGeom prst="rect">
            <a:avLst/>
          </a:prstGeom>
          <a:noFill/>
          <a:ln/>
        </p:spPr>
        <p:txBody>
          <a:bodyPr wrap="square" lIns="0" tIns="0" rIns="0" bIns="0" rtlCol="0" anchor="ctr"/>
          <a:lstStyle/>
          <a:p>
            <a:pPr marL="0" indent="0" algn="ctr">
              <a:buNone/>
            </a:pPr>
            <a:r>
              <a:rPr lang="en-US" sz="1100" b="1" kern="0" spc="100" dirty="0">
                <a:solidFill>
                  <a:srgbClr val="B4801A"/>
                </a:solidFill>
              </a:rPr>
              <a:t>Bank Balance</a:t>
            </a:r>
            <a:endParaRPr lang="en-US" sz="1100" dirty="0"/>
          </a:p>
        </p:txBody>
      </p:sp>
      <p:sp>
        <p:nvSpPr>
          <p:cNvPr id="31" name="Text 28"/>
          <p:cNvSpPr txBox="1"/>
          <p:nvPr/>
        </p:nvSpPr>
        <p:spPr>
          <a:xfrm>
            <a:off x="9248927" y="3227832"/>
            <a:ext cx="2192960" cy="786384"/>
          </a:xfrm>
          <a:prstGeom prst="rect">
            <a:avLst/>
          </a:prstGeom>
          <a:noFill/>
          <a:ln/>
        </p:spPr>
        <p:txBody>
          <a:bodyPr wrap="square" lIns="0" tIns="0" rIns="0" bIns="0" rtlCol="0" anchor="t"/>
          <a:lstStyle/>
          <a:p>
            <a:pPr marL="0" indent="0" algn="ctr">
              <a:buNone/>
            </a:pPr>
            <a:r>
              <a:rPr lang="en-US" sz="1200" dirty="0">
                <a:solidFill>
                  <a:srgbClr val="5A6577"/>
                </a:solidFill>
                <a:latin typeface="Calibri" pitchFamily="34" charset="0"/>
                <a:ea typeface="Calibri" pitchFamily="34" charset="-122"/>
                <a:cs typeface="Calibri" pitchFamily="34" charset="-120"/>
              </a:rPr>
              <a:t>Cheque, RTGS or e-cheque; the bank position updates</a:t>
            </a:r>
            <a:endParaRPr lang="en-US" sz="1200" dirty="0"/>
          </a:p>
        </p:txBody>
      </p:sp>
      <p:sp>
        <p:nvSpPr>
          <p:cNvPr id="32" name="chain-note"/>
          <p:cNvSpPr/>
          <p:nvPr/>
        </p:nvSpPr>
        <p:spPr>
          <a:xfrm>
            <a:off x="566928" y="4416552"/>
            <a:ext cx="11057839" cy="1554480"/>
          </a:xfrm>
          <a:prstGeom prst="roundRect">
            <a:avLst>
              <a:gd name="adj" fmla="val 4118"/>
            </a:avLst>
          </a:prstGeom>
          <a:solidFill>
            <a:srgbClr val="F3F7EF"/>
          </a:solidFill>
          <a:ln w="12700">
            <a:solidFill>
              <a:srgbClr val="D3E3C9"/>
            </a:solidFill>
            <a:prstDash val="solid"/>
          </a:ln>
        </p:spPr>
      </p:sp>
      <p:sp>
        <p:nvSpPr>
          <p:cNvPr id="33" name="Text 30"/>
          <p:cNvSpPr txBox="1"/>
          <p:nvPr/>
        </p:nvSpPr>
        <p:spPr>
          <a:xfrm>
            <a:off x="804672" y="4654296"/>
            <a:ext cx="10582351" cy="295021"/>
          </a:xfrm>
          <a:prstGeom prst="rect">
            <a:avLst/>
          </a:prstGeom>
          <a:noFill/>
          <a:ln/>
        </p:spPr>
        <p:txBody>
          <a:bodyPr wrap="square" lIns="0" tIns="0" rIns="0" bIns="0" rtlCol="0" anchor="ctr"/>
          <a:lstStyle/>
          <a:p>
            <a:pPr marL="0" indent="0">
              <a:buNone/>
            </a:pPr>
            <a:r>
              <a:rPr lang="en-US" sz="1550" b="1" dirty="0">
                <a:solidFill>
                  <a:srgbClr val="15285C"/>
                </a:solidFill>
              </a:rPr>
              <a:t>The one rule that holds it together</a:t>
            </a:r>
            <a:endParaRPr lang="en-US" sz="1550" dirty="0"/>
          </a:p>
        </p:txBody>
      </p:sp>
      <p:sp>
        <p:nvSpPr>
          <p:cNvPr id="34" name="Text 31"/>
          <p:cNvSpPr txBox="1"/>
          <p:nvPr/>
        </p:nvSpPr>
        <p:spPr>
          <a:xfrm>
            <a:off x="804672" y="5022469"/>
            <a:ext cx="10582351" cy="782142"/>
          </a:xfrm>
          <a:prstGeom prst="rect">
            <a:avLst/>
          </a:prstGeom>
          <a:noFill/>
          <a:ln/>
        </p:spPr>
        <p:txBody>
          <a:bodyPr wrap="square" lIns="0" tIns="0" rIns="0" bIns="0" rtlCol="0" anchor="t"/>
          <a:lstStyle/>
          <a:p>
            <a:pPr marL="0" indent="0">
              <a:buNone/>
            </a:pPr>
            <a:r>
              <a:rPr lang="en-US" sz="1450" dirty="0">
                <a:solidFill>
                  <a:srgbClr val="101828"/>
                </a:solidFill>
                <a:latin typeface="Calibri" pitchFamily="34" charset="0"/>
                <a:ea typeface="Calibri" pitchFamily="34" charset="-122"/>
                <a:cs typeface="Calibri" pitchFamily="34" charset="-120"/>
              </a:rPr>
              <a:t>Once money has gone out against a requisition, it can no longer be edited or cancelled here — the payment record owns it. To change it you reverse the voucher in the Cheque Register first. That is what keeps the three modules from ever disagreeing.</a:t>
            </a:r>
            <a:endParaRPr lang="en-US" sz="1450" dirty="0"/>
          </a:p>
        </p:txBody>
      </p:sp>
      <p:sp>
        <p:nvSpPr>
          <p:cNvPr id="4" name="Slide Number Placeholder 0"/>
          <p:cNvSpPr>
            <a:spLocks noGrp="1"/>
          </p:cNvSpPr>
          <p:nvPr>
            <p:ph type="sldNum" sz="quarter" idx="4294967295"/>
          </p:nvPr>
        </p:nvSpPr>
        <p:spPr>
          <a:xfrm>
            <a:off x="1143000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950">
                <a:solidFill>
                  <a:srgbClr val="A8B0BD"/>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p:nvPr/>
        </p:nvSpPr>
        <p:spPr>
          <a:xfrm>
            <a:off x="566928" y="1463040"/>
            <a:ext cx="6949440" cy="310896"/>
          </a:xfrm>
          <a:prstGeom prst="rect">
            <a:avLst/>
          </a:prstGeom>
          <a:noFill/>
          <a:ln/>
        </p:spPr>
        <p:txBody>
          <a:bodyPr wrap="square" lIns="0" tIns="0" rIns="0" bIns="0" rtlCol="0" anchor="ctr"/>
          <a:lstStyle/>
          <a:p>
            <a:pPr marL="0" indent="0">
              <a:buNone/>
            </a:pPr>
            <a:r>
              <a:rPr lang="en-US" sz="1400" b="1" kern="0" spc="300" dirty="0">
                <a:solidFill>
                  <a:srgbClr val="B4801A"/>
                </a:solidFill>
                <a:latin typeface="Calibri" pitchFamily="34" charset="0"/>
                <a:ea typeface="Calibri" pitchFamily="34" charset="-122"/>
                <a:cs typeface="Calibri" pitchFamily="34" charset="-120"/>
              </a:rPr>
              <a:t>PART ONE</a:t>
            </a:r>
            <a:endParaRPr lang="en-US" sz="1400" dirty="0"/>
          </a:p>
        </p:txBody>
      </p:sp>
      <p:sp>
        <p:nvSpPr>
          <p:cNvPr id="3" name="dark-title"/>
          <p:cNvSpPr txBox="1"/>
          <p:nvPr/>
        </p:nvSpPr>
        <p:spPr>
          <a:xfrm>
            <a:off x="566928" y="1883664"/>
            <a:ext cx="6949440" cy="599948"/>
          </a:xfrm>
          <a:prstGeom prst="rect">
            <a:avLst/>
          </a:prstGeom>
          <a:noFill/>
          <a:ln/>
        </p:spPr>
        <p:txBody>
          <a:bodyPr wrap="square" lIns="0" tIns="0" rIns="0" bIns="0" rtlCol="0" anchor="t"/>
          <a:lstStyle/>
          <a:p>
            <a:pPr marL="0" indent="0">
              <a:buNone/>
            </a:pPr>
            <a:r>
              <a:rPr lang="en-US" sz="3400" b="1" dirty="0">
                <a:solidFill>
                  <a:srgbClr val="FFFFFF"/>
                </a:solidFill>
              </a:rPr>
              <a:t>What each module does</a:t>
            </a:r>
            <a:endParaRPr lang="en-US" sz="3400" dirty="0"/>
          </a:p>
        </p:txBody>
      </p:sp>
      <p:sp>
        <p:nvSpPr>
          <p:cNvPr id="4" name="dark-sub"/>
          <p:cNvSpPr txBox="1"/>
          <p:nvPr/>
        </p:nvSpPr>
        <p:spPr>
          <a:xfrm>
            <a:off x="566928" y="2648204"/>
            <a:ext cx="6583680" cy="321056"/>
          </a:xfrm>
          <a:prstGeom prst="rect">
            <a:avLst/>
          </a:prstGeom>
          <a:noFill/>
          <a:ln/>
        </p:spPr>
        <p:txBody>
          <a:bodyPr wrap="square" lIns="0" tIns="0" rIns="0" bIns="0" rtlCol="0" anchor="t"/>
          <a:lstStyle/>
          <a:p>
            <a:pPr marL="0" indent="0">
              <a:buNone/>
            </a:pPr>
            <a:r>
              <a:rPr lang="en-US" sz="1600" dirty="0">
                <a:solidFill>
                  <a:srgbClr val="CBD6E8"/>
                </a:solidFill>
                <a:latin typeface="Calibri" pitchFamily="34" charset="0"/>
                <a:ea typeface="Calibri" pitchFamily="34" charset="-122"/>
                <a:cs typeface="Calibri" pitchFamily="34" charset="-120"/>
              </a:rPr>
              <a:t>Three screens, one chain. Most people work in only one of them.</a:t>
            </a:r>
            <a:endParaRPr lang="en-US" sz="1600" dirty="0"/>
          </a:p>
        </p:txBody>
      </p:sp>
      <p:sp>
        <p:nvSpPr>
          <p:cNvPr id="5" name="ghost-01"/>
          <p:cNvSpPr txBox="1"/>
          <p:nvPr/>
        </p:nvSpPr>
        <p:spPr>
          <a:xfrm>
            <a:off x="7772400" y="1188720"/>
            <a:ext cx="3840480" cy="2926080"/>
          </a:xfrm>
          <a:prstGeom prst="rect">
            <a:avLst/>
          </a:prstGeom>
          <a:noFill/>
          <a:ln/>
        </p:spPr>
        <p:txBody>
          <a:bodyPr wrap="square" lIns="0" tIns="0" rIns="0" bIns="0" rtlCol="0" anchor="ctr"/>
          <a:lstStyle/>
          <a:p>
            <a:pPr marL="0" indent="0" algn="r">
              <a:buNone/>
            </a:pPr>
            <a:r>
              <a:rPr lang="en-US" sz="15000" b="1" dirty="0">
                <a:solidFill>
                  <a:srgbClr val="1E3570"/>
                </a:solidFill>
              </a:rPr>
              <a:t>01</a:t>
            </a:r>
            <a:endParaRPr lang="en-US" sz="15000" dirty="0"/>
          </a:p>
        </p:txBody>
      </p:sp>
      <p:sp>
        <p:nvSpPr>
          <p:cNvPr id="6" name="pc-0"/>
          <p:cNvSpPr/>
          <p:nvPr/>
        </p:nvSpPr>
        <p:spPr>
          <a:xfrm>
            <a:off x="594360" y="3483864"/>
            <a:ext cx="146304" cy="146304"/>
          </a:xfrm>
          <a:prstGeom prst="ellipse">
            <a:avLst/>
          </a:prstGeom>
          <a:solidFill>
            <a:srgbClr val="B4801A"/>
          </a:solidFill>
          <a:ln w="12700">
            <a:solidFill>
              <a:srgbClr val="B4801A"/>
            </a:solidFill>
            <a:prstDash val="solid"/>
          </a:ln>
        </p:spPr>
      </p:sp>
      <p:sp>
        <p:nvSpPr>
          <p:cNvPr id="7" name="Text 5"/>
          <p:cNvSpPr txBox="1"/>
          <p:nvPr/>
        </p:nvSpPr>
        <p:spPr>
          <a:xfrm>
            <a:off x="950976" y="3383280"/>
            <a:ext cx="6675120" cy="347472"/>
          </a:xfrm>
          <a:prstGeom prst="rect">
            <a:avLst/>
          </a:prstGeom>
          <a:noFill/>
          <a:ln/>
        </p:spPr>
        <p:txBody>
          <a:bodyPr wrap="square" lIns="0" tIns="0" rIns="0" bIns="0" rtlCol="0" anchor="ctr"/>
          <a:lstStyle/>
          <a:p>
            <a:pPr marL="0" indent="0">
              <a:buNone/>
            </a:pPr>
            <a:r>
              <a:rPr lang="en-US" sz="1400" dirty="0">
                <a:solidFill>
                  <a:srgbClr val="E3EAF6"/>
                </a:solidFill>
                <a:latin typeface="Calibri" pitchFamily="34" charset="0"/>
                <a:ea typeface="Calibri" pitchFamily="34" charset="-122"/>
                <a:cs typeface="Calibri" pitchFamily="34" charset="-120"/>
              </a:rPr>
              <a:t>Expenses — where a payment starts</a:t>
            </a:r>
            <a:endParaRPr lang="en-US" sz="1400" dirty="0"/>
          </a:p>
        </p:txBody>
      </p:sp>
      <p:sp>
        <p:nvSpPr>
          <p:cNvPr id="8" name="pc-1"/>
          <p:cNvSpPr/>
          <p:nvPr/>
        </p:nvSpPr>
        <p:spPr>
          <a:xfrm>
            <a:off x="594360" y="3886200"/>
            <a:ext cx="146304" cy="146304"/>
          </a:xfrm>
          <a:prstGeom prst="ellipse">
            <a:avLst/>
          </a:prstGeom>
          <a:solidFill>
            <a:srgbClr val="B4801A"/>
          </a:solidFill>
          <a:ln w="12700">
            <a:solidFill>
              <a:srgbClr val="B4801A"/>
            </a:solidFill>
            <a:prstDash val="solid"/>
          </a:ln>
        </p:spPr>
      </p:sp>
      <p:sp>
        <p:nvSpPr>
          <p:cNvPr id="9" name="Text 7"/>
          <p:cNvSpPr txBox="1"/>
          <p:nvPr/>
        </p:nvSpPr>
        <p:spPr>
          <a:xfrm>
            <a:off x="950976" y="3785616"/>
            <a:ext cx="6675120" cy="347472"/>
          </a:xfrm>
          <a:prstGeom prst="rect">
            <a:avLst/>
          </a:prstGeom>
          <a:noFill/>
          <a:ln/>
        </p:spPr>
        <p:txBody>
          <a:bodyPr wrap="square" lIns="0" tIns="0" rIns="0" bIns="0" rtlCol="0" anchor="ctr"/>
          <a:lstStyle/>
          <a:p>
            <a:pPr marL="0" indent="0">
              <a:buNone/>
            </a:pPr>
            <a:r>
              <a:rPr lang="en-US" sz="1400" dirty="0">
                <a:solidFill>
                  <a:srgbClr val="E3EAF6"/>
                </a:solidFill>
                <a:latin typeface="Calibri" pitchFamily="34" charset="0"/>
                <a:ea typeface="Calibri" pitchFamily="34" charset="-122"/>
                <a:cs typeface="Calibri" pitchFamily="34" charset="-120"/>
              </a:rPr>
              <a:t>Daily Requisition — checked and made ready to pay</a:t>
            </a:r>
            <a:endParaRPr lang="en-US" sz="1400" dirty="0"/>
          </a:p>
        </p:txBody>
      </p:sp>
      <p:sp>
        <p:nvSpPr>
          <p:cNvPr id="10" name="pc-2"/>
          <p:cNvSpPr/>
          <p:nvPr/>
        </p:nvSpPr>
        <p:spPr>
          <a:xfrm>
            <a:off x="594360" y="4288536"/>
            <a:ext cx="146304" cy="146304"/>
          </a:xfrm>
          <a:prstGeom prst="ellipse">
            <a:avLst/>
          </a:prstGeom>
          <a:solidFill>
            <a:srgbClr val="B4801A"/>
          </a:solidFill>
          <a:ln w="12700">
            <a:solidFill>
              <a:srgbClr val="B4801A"/>
            </a:solidFill>
            <a:prstDash val="solid"/>
          </a:ln>
        </p:spPr>
      </p:sp>
      <p:sp>
        <p:nvSpPr>
          <p:cNvPr id="11" name="Text 9"/>
          <p:cNvSpPr txBox="1"/>
          <p:nvPr/>
        </p:nvSpPr>
        <p:spPr>
          <a:xfrm>
            <a:off x="950976" y="4187952"/>
            <a:ext cx="6675120" cy="347472"/>
          </a:xfrm>
          <a:prstGeom prst="rect">
            <a:avLst/>
          </a:prstGeom>
          <a:noFill/>
          <a:ln/>
        </p:spPr>
        <p:txBody>
          <a:bodyPr wrap="square" lIns="0" tIns="0" rIns="0" bIns="0" rtlCol="0" anchor="ctr"/>
          <a:lstStyle/>
          <a:p>
            <a:pPr marL="0" indent="0">
              <a:buNone/>
            </a:pPr>
            <a:r>
              <a:rPr lang="en-US" sz="1400" dirty="0">
                <a:solidFill>
                  <a:srgbClr val="E3EAF6"/>
                </a:solidFill>
                <a:latin typeface="Calibri" pitchFamily="34" charset="0"/>
                <a:ea typeface="Calibri" pitchFamily="34" charset="-122"/>
                <a:cs typeface="Calibri" pitchFamily="34" charset="-120"/>
              </a:rPr>
              <a:t>Bank Balance — paid, and the position known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lide-title"/>
          <p:cNvSpPr txBox="1"/>
          <p:nvPr/>
        </p:nvSpPr>
        <p:spPr>
          <a:xfrm>
            <a:off x="566928" y="438912"/>
            <a:ext cx="11057839" cy="603504"/>
          </a:xfrm>
          <a:prstGeom prst="rect">
            <a:avLst/>
          </a:prstGeom>
          <a:noFill/>
          <a:ln/>
        </p:spPr>
        <p:txBody>
          <a:bodyPr wrap="square" lIns="0" tIns="0" rIns="0" bIns="0" rtlCol="0" anchor="ctr"/>
          <a:lstStyle/>
          <a:p>
            <a:pPr marL="0" indent="0">
              <a:buNone/>
            </a:pPr>
            <a:r>
              <a:rPr lang="en-US" sz="3000" b="1" dirty="0">
                <a:solidFill>
                  <a:srgbClr val="15285C"/>
                </a:solidFill>
              </a:rPr>
              <a:t>Expenses — where a payment starts</a:t>
            </a:r>
            <a:endParaRPr lang="en-US" sz="3000" dirty="0"/>
          </a:p>
        </p:txBody>
      </p:sp>
      <p:sp>
        <p:nvSpPr>
          <p:cNvPr id="3" name="slide-lead"/>
          <p:cNvSpPr txBox="1"/>
          <p:nvPr/>
        </p:nvSpPr>
        <p:spPr>
          <a:xfrm>
            <a:off x="566928" y="1060704"/>
            <a:ext cx="11057839" cy="402336"/>
          </a:xfrm>
          <a:prstGeom prst="rect">
            <a:avLst/>
          </a:prstGeom>
          <a:noFill/>
          <a:ln/>
        </p:spPr>
        <p:txBody>
          <a:bodyPr wrap="square" lIns="0" tIns="0" rIns="0" bIns="0" rtlCol="0" anchor="ctr"/>
          <a:lstStyle/>
          <a:p>
            <a:pPr marL="0" indent="0">
              <a:buNone/>
            </a:pPr>
            <a:r>
              <a:rPr lang="en-US" sz="1450" dirty="0">
                <a:solidFill>
                  <a:srgbClr val="5A6577"/>
                </a:solidFill>
                <a:latin typeface="Calibri" pitchFamily="34" charset="0"/>
                <a:ea typeface="Calibri" pitchFamily="34" charset="-122"/>
                <a:cs typeface="Calibri" pitchFamily="34" charset="-120"/>
              </a:rPr>
              <a:t>The department raises a request. The form adapts to the bill in front of you.</a:t>
            </a:r>
            <a:endParaRPr lang="en-US" sz="1450" dirty="0"/>
          </a:p>
        </p:txBody>
      </p:sp>
      <p:sp>
        <p:nvSpPr>
          <p:cNvPr id="5" name="x1"/>
          <p:cNvSpPr/>
          <p:nvPr/>
        </p:nvSpPr>
        <p:spPr>
          <a:xfrm>
            <a:off x="566928" y="1627632"/>
            <a:ext cx="5346040" cy="2148840"/>
          </a:xfrm>
          <a:prstGeom prst="roundRect">
            <a:avLst>
              <a:gd name="adj" fmla="val 2979"/>
            </a:avLst>
          </a:prstGeom>
          <a:solidFill>
            <a:srgbClr val="EEF2FA"/>
          </a:solidFill>
          <a:ln w="12700">
            <a:solidFill>
              <a:srgbClr val="DCE4F2"/>
            </a:solidFill>
            <a:prstDash val="solid"/>
          </a:ln>
        </p:spPr>
      </p:sp>
      <p:sp>
        <p:nvSpPr>
          <p:cNvPr id="6" name="dot-1"/>
          <p:cNvSpPr/>
          <p:nvPr/>
        </p:nvSpPr>
        <p:spPr>
          <a:xfrm>
            <a:off x="804672" y="1865376"/>
            <a:ext cx="347472" cy="347472"/>
          </a:xfrm>
          <a:prstGeom prst="ellipse">
            <a:avLst/>
          </a:prstGeom>
          <a:solidFill>
            <a:srgbClr val="15285C"/>
          </a:solidFill>
          <a:ln w="12700">
            <a:solidFill>
              <a:srgbClr val="15285C"/>
            </a:solidFill>
            <a:prstDash val="solid"/>
          </a:ln>
        </p:spPr>
      </p:sp>
      <p:sp>
        <p:nvSpPr>
          <p:cNvPr id="7" name="Text 4"/>
          <p:cNvSpPr txBox="1"/>
          <p:nvPr/>
        </p:nvSpPr>
        <p:spPr>
          <a:xfrm>
            <a:off x="804672" y="186537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8" name="Text 5"/>
          <p:cNvSpPr txBox="1"/>
          <p:nvPr/>
        </p:nvSpPr>
        <p:spPr>
          <a:xfrm>
            <a:off x="1280160" y="1865376"/>
            <a:ext cx="4395064" cy="295021"/>
          </a:xfrm>
          <a:prstGeom prst="rect">
            <a:avLst/>
          </a:prstGeom>
          <a:noFill/>
          <a:ln/>
        </p:spPr>
        <p:txBody>
          <a:bodyPr wrap="square" lIns="0" tIns="0" rIns="0" bIns="0" rtlCol="0" anchor="ctr"/>
          <a:lstStyle/>
          <a:p>
            <a:pPr marL="0" indent="0">
              <a:buNone/>
            </a:pPr>
            <a:r>
              <a:rPr lang="en-US" sz="1550" b="1" dirty="0">
                <a:solidFill>
                  <a:srgbClr val="15285C"/>
                </a:solidFill>
              </a:rPr>
              <a:t>Raise a request</a:t>
            </a:r>
            <a:endParaRPr lang="en-US" sz="1550" dirty="0"/>
          </a:p>
        </p:txBody>
      </p:sp>
      <p:sp>
        <p:nvSpPr>
          <p:cNvPr id="9" name="Text 6"/>
          <p:cNvSpPr txBox="1"/>
          <p:nvPr/>
        </p:nvSpPr>
        <p:spPr>
          <a:xfrm>
            <a:off x="804672" y="2340864"/>
            <a:ext cx="4870552" cy="1269187"/>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Department, project, party, head of account and amount</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Request number allocated automatically, per department series</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A warning if the same party and amount was raised recently</a:t>
            </a:r>
            <a:endParaRPr lang="en-US" sz="1350" dirty="0"/>
          </a:p>
        </p:txBody>
      </p:sp>
      <p:sp>
        <p:nvSpPr>
          <p:cNvPr id="10" name="x2"/>
          <p:cNvSpPr/>
          <p:nvPr/>
        </p:nvSpPr>
        <p:spPr>
          <a:xfrm>
            <a:off x="6278728" y="1627632"/>
            <a:ext cx="5346040" cy="1920240"/>
          </a:xfrm>
          <a:prstGeom prst="roundRect">
            <a:avLst>
              <a:gd name="adj" fmla="val 3333"/>
            </a:avLst>
          </a:prstGeom>
          <a:solidFill>
            <a:srgbClr val="EEF2FA"/>
          </a:solidFill>
          <a:ln w="12700">
            <a:solidFill>
              <a:srgbClr val="DCE4F2"/>
            </a:solidFill>
            <a:prstDash val="solid"/>
          </a:ln>
        </p:spPr>
      </p:sp>
      <p:sp>
        <p:nvSpPr>
          <p:cNvPr id="11" name="dot-2"/>
          <p:cNvSpPr/>
          <p:nvPr/>
        </p:nvSpPr>
        <p:spPr>
          <a:xfrm>
            <a:off x="6516472" y="1865376"/>
            <a:ext cx="347472" cy="347472"/>
          </a:xfrm>
          <a:prstGeom prst="ellipse">
            <a:avLst/>
          </a:prstGeom>
          <a:solidFill>
            <a:srgbClr val="B4801A"/>
          </a:solidFill>
          <a:ln w="12700">
            <a:solidFill>
              <a:srgbClr val="B4801A"/>
            </a:solidFill>
            <a:prstDash val="solid"/>
          </a:ln>
        </p:spPr>
      </p:sp>
      <p:sp>
        <p:nvSpPr>
          <p:cNvPr id="12" name="Text 9"/>
          <p:cNvSpPr txBox="1"/>
          <p:nvPr/>
        </p:nvSpPr>
        <p:spPr>
          <a:xfrm>
            <a:off x="6516472" y="186537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3" name="Text 10"/>
          <p:cNvSpPr txBox="1"/>
          <p:nvPr/>
        </p:nvSpPr>
        <p:spPr>
          <a:xfrm>
            <a:off x="6991960" y="1865376"/>
            <a:ext cx="4395064" cy="295021"/>
          </a:xfrm>
          <a:prstGeom prst="rect">
            <a:avLst/>
          </a:prstGeom>
          <a:noFill/>
          <a:ln/>
        </p:spPr>
        <p:txBody>
          <a:bodyPr wrap="square" lIns="0" tIns="0" rIns="0" bIns="0" rtlCol="0" anchor="ctr"/>
          <a:lstStyle/>
          <a:p>
            <a:pPr marL="0" indent="0">
              <a:buNone/>
            </a:pPr>
            <a:r>
              <a:rPr lang="en-US" sz="1550" b="1" dirty="0">
                <a:solidFill>
                  <a:srgbClr val="15285C"/>
                </a:solidFill>
              </a:rPr>
              <a:t>Capture GST and TDS once</a:t>
            </a:r>
            <a:endParaRPr lang="en-US" sz="1550" dirty="0"/>
          </a:p>
        </p:txBody>
      </p:sp>
      <p:sp>
        <p:nvSpPr>
          <p:cNvPr id="14" name="Text 11"/>
          <p:cNvSpPr txBox="1"/>
          <p:nvPr/>
        </p:nvSpPr>
        <p:spPr>
          <a:xfrm>
            <a:off x="6516472" y="2340864"/>
            <a:ext cx="4870552" cy="1040587"/>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Only shown when the bill actually has them</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GSTIN checked as you type; the state fills itself in</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TDS section chosen from the Act, with the rate applied</a:t>
            </a:r>
            <a:endParaRPr lang="en-US" sz="1350" dirty="0"/>
          </a:p>
        </p:txBody>
      </p:sp>
      <p:sp>
        <p:nvSpPr>
          <p:cNvPr id="15" name="x3"/>
          <p:cNvSpPr/>
          <p:nvPr/>
        </p:nvSpPr>
        <p:spPr>
          <a:xfrm>
            <a:off x="566928" y="4005072"/>
            <a:ext cx="5346040" cy="2011680"/>
          </a:xfrm>
          <a:prstGeom prst="roundRect">
            <a:avLst>
              <a:gd name="adj" fmla="val 3182"/>
            </a:avLst>
          </a:prstGeom>
          <a:solidFill>
            <a:srgbClr val="EEF2FA"/>
          </a:solidFill>
          <a:ln w="12700">
            <a:solidFill>
              <a:srgbClr val="DCE4F2"/>
            </a:solidFill>
            <a:prstDash val="solid"/>
          </a:ln>
        </p:spPr>
      </p:sp>
      <p:sp>
        <p:nvSpPr>
          <p:cNvPr id="16" name="dot-3"/>
          <p:cNvSpPr/>
          <p:nvPr/>
        </p:nvSpPr>
        <p:spPr>
          <a:xfrm>
            <a:off x="804672" y="4242816"/>
            <a:ext cx="347472" cy="347472"/>
          </a:xfrm>
          <a:prstGeom prst="ellipse">
            <a:avLst/>
          </a:prstGeom>
          <a:solidFill>
            <a:srgbClr val="0E7A58"/>
          </a:solidFill>
          <a:ln w="12700">
            <a:solidFill>
              <a:srgbClr val="0E7A58"/>
            </a:solidFill>
            <a:prstDash val="solid"/>
          </a:ln>
        </p:spPr>
      </p:sp>
      <p:sp>
        <p:nvSpPr>
          <p:cNvPr id="17" name="Text 14"/>
          <p:cNvSpPr txBox="1"/>
          <p:nvPr/>
        </p:nvSpPr>
        <p:spPr>
          <a:xfrm>
            <a:off x="804672" y="424281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8" name="Text 15"/>
          <p:cNvSpPr txBox="1"/>
          <p:nvPr/>
        </p:nvSpPr>
        <p:spPr>
          <a:xfrm>
            <a:off x="1280160" y="4242816"/>
            <a:ext cx="4395064" cy="295021"/>
          </a:xfrm>
          <a:prstGeom prst="rect">
            <a:avLst/>
          </a:prstGeom>
          <a:noFill/>
          <a:ln/>
        </p:spPr>
        <p:txBody>
          <a:bodyPr wrap="square" lIns="0" tIns="0" rIns="0" bIns="0" rtlCol="0" anchor="ctr"/>
          <a:lstStyle/>
          <a:p>
            <a:pPr marL="0" indent="0">
              <a:buNone/>
            </a:pPr>
            <a:r>
              <a:rPr lang="en-US" sz="1550" b="1" dirty="0">
                <a:solidFill>
                  <a:srgbClr val="15285C"/>
                </a:solidFill>
              </a:rPr>
              <a:t>Registers and reports</a:t>
            </a:r>
            <a:endParaRPr lang="en-US" sz="1550" dirty="0"/>
          </a:p>
        </p:txBody>
      </p:sp>
      <p:sp>
        <p:nvSpPr>
          <p:cNvPr id="19" name="Text 16"/>
          <p:cNvSpPr txBox="1"/>
          <p:nvPr/>
        </p:nvSpPr>
        <p:spPr>
          <a:xfrm>
            <a:off x="804672" y="4718304"/>
            <a:ext cx="4870552" cy="1132027"/>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Per-department and consolidated registers</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Columns you choose, in the order you want them</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Excel export of anything on screen</a:t>
            </a:r>
            <a:endParaRPr lang="en-US" sz="1350" dirty="0"/>
          </a:p>
        </p:txBody>
      </p:sp>
      <p:sp>
        <p:nvSpPr>
          <p:cNvPr id="20" name="x4"/>
          <p:cNvSpPr/>
          <p:nvPr/>
        </p:nvSpPr>
        <p:spPr>
          <a:xfrm>
            <a:off x="6278728" y="4005072"/>
            <a:ext cx="5346040" cy="2011680"/>
          </a:xfrm>
          <a:prstGeom prst="roundRect">
            <a:avLst>
              <a:gd name="adj" fmla="val 3182"/>
            </a:avLst>
          </a:prstGeom>
          <a:solidFill>
            <a:srgbClr val="EEF2FA"/>
          </a:solidFill>
          <a:ln w="12700">
            <a:solidFill>
              <a:srgbClr val="DCE4F2"/>
            </a:solidFill>
            <a:prstDash val="solid"/>
          </a:ln>
        </p:spPr>
      </p:sp>
      <p:sp>
        <p:nvSpPr>
          <p:cNvPr id="21" name="dot-4"/>
          <p:cNvSpPr/>
          <p:nvPr/>
        </p:nvSpPr>
        <p:spPr>
          <a:xfrm>
            <a:off x="6516472" y="4242816"/>
            <a:ext cx="347472" cy="347472"/>
          </a:xfrm>
          <a:prstGeom prst="ellipse">
            <a:avLst/>
          </a:prstGeom>
          <a:solidFill>
            <a:srgbClr val="4C6FA5"/>
          </a:solidFill>
          <a:ln w="12700">
            <a:solidFill>
              <a:srgbClr val="4C6FA5"/>
            </a:solidFill>
            <a:prstDash val="solid"/>
          </a:ln>
        </p:spPr>
      </p:sp>
      <p:sp>
        <p:nvSpPr>
          <p:cNvPr id="22" name="Text 19"/>
          <p:cNvSpPr txBox="1"/>
          <p:nvPr/>
        </p:nvSpPr>
        <p:spPr>
          <a:xfrm>
            <a:off x="6516472" y="424281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23" name="Text 20"/>
          <p:cNvSpPr txBox="1"/>
          <p:nvPr/>
        </p:nvSpPr>
        <p:spPr>
          <a:xfrm>
            <a:off x="6991960" y="4242816"/>
            <a:ext cx="4395064" cy="295021"/>
          </a:xfrm>
          <a:prstGeom prst="rect">
            <a:avLst/>
          </a:prstGeom>
          <a:noFill/>
          <a:ln/>
        </p:spPr>
        <p:txBody>
          <a:bodyPr wrap="square" lIns="0" tIns="0" rIns="0" bIns="0" rtlCol="0" anchor="ctr"/>
          <a:lstStyle/>
          <a:p>
            <a:pPr marL="0" indent="0">
              <a:buNone/>
            </a:pPr>
            <a:r>
              <a:rPr lang="en-US" sz="1550" b="1" dirty="0">
                <a:solidFill>
                  <a:srgbClr val="15285C"/>
                </a:solidFill>
              </a:rPr>
              <a:t>Set up once, in Settings</a:t>
            </a:r>
            <a:endParaRPr lang="en-US" sz="1550" dirty="0"/>
          </a:p>
        </p:txBody>
      </p:sp>
      <p:sp>
        <p:nvSpPr>
          <p:cNvPr id="24" name="Text 21"/>
          <p:cNvSpPr txBox="1"/>
          <p:nvPr/>
        </p:nvSpPr>
        <p:spPr>
          <a:xfrm>
            <a:off x="6516472" y="4718304"/>
            <a:ext cx="4870552" cy="1132027"/>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Account heads and sub-heads, department number series</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Which fields appear and which are required</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Who may act, and who stands in for them</a:t>
            </a:r>
            <a:endParaRPr lang="en-US" sz="1350" dirty="0"/>
          </a:p>
        </p:txBody>
      </p:sp>
      <p:sp>
        <p:nvSpPr>
          <p:cNvPr id="25" name="Slide Number Placeholder 0"/>
          <p:cNvSpPr>
            <a:spLocks noGrp="1"/>
          </p:cNvSpPr>
          <p:nvPr>
            <p:ph type="sldNum" sz="quarter" idx="4294967295"/>
          </p:nvPr>
        </p:nvSpPr>
        <p:spPr>
          <a:xfrm>
            <a:off x="1143000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950">
                <a:solidFill>
                  <a:srgbClr val="A8B0BD"/>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lide-title"/>
          <p:cNvSpPr txBox="1"/>
          <p:nvPr/>
        </p:nvSpPr>
        <p:spPr>
          <a:xfrm>
            <a:off x="566928" y="438912"/>
            <a:ext cx="11057839" cy="603504"/>
          </a:xfrm>
          <a:prstGeom prst="rect">
            <a:avLst/>
          </a:prstGeom>
          <a:noFill/>
          <a:ln/>
        </p:spPr>
        <p:txBody>
          <a:bodyPr wrap="square" lIns="0" tIns="0" rIns="0" bIns="0" rtlCol="0" anchor="ctr"/>
          <a:lstStyle/>
          <a:p>
            <a:pPr marL="0" indent="0">
              <a:buNone/>
            </a:pPr>
            <a:r>
              <a:rPr lang="en-US" sz="3000" b="1" dirty="0">
                <a:solidFill>
                  <a:srgbClr val="15285C"/>
                </a:solidFill>
              </a:rPr>
              <a:t>Daily Requisition — checked and made ready to pay</a:t>
            </a:r>
            <a:endParaRPr lang="en-US" sz="3000" dirty="0"/>
          </a:p>
        </p:txBody>
      </p:sp>
      <p:sp>
        <p:nvSpPr>
          <p:cNvPr id="3" name="slide-lead"/>
          <p:cNvSpPr txBox="1"/>
          <p:nvPr/>
        </p:nvSpPr>
        <p:spPr>
          <a:xfrm>
            <a:off x="566928" y="1060704"/>
            <a:ext cx="11057839" cy="402336"/>
          </a:xfrm>
          <a:prstGeom prst="rect">
            <a:avLst/>
          </a:prstGeom>
          <a:noFill/>
          <a:ln/>
        </p:spPr>
        <p:txBody>
          <a:bodyPr wrap="square" lIns="0" tIns="0" rIns="0" bIns="0" rtlCol="0" anchor="ctr"/>
          <a:lstStyle/>
          <a:p>
            <a:pPr marL="0" indent="0">
              <a:buNone/>
            </a:pPr>
            <a:r>
              <a:rPr lang="en-US" sz="1450" dirty="0">
                <a:solidFill>
                  <a:srgbClr val="5A6577"/>
                </a:solidFill>
                <a:latin typeface="Calibri" pitchFamily="34" charset="0"/>
                <a:ea typeface="Calibri" pitchFamily="34" charset="-122"/>
                <a:cs typeface="Calibri" pitchFamily="34" charset="-120"/>
              </a:rPr>
              <a:t>Finance receives the request, verifies the tax, and sends it for payment.</a:t>
            </a:r>
            <a:endParaRPr lang="en-US" sz="1450" dirty="0"/>
          </a:p>
        </p:txBody>
      </p:sp>
      <p:sp>
        <p:nvSpPr>
          <p:cNvPr id="5" name="d1"/>
          <p:cNvSpPr/>
          <p:nvPr/>
        </p:nvSpPr>
        <p:spPr>
          <a:xfrm>
            <a:off x="566928" y="1627632"/>
            <a:ext cx="5346040" cy="2148840"/>
          </a:xfrm>
          <a:prstGeom prst="roundRect">
            <a:avLst>
              <a:gd name="adj" fmla="val 2979"/>
            </a:avLst>
          </a:prstGeom>
          <a:solidFill>
            <a:srgbClr val="EEF2FA"/>
          </a:solidFill>
          <a:ln w="12700">
            <a:solidFill>
              <a:srgbClr val="DCE4F2"/>
            </a:solidFill>
            <a:prstDash val="solid"/>
          </a:ln>
        </p:spPr>
      </p:sp>
      <p:sp>
        <p:nvSpPr>
          <p:cNvPr id="6" name="dot-1"/>
          <p:cNvSpPr/>
          <p:nvPr/>
        </p:nvSpPr>
        <p:spPr>
          <a:xfrm>
            <a:off x="804672" y="1865376"/>
            <a:ext cx="347472" cy="347472"/>
          </a:xfrm>
          <a:prstGeom prst="ellipse">
            <a:avLst/>
          </a:prstGeom>
          <a:solidFill>
            <a:srgbClr val="15285C"/>
          </a:solidFill>
          <a:ln w="12700">
            <a:solidFill>
              <a:srgbClr val="15285C"/>
            </a:solidFill>
            <a:prstDash val="solid"/>
          </a:ln>
        </p:spPr>
      </p:sp>
      <p:sp>
        <p:nvSpPr>
          <p:cNvPr id="7" name="Text 4"/>
          <p:cNvSpPr txBox="1"/>
          <p:nvPr/>
        </p:nvSpPr>
        <p:spPr>
          <a:xfrm>
            <a:off x="804672" y="186537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8" name="Text 5"/>
          <p:cNvSpPr txBox="1"/>
          <p:nvPr/>
        </p:nvSpPr>
        <p:spPr>
          <a:xfrm>
            <a:off x="1280160" y="1865376"/>
            <a:ext cx="4395064" cy="295021"/>
          </a:xfrm>
          <a:prstGeom prst="rect">
            <a:avLst/>
          </a:prstGeom>
          <a:noFill/>
          <a:ln/>
        </p:spPr>
        <p:txBody>
          <a:bodyPr wrap="square" lIns="0" tIns="0" rIns="0" bIns="0" rtlCol="0" anchor="ctr"/>
          <a:lstStyle/>
          <a:p>
            <a:pPr marL="0" indent="0">
              <a:buNone/>
            </a:pPr>
            <a:r>
              <a:rPr lang="en-US" sz="1550" b="1" dirty="0">
                <a:solidFill>
                  <a:srgbClr val="15285C"/>
                </a:solidFill>
              </a:rPr>
              <a:t>Receive, one or many</a:t>
            </a:r>
            <a:endParaRPr lang="en-US" sz="1550" dirty="0"/>
          </a:p>
        </p:txBody>
      </p:sp>
      <p:sp>
        <p:nvSpPr>
          <p:cNvPr id="9" name="Text 6"/>
          <p:cNvSpPr txBox="1"/>
          <p:nvPr/>
        </p:nvSpPr>
        <p:spPr>
          <a:xfrm>
            <a:off x="804672" y="2340864"/>
            <a:ext cx="4870552" cy="1269187"/>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Tick several expense requests and receive them together</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Numbered in DEP order: the lowest serial takes the first reception number</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Everything saves together, or not at all</a:t>
            </a:r>
            <a:endParaRPr lang="en-US" sz="1350" dirty="0"/>
          </a:p>
        </p:txBody>
      </p:sp>
      <p:sp>
        <p:nvSpPr>
          <p:cNvPr id="10" name="d2"/>
          <p:cNvSpPr/>
          <p:nvPr/>
        </p:nvSpPr>
        <p:spPr>
          <a:xfrm>
            <a:off x="6278728" y="1627632"/>
            <a:ext cx="5346040" cy="1920240"/>
          </a:xfrm>
          <a:prstGeom prst="roundRect">
            <a:avLst>
              <a:gd name="adj" fmla="val 3333"/>
            </a:avLst>
          </a:prstGeom>
          <a:solidFill>
            <a:srgbClr val="EEF2FA"/>
          </a:solidFill>
          <a:ln w="12700">
            <a:solidFill>
              <a:srgbClr val="DCE4F2"/>
            </a:solidFill>
            <a:prstDash val="solid"/>
          </a:ln>
        </p:spPr>
      </p:sp>
      <p:sp>
        <p:nvSpPr>
          <p:cNvPr id="11" name="dot-2"/>
          <p:cNvSpPr/>
          <p:nvPr/>
        </p:nvSpPr>
        <p:spPr>
          <a:xfrm>
            <a:off x="6516472" y="1865376"/>
            <a:ext cx="347472" cy="347472"/>
          </a:xfrm>
          <a:prstGeom prst="ellipse">
            <a:avLst/>
          </a:prstGeom>
          <a:solidFill>
            <a:srgbClr val="B4801A"/>
          </a:solidFill>
          <a:ln w="12700">
            <a:solidFill>
              <a:srgbClr val="B4801A"/>
            </a:solidFill>
            <a:prstDash val="solid"/>
          </a:ln>
        </p:spPr>
      </p:sp>
      <p:sp>
        <p:nvSpPr>
          <p:cNvPr id="12" name="Text 9"/>
          <p:cNvSpPr txBox="1"/>
          <p:nvPr/>
        </p:nvSpPr>
        <p:spPr>
          <a:xfrm>
            <a:off x="6516472" y="186537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3" name="Text 10"/>
          <p:cNvSpPr txBox="1"/>
          <p:nvPr/>
        </p:nvSpPr>
        <p:spPr>
          <a:xfrm>
            <a:off x="6991960" y="1865376"/>
            <a:ext cx="4395064" cy="295021"/>
          </a:xfrm>
          <a:prstGeom prst="rect">
            <a:avLst/>
          </a:prstGeom>
          <a:noFill/>
          <a:ln/>
        </p:spPr>
        <p:txBody>
          <a:bodyPr wrap="square" lIns="0" tIns="0" rIns="0" bIns="0" rtlCol="0" anchor="ctr"/>
          <a:lstStyle/>
          <a:p>
            <a:pPr marL="0" indent="0">
              <a:buNone/>
            </a:pPr>
            <a:r>
              <a:rPr lang="en-US" sz="1550" b="1" dirty="0">
                <a:solidFill>
                  <a:srgbClr val="15285C"/>
                </a:solidFill>
              </a:rPr>
              <a:t>Verify GST and TDS</a:t>
            </a:r>
            <a:endParaRPr lang="en-US" sz="1550" dirty="0"/>
          </a:p>
        </p:txBody>
      </p:sp>
      <p:sp>
        <p:nvSpPr>
          <p:cNvPr id="14" name="Text 11"/>
          <p:cNvSpPr txBox="1"/>
          <p:nvPr/>
        </p:nvSpPr>
        <p:spPr>
          <a:xfrm>
            <a:off x="6516472" y="2340864"/>
            <a:ext cx="4870552" cy="1040587"/>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Opens already filled in from the request</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Warns when the tax split does not match the two states</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Net payable settled here, and it is what gets paid</a:t>
            </a:r>
            <a:endParaRPr lang="en-US" sz="1350" dirty="0"/>
          </a:p>
        </p:txBody>
      </p:sp>
      <p:sp>
        <p:nvSpPr>
          <p:cNvPr id="15" name="d3"/>
          <p:cNvSpPr/>
          <p:nvPr/>
        </p:nvSpPr>
        <p:spPr>
          <a:xfrm>
            <a:off x="566928" y="4005072"/>
            <a:ext cx="5346040" cy="2011680"/>
          </a:xfrm>
          <a:prstGeom prst="roundRect">
            <a:avLst>
              <a:gd name="adj" fmla="val 3182"/>
            </a:avLst>
          </a:prstGeom>
          <a:solidFill>
            <a:srgbClr val="EEF2FA"/>
          </a:solidFill>
          <a:ln w="12700">
            <a:solidFill>
              <a:srgbClr val="DCE4F2"/>
            </a:solidFill>
            <a:prstDash val="solid"/>
          </a:ln>
        </p:spPr>
      </p:sp>
      <p:sp>
        <p:nvSpPr>
          <p:cNvPr id="16" name="dot-3"/>
          <p:cNvSpPr/>
          <p:nvPr/>
        </p:nvSpPr>
        <p:spPr>
          <a:xfrm>
            <a:off x="804672" y="4242816"/>
            <a:ext cx="347472" cy="347472"/>
          </a:xfrm>
          <a:prstGeom prst="ellipse">
            <a:avLst/>
          </a:prstGeom>
          <a:solidFill>
            <a:srgbClr val="0E7A58"/>
          </a:solidFill>
          <a:ln w="12700">
            <a:solidFill>
              <a:srgbClr val="0E7A58"/>
            </a:solidFill>
            <a:prstDash val="solid"/>
          </a:ln>
        </p:spPr>
      </p:sp>
      <p:sp>
        <p:nvSpPr>
          <p:cNvPr id="17" name="Text 14"/>
          <p:cNvSpPr txBox="1"/>
          <p:nvPr/>
        </p:nvSpPr>
        <p:spPr>
          <a:xfrm>
            <a:off x="804672" y="424281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8" name="Text 15"/>
          <p:cNvSpPr txBox="1"/>
          <p:nvPr/>
        </p:nvSpPr>
        <p:spPr>
          <a:xfrm>
            <a:off x="1280160" y="4242816"/>
            <a:ext cx="4395064" cy="295021"/>
          </a:xfrm>
          <a:prstGeom prst="rect">
            <a:avLst/>
          </a:prstGeom>
          <a:noFill/>
          <a:ln/>
        </p:spPr>
        <p:txBody>
          <a:bodyPr wrap="square" lIns="0" tIns="0" rIns="0" bIns="0" rtlCol="0" anchor="ctr"/>
          <a:lstStyle/>
          <a:p>
            <a:pPr marL="0" indent="0">
              <a:buNone/>
            </a:pPr>
            <a:r>
              <a:rPr lang="en-US" sz="1550" b="1" dirty="0">
                <a:solidFill>
                  <a:srgbClr val="15285C"/>
                </a:solidFill>
              </a:rPr>
              <a:t>Move it through the stages</a:t>
            </a:r>
            <a:endParaRPr lang="en-US" sz="1550" dirty="0"/>
          </a:p>
        </p:txBody>
      </p:sp>
      <p:sp>
        <p:nvSpPr>
          <p:cNvPr id="19" name="Text 16"/>
          <p:cNvSpPr txBox="1"/>
          <p:nvPr/>
        </p:nvSpPr>
        <p:spPr>
          <a:xfrm>
            <a:off x="804672" y="4718304"/>
            <a:ext cx="4870552" cy="1132027"/>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Stages come from your workflow, not from code</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Move one or many at once; documents tracked alongside</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Every move recorded against the requisition</a:t>
            </a:r>
            <a:endParaRPr lang="en-US" sz="1350" dirty="0"/>
          </a:p>
        </p:txBody>
      </p:sp>
      <p:sp>
        <p:nvSpPr>
          <p:cNvPr id="20" name="d4"/>
          <p:cNvSpPr/>
          <p:nvPr/>
        </p:nvSpPr>
        <p:spPr>
          <a:xfrm>
            <a:off x="6278728" y="4005072"/>
            <a:ext cx="5346040" cy="2011680"/>
          </a:xfrm>
          <a:prstGeom prst="roundRect">
            <a:avLst>
              <a:gd name="adj" fmla="val 3182"/>
            </a:avLst>
          </a:prstGeom>
          <a:solidFill>
            <a:srgbClr val="EEF2FA"/>
          </a:solidFill>
          <a:ln w="12700">
            <a:solidFill>
              <a:srgbClr val="DCE4F2"/>
            </a:solidFill>
            <a:prstDash val="solid"/>
          </a:ln>
        </p:spPr>
      </p:sp>
      <p:sp>
        <p:nvSpPr>
          <p:cNvPr id="21" name="dot-4"/>
          <p:cNvSpPr/>
          <p:nvPr/>
        </p:nvSpPr>
        <p:spPr>
          <a:xfrm>
            <a:off x="6516472" y="4242816"/>
            <a:ext cx="347472" cy="347472"/>
          </a:xfrm>
          <a:prstGeom prst="ellipse">
            <a:avLst/>
          </a:prstGeom>
          <a:solidFill>
            <a:srgbClr val="4C6FA5"/>
          </a:solidFill>
          <a:ln w="12700">
            <a:solidFill>
              <a:srgbClr val="4C6FA5"/>
            </a:solidFill>
            <a:prstDash val="solid"/>
          </a:ln>
        </p:spPr>
      </p:sp>
      <p:sp>
        <p:nvSpPr>
          <p:cNvPr id="22" name="Text 19"/>
          <p:cNvSpPr txBox="1"/>
          <p:nvPr/>
        </p:nvSpPr>
        <p:spPr>
          <a:xfrm>
            <a:off x="6516472" y="424281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23" name="Text 20"/>
          <p:cNvSpPr txBox="1"/>
          <p:nvPr/>
        </p:nvSpPr>
        <p:spPr>
          <a:xfrm>
            <a:off x="6991960" y="4242816"/>
            <a:ext cx="4395064" cy="295021"/>
          </a:xfrm>
          <a:prstGeom prst="rect">
            <a:avLst/>
          </a:prstGeom>
          <a:noFill/>
          <a:ln/>
        </p:spPr>
        <p:txBody>
          <a:bodyPr wrap="square" lIns="0" tIns="0" rIns="0" bIns="0" rtlCol="0" anchor="ctr"/>
          <a:lstStyle/>
          <a:p>
            <a:pPr marL="0" indent="0">
              <a:buNone/>
            </a:pPr>
            <a:r>
              <a:rPr lang="en-US" sz="1550" b="1" dirty="0">
                <a:solidFill>
                  <a:srgbClr val="15285C"/>
                </a:solidFill>
              </a:rPr>
              <a:t>See the whole position</a:t>
            </a:r>
            <a:endParaRPr lang="en-US" sz="1550" dirty="0"/>
          </a:p>
        </p:txBody>
      </p:sp>
      <p:sp>
        <p:nvSpPr>
          <p:cNvPr id="24" name="Text 21"/>
          <p:cNvSpPr txBox="1"/>
          <p:nvPr/>
        </p:nvSpPr>
        <p:spPr>
          <a:xfrm>
            <a:off x="6516472" y="4718304"/>
            <a:ext cx="4870552" cy="1132027"/>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A dashboard of what is waiting at each stage</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How long the oldest has waited, and what is still due</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Who is owed the most, and by which department</a:t>
            </a:r>
            <a:endParaRPr lang="en-US" sz="1350" dirty="0"/>
          </a:p>
        </p:txBody>
      </p:sp>
      <p:sp>
        <p:nvSpPr>
          <p:cNvPr id="25" name="Slide Number Placeholder 0"/>
          <p:cNvSpPr>
            <a:spLocks noGrp="1"/>
          </p:cNvSpPr>
          <p:nvPr>
            <p:ph type="sldNum" sz="quarter" idx="4294967295"/>
          </p:nvPr>
        </p:nvSpPr>
        <p:spPr>
          <a:xfrm>
            <a:off x="1143000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950">
                <a:solidFill>
                  <a:srgbClr val="A8B0BD"/>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lide-title"/>
          <p:cNvSpPr txBox="1"/>
          <p:nvPr/>
        </p:nvSpPr>
        <p:spPr>
          <a:xfrm>
            <a:off x="566928" y="438912"/>
            <a:ext cx="11057839" cy="603504"/>
          </a:xfrm>
          <a:prstGeom prst="rect">
            <a:avLst/>
          </a:prstGeom>
          <a:noFill/>
          <a:ln/>
        </p:spPr>
        <p:txBody>
          <a:bodyPr wrap="square" lIns="0" tIns="0" rIns="0" bIns="0" rtlCol="0" anchor="ctr"/>
          <a:lstStyle/>
          <a:p>
            <a:pPr marL="0" indent="0">
              <a:buNone/>
            </a:pPr>
            <a:r>
              <a:rPr lang="en-US" sz="3000" b="1" dirty="0">
                <a:solidFill>
                  <a:srgbClr val="15285C"/>
                </a:solidFill>
              </a:rPr>
              <a:t>Bank Balance — paid, and the position known</a:t>
            </a:r>
            <a:endParaRPr lang="en-US" sz="3000" dirty="0"/>
          </a:p>
        </p:txBody>
      </p:sp>
      <p:sp>
        <p:nvSpPr>
          <p:cNvPr id="3" name="slide-lead"/>
          <p:cNvSpPr txBox="1"/>
          <p:nvPr/>
        </p:nvSpPr>
        <p:spPr>
          <a:xfrm>
            <a:off x="566928" y="1060704"/>
            <a:ext cx="11057839" cy="402336"/>
          </a:xfrm>
          <a:prstGeom prst="rect">
            <a:avLst/>
          </a:prstGeom>
          <a:noFill/>
          <a:ln/>
        </p:spPr>
        <p:txBody>
          <a:bodyPr wrap="square" lIns="0" tIns="0" rIns="0" bIns="0" rtlCol="0" anchor="ctr"/>
          <a:lstStyle/>
          <a:p>
            <a:pPr marL="0" indent="0">
              <a:buNone/>
            </a:pPr>
            <a:r>
              <a:rPr lang="en-US" sz="1450" dirty="0">
                <a:solidFill>
                  <a:srgbClr val="5A6577"/>
                </a:solidFill>
                <a:latin typeface="Calibri" pitchFamily="34" charset="0"/>
                <a:ea typeface="Calibri" pitchFamily="34" charset="-122"/>
                <a:cs typeface="Calibri" pitchFamily="34" charset="-120"/>
              </a:rPr>
              <a:t>Vouchers settle requisitions and the bank position follows automatically.</a:t>
            </a:r>
            <a:endParaRPr lang="en-US" sz="1450" dirty="0"/>
          </a:p>
        </p:txBody>
      </p:sp>
      <p:sp>
        <p:nvSpPr>
          <p:cNvPr id="5" name="b1"/>
          <p:cNvSpPr/>
          <p:nvPr/>
        </p:nvSpPr>
        <p:spPr>
          <a:xfrm>
            <a:off x="566928" y="1627632"/>
            <a:ext cx="5346040" cy="2148840"/>
          </a:xfrm>
          <a:prstGeom prst="roundRect">
            <a:avLst>
              <a:gd name="adj" fmla="val 2979"/>
            </a:avLst>
          </a:prstGeom>
          <a:solidFill>
            <a:srgbClr val="EEF2FA"/>
          </a:solidFill>
          <a:ln w="12700">
            <a:solidFill>
              <a:srgbClr val="DCE4F2"/>
            </a:solidFill>
            <a:prstDash val="solid"/>
          </a:ln>
        </p:spPr>
      </p:sp>
      <p:sp>
        <p:nvSpPr>
          <p:cNvPr id="6" name="dot-1"/>
          <p:cNvSpPr/>
          <p:nvPr/>
        </p:nvSpPr>
        <p:spPr>
          <a:xfrm>
            <a:off x="804672" y="1865376"/>
            <a:ext cx="347472" cy="347472"/>
          </a:xfrm>
          <a:prstGeom prst="ellipse">
            <a:avLst/>
          </a:prstGeom>
          <a:solidFill>
            <a:srgbClr val="15285C"/>
          </a:solidFill>
          <a:ln w="12700">
            <a:solidFill>
              <a:srgbClr val="15285C"/>
            </a:solidFill>
            <a:prstDash val="solid"/>
          </a:ln>
        </p:spPr>
      </p:sp>
      <p:sp>
        <p:nvSpPr>
          <p:cNvPr id="7" name="Text 4"/>
          <p:cNvSpPr txBox="1"/>
          <p:nvPr/>
        </p:nvSpPr>
        <p:spPr>
          <a:xfrm>
            <a:off x="804672" y="186537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8" name="Text 5"/>
          <p:cNvSpPr txBox="1"/>
          <p:nvPr/>
        </p:nvSpPr>
        <p:spPr>
          <a:xfrm>
            <a:off x="1280160" y="1865376"/>
            <a:ext cx="4395064" cy="295021"/>
          </a:xfrm>
          <a:prstGeom prst="rect">
            <a:avLst/>
          </a:prstGeom>
          <a:noFill/>
          <a:ln/>
        </p:spPr>
        <p:txBody>
          <a:bodyPr wrap="square" lIns="0" tIns="0" rIns="0" bIns="0" rtlCol="0" anchor="ctr"/>
          <a:lstStyle/>
          <a:p>
            <a:pPr marL="0" indent="0">
              <a:buNone/>
            </a:pPr>
            <a:r>
              <a:rPr lang="en-US" sz="1550" b="1" dirty="0">
                <a:solidFill>
                  <a:srgbClr val="15285C"/>
                </a:solidFill>
              </a:rPr>
              <a:t>Pay the way the bank works</a:t>
            </a:r>
            <a:endParaRPr lang="en-US" sz="1550" dirty="0"/>
          </a:p>
        </p:txBody>
      </p:sp>
      <p:sp>
        <p:nvSpPr>
          <p:cNvPr id="9" name="Text 6"/>
          <p:cNvSpPr txBox="1"/>
          <p:nvPr/>
        </p:nvSpPr>
        <p:spPr>
          <a:xfrm>
            <a:off x="804672" y="2340864"/>
            <a:ext cx="4870552" cy="1269187"/>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Cheque, RTGS or e-cheque, and one instrument may settle several requisitions</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Part payments allowed; the balance stays visible</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Instrument numbers reserved, so two vouchers cannot clash</a:t>
            </a:r>
            <a:endParaRPr lang="en-US" sz="1350" dirty="0"/>
          </a:p>
        </p:txBody>
      </p:sp>
      <p:sp>
        <p:nvSpPr>
          <p:cNvPr id="10" name="b2"/>
          <p:cNvSpPr/>
          <p:nvPr/>
        </p:nvSpPr>
        <p:spPr>
          <a:xfrm>
            <a:off x="6278728" y="1627632"/>
            <a:ext cx="5346040" cy="1920240"/>
          </a:xfrm>
          <a:prstGeom prst="roundRect">
            <a:avLst>
              <a:gd name="adj" fmla="val 3333"/>
            </a:avLst>
          </a:prstGeom>
          <a:solidFill>
            <a:srgbClr val="EEF2FA"/>
          </a:solidFill>
          <a:ln w="12700">
            <a:solidFill>
              <a:srgbClr val="DCE4F2"/>
            </a:solidFill>
            <a:prstDash val="solid"/>
          </a:ln>
        </p:spPr>
      </p:sp>
      <p:sp>
        <p:nvSpPr>
          <p:cNvPr id="11" name="dot-2"/>
          <p:cNvSpPr/>
          <p:nvPr/>
        </p:nvSpPr>
        <p:spPr>
          <a:xfrm>
            <a:off x="6516472" y="1865376"/>
            <a:ext cx="347472" cy="347472"/>
          </a:xfrm>
          <a:prstGeom prst="ellipse">
            <a:avLst/>
          </a:prstGeom>
          <a:solidFill>
            <a:srgbClr val="B4801A"/>
          </a:solidFill>
          <a:ln w="12700">
            <a:solidFill>
              <a:srgbClr val="B4801A"/>
            </a:solidFill>
            <a:prstDash val="solid"/>
          </a:ln>
        </p:spPr>
      </p:sp>
      <p:sp>
        <p:nvSpPr>
          <p:cNvPr id="12" name="Text 9"/>
          <p:cNvSpPr txBox="1"/>
          <p:nvPr/>
        </p:nvSpPr>
        <p:spPr>
          <a:xfrm>
            <a:off x="6516472" y="186537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3" name="Text 10"/>
          <p:cNvSpPr txBox="1"/>
          <p:nvPr/>
        </p:nvSpPr>
        <p:spPr>
          <a:xfrm>
            <a:off x="6991960" y="1865376"/>
            <a:ext cx="4395064" cy="295021"/>
          </a:xfrm>
          <a:prstGeom prst="rect">
            <a:avLst/>
          </a:prstGeom>
          <a:noFill/>
          <a:ln/>
        </p:spPr>
        <p:txBody>
          <a:bodyPr wrap="square" lIns="0" tIns="0" rIns="0" bIns="0" rtlCol="0" anchor="ctr"/>
          <a:lstStyle/>
          <a:p>
            <a:pPr marL="0" indent="0">
              <a:buNone/>
            </a:pPr>
            <a:r>
              <a:rPr lang="en-US" sz="1550" b="1" dirty="0">
                <a:solidFill>
                  <a:srgbClr val="15285C"/>
                </a:solidFill>
              </a:rPr>
              <a:t>Post-dated cheques behave correctly</a:t>
            </a:r>
            <a:endParaRPr lang="en-US" sz="1550" dirty="0"/>
          </a:p>
        </p:txBody>
      </p:sp>
      <p:sp>
        <p:nvSpPr>
          <p:cNvPr id="14" name="Text 11"/>
          <p:cNvSpPr txBox="1"/>
          <p:nvPr/>
        </p:nvSpPr>
        <p:spPr>
          <a:xfrm>
            <a:off x="6516472" y="2340864"/>
            <a:ext cx="4870552" cy="1040587"/>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Issued today, but they hit the balance on the cheque date</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Shown as post-dated until then, and flagged when stale</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Reports say plainly what has been left out, and why</a:t>
            </a:r>
            <a:endParaRPr lang="en-US" sz="1350" dirty="0"/>
          </a:p>
        </p:txBody>
      </p:sp>
      <p:sp>
        <p:nvSpPr>
          <p:cNvPr id="15" name="b3"/>
          <p:cNvSpPr/>
          <p:nvPr/>
        </p:nvSpPr>
        <p:spPr>
          <a:xfrm>
            <a:off x="566928" y="4005072"/>
            <a:ext cx="5346040" cy="2011680"/>
          </a:xfrm>
          <a:prstGeom prst="roundRect">
            <a:avLst>
              <a:gd name="adj" fmla="val 3182"/>
            </a:avLst>
          </a:prstGeom>
          <a:solidFill>
            <a:srgbClr val="EEF2FA"/>
          </a:solidFill>
          <a:ln w="12700">
            <a:solidFill>
              <a:srgbClr val="DCE4F2"/>
            </a:solidFill>
            <a:prstDash val="solid"/>
          </a:ln>
        </p:spPr>
      </p:sp>
      <p:sp>
        <p:nvSpPr>
          <p:cNvPr id="16" name="dot-3"/>
          <p:cNvSpPr/>
          <p:nvPr/>
        </p:nvSpPr>
        <p:spPr>
          <a:xfrm>
            <a:off x="804672" y="4242816"/>
            <a:ext cx="347472" cy="347472"/>
          </a:xfrm>
          <a:prstGeom prst="ellipse">
            <a:avLst/>
          </a:prstGeom>
          <a:solidFill>
            <a:srgbClr val="0E7A58"/>
          </a:solidFill>
          <a:ln w="12700">
            <a:solidFill>
              <a:srgbClr val="0E7A58"/>
            </a:solidFill>
            <a:prstDash val="solid"/>
          </a:ln>
        </p:spPr>
      </p:sp>
      <p:sp>
        <p:nvSpPr>
          <p:cNvPr id="17" name="Text 14"/>
          <p:cNvSpPr txBox="1"/>
          <p:nvPr/>
        </p:nvSpPr>
        <p:spPr>
          <a:xfrm>
            <a:off x="804672" y="424281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8" name="Text 15"/>
          <p:cNvSpPr txBox="1"/>
          <p:nvPr/>
        </p:nvSpPr>
        <p:spPr>
          <a:xfrm>
            <a:off x="1280160" y="4242816"/>
            <a:ext cx="4395064" cy="295021"/>
          </a:xfrm>
          <a:prstGeom prst="rect">
            <a:avLst/>
          </a:prstGeom>
          <a:noFill/>
          <a:ln/>
        </p:spPr>
        <p:txBody>
          <a:bodyPr wrap="square" lIns="0" tIns="0" rIns="0" bIns="0" rtlCol="0" anchor="ctr"/>
          <a:lstStyle/>
          <a:p>
            <a:pPr marL="0" indent="0">
              <a:buNone/>
            </a:pPr>
            <a:r>
              <a:rPr lang="en-US" sz="1550" b="1" dirty="0">
                <a:solidFill>
                  <a:srgbClr val="15285C"/>
                </a:solidFill>
              </a:rPr>
              <a:t>Limits and interest</a:t>
            </a:r>
            <a:endParaRPr lang="en-US" sz="1550" dirty="0"/>
          </a:p>
        </p:txBody>
      </p:sp>
      <p:sp>
        <p:nvSpPr>
          <p:cNvPr id="19" name="Text 16"/>
          <p:cNvSpPr txBox="1"/>
          <p:nvPr/>
        </p:nvSpPr>
        <p:spPr>
          <a:xfrm>
            <a:off x="804672" y="4718304"/>
            <a:ext cx="4870552" cy="1132027"/>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Drawing power and sanctioned limits kept in one register</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Interest rates dated, so a mid-period change is honoured</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Utilisation against limit, per account and overall</a:t>
            </a:r>
            <a:endParaRPr lang="en-US" sz="1350" dirty="0"/>
          </a:p>
        </p:txBody>
      </p:sp>
      <p:sp>
        <p:nvSpPr>
          <p:cNvPr id="20" name="b4"/>
          <p:cNvSpPr/>
          <p:nvPr/>
        </p:nvSpPr>
        <p:spPr>
          <a:xfrm>
            <a:off x="6278728" y="4005072"/>
            <a:ext cx="5346040" cy="2011680"/>
          </a:xfrm>
          <a:prstGeom prst="roundRect">
            <a:avLst>
              <a:gd name="adj" fmla="val 3182"/>
            </a:avLst>
          </a:prstGeom>
          <a:solidFill>
            <a:srgbClr val="EEF2FA"/>
          </a:solidFill>
          <a:ln w="12700">
            <a:solidFill>
              <a:srgbClr val="DCE4F2"/>
            </a:solidFill>
            <a:prstDash val="solid"/>
          </a:ln>
        </p:spPr>
      </p:sp>
      <p:sp>
        <p:nvSpPr>
          <p:cNvPr id="21" name="dot-4"/>
          <p:cNvSpPr/>
          <p:nvPr/>
        </p:nvSpPr>
        <p:spPr>
          <a:xfrm>
            <a:off x="6516472" y="4242816"/>
            <a:ext cx="347472" cy="347472"/>
          </a:xfrm>
          <a:prstGeom prst="ellipse">
            <a:avLst/>
          </a:prstGeom>
          <a:solidFill>
            <a:srgbClr val="4C6FA5"/>
          </a:solidFill>
          <a:ln w="12700">
            <a:solidFill>
              <a:srgbClr val="4C6FA5"/>
            </a:solidFill>
            <a:prstDash val="solid"/>
          </a:ln>
        </p:spPr>
      </p:sp>
      <p:sp>
        <p:nvSpPr>
          <p:cNvPr id="22" name="Text 19"/>
          <p:cNvSpPr txBox="1"/>
          <p:nvPr/>
        </p:nvSpPr>
        <p:spPr>
          <a:xfrm>
            <a:off x="6516472" y="424281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23" name="Text 20"/>
          <p:cNvSpPr txBox="1"/>
          <p:nvPr/>
        </p:nvSpPr>
        <p:spPr>
          <a:xfrm>
            <a:off x="6991960" y="4242816"/>
            <a:ext cx="4395064" cy="295021"/>
          </a:xfrm>
          <a:prstGeom prst="rect">
            <a:avLst/>
          </a:prstGeom>
          <a:noFill/>
          <a:ln/>
        </p:spPr>
        <p:txBody>
          <a:bodyPr wrap="square" lIns="0" tIns="0" rIns="0" bIns="0" rtlCol="0" anchor="ctr"/>
          <a:lstStyle/>
          <a:p>
            <a:pPr marL="0" indent="0">
              <a:buNone/>
            </a:pPr>
            <a:r>
              <a:rPr lang="en-US" sz="1550" b="1" dirty="0">
                <a:solidFill>
                  <a:srgbClr val="15285C"/>
                </a:solidFill>
              </a:rPr>
              <a:t>One number everyone trusts</a:t>
            </a:r>
            <a:endParaRPr lang="en-US" sz="1550" dirty="0"/>
          </a:p>
        </p:txBody>
      </p:sp>
      <p:sp>
        <p:nvSpPr>
          <p:cNvPr id="24" name="Text 21"/>
          <p:cNvSpPr txBox="1"/>
          <p:nvPr/>
        </p:nvSpPr>
        <p:spPr>
          <a:xfrm>
            <a:off x="6516472" y="4718304"/>
            <a:ext cx="4870552" cy="1132027"/>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Balances calculated from the entries, never typed in</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The same engine drives the dashboard, registers and reports</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Reversing a voucher puts everything back as it was</a:t>
            </a:r>
            <a:endParaRPr lang="en-US" sz="1350" dirty="0"/>
          </a:p>
        </p:txBody>
      </p:sp>
      <p:sp>
        <p:nvSpPr>
          <p:cNvPr id="25" name="Slide Number Placeholder 0"/>
          <p:cNvSpPr>
            <a:spLocks noGrp="1"/>
          </p:cNvSpPr>
          <p:nvPr>
            <p:ph type="sldNum" sz="quarter" idx="4294967295"/>
          </p:nvPr>
        </p:nvSpPr>
        <p:spPr>
          <a:xfrm>
            <a:off x="1143000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950">
                <a:solidFill>
                  <a:srgbClr val="A8B0BD"/>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eyebrow"/>
          <p:cNvSpPr txBox="1"/>
          <p:nvPr/>
        </p:nvSpPr>
        <p:spPr>
          <a:xfrm>
            <a:off x="566928" y="1463040"/>
            <a:ext cx="6949440" cy="310896"/>
          </a:xfrm>
          <a:prstGeom prst="rect">
            <a:avLst/>
          </a:prstGeom>
          <a:noFill/>
          <a:ln/>
        </p:spPr>
        <p:txBody>
          <a:bodyPr wrap="square" lIns="0" tIns="0" rIns="0" bIns="0" rtlCol="0" anchor="ctr"/>
          <a:lstStyle/>
          <a:p>
            <a:pPr marL="0" indent="0">
              <a:buNone/>
            </a:pPr>
            <a:r>
              <a:rPr lang="en-US" sz="1400" b="1" kern="0" spc="300" dirty="0">
                <a:solidFill>
                  <a:srgbClr val="B4801A"/>
                </a:solidFill>
                <a:latin typeface="Calibri" pitchFamily="34" charset="0"/>
                <a:ea typeface="Calibri" pitchFamily="34" charset="-122"/>
                <a:cs typeface="Calibri" pitchFamily="34" charset="-120"/>
              </a:rPr>
              <a:t>PART TWO</a:t>
            </a:r>
            <a:endParaRPr lang="en-US" sz="1400" dirty="0"/>
          </a:p>
        </p:txBody>
      </p:sp>
      <p:sp>
        <p:nvSpPr>
          <p:cNvPr id="3" name="dark-title"/>
          <p:cNvSpPr txBox="1"/>
          <p:nvPr/>
        </p:nvSpPr>
        <p:spPr>
          <a:xfrm>
            <a:off x="566928" y="1883664"/>
            <a:ext cx="6949440" cy="599948"/>
          </a:xfrm>
          <a:prstGeom prst="rect">
            <a:avLst/>
          </a:prstGeom>
          <a:noFill/>
          <a:ln/>
        </p:spPr>
        <p:txBody>
          <a:bodyPr wrap="square" lIns="0" tIns="0" rIns="0" bIns="0" rtlCol="0" anchor="t"/>
          <a:lstStyle/>
          <a:p>
            <a:pPr marL="0" indent="0">
              <a:buNone/>
            </a:pPr>
            <a:r>
              <a:rPr lang="en-US" sz="3400" b="1" dirty="0">
                <a:solidFill>
                  <a:srgbClr val="FFFFFF"/>
                </a:solidFill>
              </a:rPr>
              <a:t>Control without a change request</a:t>
            </a:r>
            <a:endParaRPr lang="en-US" sz="3400" dirty="0"/>
          </a:p>
        </p:txBody>
      </p:sp>
      <p:sp>
        <p:nvSpPr>
          <p:cNvPr id="4" name="dark-sub"/>
          <p:cNvSpPr txBox="1"/>
          <p:nvPr/>
        </p:nvSpPr>
        <p:spPr>
          <a:xfrm>
            <a:off x="566928" y="2648204"/>
            <a:ext cx="6583680" cy="568960"/>
          </a:xfrm>
          <a:prstGeom prst="rect">
            <a:avLst/>
          </a:prstGeom>
          <a:noFill/>
          <a:ln/>
        </p:spPr>
        <p:txBody>
          <a:bodyPr wrap="square" lIns="0" tIns="0" rIns="0" bIns="0" rtlCol="0" anchor="t"/>
          <a:lstStyle/>
          <a:p>
            <a:pPr marL="0" indent="0">
              <a:buNone/>
            </a:pPr>
            <a:r>
              <a:rPr lang="en-US" sz="1600" dirty="0">
                <a:solidFill>
                  <a:srgbClr val="CBD6E8"/>
                </a:solidFill>
                <a:latin typeface="Calibri" pitchFamily="34" charset="0"/>
                <a:ea typeface="Calibri" pitchFamily="34" charset="-122"/>
                <a:cs typeface="Calibri" pitchFamily="34" charset="-120"/>
              </a:rPr>
              <a:t>The rules below are settings. You change them yourselves, and the change is recorded.</a:t>
            </a:r>
            <a:endParaRPr lang="en-US" sz="1600" dirty="0"/>
          </a:p>
        </p:txBody>
      </p:sp>
      <p:sp>
        <p:nvSpPr>
          <p:cNvPr id="5" name="ghost-02"/>
          <p:cNvSpPr txBox="1"/>
          <p:nvPr/>
        </p:nvSpPr>
        <p:spPr>
          <a:xfrm>
            <a:off x="7772400" y="1188720"/>
            <a:ext cx="3840480" cy="2926080"/>
          </a:xfrm>
          <a:prstGeom prst="rect">
            <a:avLst/>
          </a:prstGeom>
          <a:noFill/>
          <a:ln/>
        </p:spPr>
        <p:txBody>
          <a:bodyPr wrap="square" lIns="0" tIns="0" rIns="0" bIns="0" rtlCol="0" anchor="ctr"/>
          <a:lstStyle/>
          <a:p>
            <a:pPr marL="0" indent="0" algn="r">
              <a:buNone/>
            </a:pPr>
            <a:r>
              <a:rPr lang="en-US" sz="15000" b="1" dirty="0">
                <a:solidFill>
                  <a:srgbClr val="1E3570"/>
                </a:solidFill>
              </a:rPr>
              <a:t>02</a:t>
            </a:r>
            <a:endParaRPr lang="en-US" sz="15000" dirty="0"/>
          </a:p>
        </p:txBody>
      </p:sp>
      <p:sp>
        <p:nvSpPr>
          <p:cNvPr id="6" name="pc-0"/>
          <p:cNvSpPr/>
          <p:nvPr/>
        </p:nvSpPr>
        <p:spPr>
          <a:xfrm>
            <a:off x="594360" y="3518916"/>
            <a:ext cx="146304" cy="146304"/>
          </a:xfrm>
          <a:prstGeom prst="ellipse">
            <a:avLst/>
          </a:prstGeom>
          <a:solidFill>
            <a:srgbClr val="B4801A"/>
          </a:solidFill>
          <a:ln w="12700">
            <a:solidFill>
              <a:srgbClr val="B4801A"/>
            </a:solidFill>
            <a:prstDash val="solid"/>
          </a:ln>
        </p:spPr>
      </p:sp>
      <p:sp>
        <p:nvSpPr>
          <p:cNvPr id="7" name="Text 5"/>
          <p:cNvSpPr txBox="1"/>
          <p:nvPr/>
        </p:nvSpPr>
        <p:spPr>
          <a:xfrm>
            <a:off x="950976" y="3418332"/>
            <a:ext cx="6675120" cy="347472"/>
          </a:xfrm>
          <a:prstGeom prst="rect">
            <a:avLst/>
          </a:prstGeom>
          <a:noFill/>
          <a:ln/>
        </p:spPr>
        <p:txBody>
          <a:bodyPr wrap="square" lIns="0" tIns="0" rIns="0" bIns="0" rtlCol="0" anchor="ctr"/>
          <a:lstStyle/>
          <a:p>
            <a:pPr marL="0" indent="0">
              <a:buNone/>
            </a:pPr>
            <a:r>
              <a:rPr lang="en-US" sz="1400" dirty="0">
                <a:solidFill>
                  <a:srgbClr val="E3EAF6"/>
                </a:solidFill>
                <a:latin typeface="Calibri" pitchFamily="34" charset="0"/>
                <a:ea typeface="Calibri" pitchFamily="34" charset="-122"/>
                <a:cs typeface="Calibri" pitchFamily="34" charset="-120"/>
              </a:rPr>
              <a:t>Who acts, what they act on, who stands in</a:t>
            </a:r>
            <a:endParaRPr lang="en-US" sz="1400" dirty="0"/>
          </a:p>
        </p:txBody>
      </p:sp>
      <p:sp>
        <p:nvSpPr>
          <p:cNvPr id="8" name="pc-1"/>
          <p:cNvSpPr/>
          <p:nvPr/>
        </p:nvSpPr>
        <p:spPr>
          <a:xfrm>
            <a:off x="594360" y="3921252"/>
            <a:ext cx="146304" cy="146304"/>
          </a:xfrm>
          <a:prstGeom prst="ellipse">
            <a:avLst/>
          </a:prstGeom>
          <a:solidFill>
            <a:srgbClr val="B4801A"/>
          </a:solidFill>
          <a:ln w="12700">
            <a:solidFill>
              <a:srgbClr val="B4801A"/>
            </a:solidFill>
            <a:prstDash val="solid"/>
          </a:ln>
        </p:spPr>
      </p:sp>
      <p:sp>
        <p:nvSpPr>
          <p:cNvPr id="9" name="Text 7"/>
          <p:cNvSpPr txBox="1"/>
          <p:nvPr/>
        </p:nvSpPr>
        <p:spPr>
          <a:xfrm>
            <a:off x="950976" y="3820668"/>
            <a:ext cx="6675120" cy="347472"/>
          </a:xfrm>
          <a:prstGeom prst="rect">
            <a:avLst/>
          </a:prstGeom>
          <a:noFill/>
          <a:ln/>
        </p:spPr>
        <p:txBody>
          <a:bodyPr wrap="square" lIns="0" tIns="0" rIns="0" bIns="0" rtlCol="0" anchor="ctr"/>
          <a:lstStyle/>
          <a:p>
            <a:pPr marL="0" indent="0">
              <a:buNone/>
            </a:pPr>
            <a:r>
              <a:rPr lang="en-US" sz="1400" dirty="0">
                <a:solidFill>
                  <a:srgbClr val="E3EAF6"/>
                </a:solidFill>
                <a:latin typeface="Calibri" pitchFamily="34" charset="0"/>
                <a:ea typeface="Calibri" pitchFamily="34" charset="-122"/>
                <a:cs typeface="Calibri" pitchFamily="34" charset="-120"/>
              </a:rPr>
              <a:t>Field Control and Data Control — your rules</a:t>
            </a:r>
            <a:endParaRPr lang="en-US" sz="1400" dirty="0"/>
          </a:p>
        </p:txBody>
      </p:sp>
      <p:sp>
        <p:nvSpPr>
          <p:cNvPr id="10" name="pc-2"/>
          <p:cNvSpPr/>
          <p:nvPr/>
        </p:nvSpPr>
        <p:spPr>
          <a:xfrm>
            <a:off x="594360" y="4323588"/>
            <a:ext cx="146304" cy="146304"/>
          </a:xfrm>
          <a:prstGeom prst="ellipse">
            <a:avLst/>
          </a:prstGeom>
          <a:solidFill>
            <a:srgbClr val="B4801A"/>
          </a:solidFill>
          <a:ln w="12700">
            <a:solidFill>
              <a:srgbClr val="B4801A"/>
            </a:solidFill>
            <a:prstDash val="solid"/>
          </a:ln>
        </p:spPr>
      </p:sp>
      <p:sp>
        <p:nvSpPr>
          <p:cNvPr id="11" name="Text 9"/>
          <p:cNvSpPr txBox="1"/>
          <p:nvPr/>
        </p:nvSpPr>
        <p:spPr>
          <a:xfrm>
            <a:off x="950976" y="4223004"/>
            <a:ext cx="6675120" cy="347472"/>
          </a:xfrm>
          <a:prstGeom prst="rect">
            <a:avLst/>
          </a:prstGeom>
          <a:noFill/>
          <a:ln/>
        </p:spPr>
        <p:txBody>
          <a:bodyPr wrap="square" lIns="0" tIns="0" rIns="0" bIns="0" rtlCol="0" anchor="ctr"/>
          <a:lstStyle/>
          <a:p>
            <a:pPr marL="0" indent="0">
              <a:buNone/>
            </a:pPr>
            <a:r>
              <a:rPr lang="en-US" sz="1400" dirty="0">
                <a:solidFill>
                  <a:srgbClr val="E3EAF6"/>
                </a:solidFill>
                <a:latin typeface="Calibri" pitchFamily="34" charset="0"/>
                <a:ea typeface="Calibri" pitchFamily="34" charset="-122"/>
                <a:cs typeface="Calibri" pitchFamily="34" charset="-120"/>
              </a:rPr>
              <a:t>An audit trail of every action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lide-title"/>
          <p:cNvSpPr txBox="1"/>
          <p:nvPr/>
        </p:nvSpPr>
        <p:spPr>
          <a:xfrm>
            <a:off x="566928" y="438912"/>
            <a:ext cx="11057839" cy="603504"/>
          </a:xfrm>
          <a:prstGeom prst="rect">
            <a:avLst/>
          </a:prstGeom>
          <a:noFill/>
          <a:ln/>
        </p:spPr>
        <p:txBody>
          <a:bodyPr wrap="square" lIns="0" tIns="0" rIns="0" bIns="0" rtlCol="0" anchor="ctr"/>
          <a:lstStyle/>
          <a:p>
            <a:pPr marL="0" indent="0">
              <a:buNone/>
            </a:pPr>
            <a:r>
              <a:rPr lang="en-US" sz="3000" b="1" dirty="0">
                <a:solidFill>
                  <a:srgbClr val="15285C"/>
                </a:solidFill>
              </a:rPr>
              <a:t>Who acts, what they act on, who stands in</a:t>
            </a:r>
            <a:endParaRPr lang="en-US" sz="3000" dirty="0"/>
          </a:p>
        </p:txBody>
      </p:sp>
      <p:sp>
        <p:nvSpPr>
          <p:cNvPr id="3" name="slide-lead"/>
          <p:cNvSpPr txBox="1"/>
          <p:nvPr/>
        </p:nvSpPr>
        <p:spPr>
          <a:xfrm>
            <a:off x="566928" y="1060704"/>
            <a:ext cx="11057839" cy="402336"/>
          </a:xfrm>
          <a:prstGeom prst="rect">
            <a:avLst/>
          </a:prstGeom>
          <a:noFill/>
          <a:ln/>
        </p:spPr>
        <p:txBody>
          <a:bodyPr wrap="square" lIns="0" tIns="0" rIns="0" bIns="0" rtlCol="0" anchor="ctr"/>
          <a:lstStyle/>
          <a:p>
            <a:pPr marL="0" indent="0">
              <a:buNone/>
            </a:pPr>
            <a:r>
              <a:rPr lang="en-US" sz="1450" dirty="0">
                <a:solidFill>
                  <a:srgbClr val="5A6577"/>
                </a:solidFill>
                <a:latin typeface="Calibri" pitchFamily="34" charset="0"/>
                <a:ea typeface="Calibri" pitchFamily="34" charset="-122"/>
                <a:cs typeface="Calibri" pitchFamily="34" charset="-120"/>
              </a:rPr>
              <a:t>Expenses · Settings · Who Does What — eleven actions, each assigned the way you choose.</a:t>
            </a:r>
            <a:endParaRPr lang="en-US" sz="1450" dirty="0"/>
          </a:p>
        </p:txBody>
      </p:sp>
      <p:sp>
        <p:nvSpPr>
          <p:cNvPr id="5" name="w1"/>
          <p:cNvSpPr/>
          <p:nvPr/>
        </p:nvSpPr>
        <p:spPr>
          <a:xfrm>
            <a:off x="566928" y="1627632"/>
            <a:ext cx="5346040" cy="2194560"/>
          </a:xfrm>
          <a:prstGeom prst="roundRect">
            <a:avLst>
              <a:gd name="adj" fmla="val 2917"/>
            </a:avLst>
          </a:prstGeom>
          <a:solidFill>
            <a:srgbClr val="EEF2FA"/>
          </a:solidFill>
          <a:ln w="12700">
            <a:solidFill>
              <a:srgbClr val="DCE4F2"/>
            </a:solidFill>
            <a:prstDash val="solid"/>
          </a:ln>
        </p:spPr>
      </p:sp>
      <p:sp>
        <p:nvSpPr>
          <p:cNvPr id="6" name="Text 3"/>
          <p:cNvSpPr txBox="1"/>
          <p:nvPr/>
        </p:nvSpPr>
        <p:spPr>
          <a:xfrm>
            <a:off x="804672" y="1865376"/>
            <a:ext cx="4870552" cy="295021"/>
          </a:xfrm>
          <a:prstGeom prst="rect">
            <a:avLst/>
          </a:prstGeom>
          <a:noFill/>
          <a:ln/>
        </p:spPr>
        <p:txBody>
          <a:bodyPr wrap="square" lIns="0" tIns="0" rIns="0" bIns="0" rtlCol="0" anchor="ctr"/>
          <a:lstStyle/>
          <a:p>
            <a:pPr marL="0" indent="0">
              <a:buNone/>
            </a:pPr>
            <a:r>
              <a:rPr lang="en-US" sz="1550" b="1" dirty="0">
                <a:solidFill>
                  <a:srgbClr val="15285C"/>
                </a:solidFill>
              </a:rPr>
              <a:t>Assign it the way your company works</a:t>
            </a:r>
            <a:endParaRPr lang="en-US" sz="1550" dirty="0"/>
          </a:p>
        </p:txBody>
      </p:sp>
      <p:sp>
        <p:nvSpPr>
          <p:cNvPr id="7" name="Text 4"/>
          <p:cNvSpPr txBox="1"/>
          <p:nvPr/>
        </p:nvSpPr>
        <p:spPr>
          <a:xfrm>
            <a:off x="804672" y="2233549"/>
            <a:ext cx="4870552" cy="1422222"/>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Named people, or by role</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By department — a different person for each</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By amount — one person below a threshold, another above it</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An alternative for each, for leave and travel</a:t>
            </a:r>
            <a:endParaRPr lang="en-US" sz="1350" dirty="0"/>
          </a:p>
        </p:txBody>
      </p:sp>
      <p:sp>
        <p:nvSpPr>
          <p:cNvPr id="8" name="w2"/>
          <p:cNvSpPr/>
          <p:nvPr/>
        </p:nvSpPr>
        <p:spPr>
          <a:xfrm>
            <a:off x="6278728" y="1627632"/>
            <a:ext cx="5346040" cy="2194560"/>
          </a:xfrm>
          <a:prstGeom prst="roundRect">
            <a:avLst>
              <a:gd name="adj" fmla="val 2917"/>
            </a:avLst>
          </a:prstGeom>
          <a:solidFill>
            <a:srgbClr val="EEF2FA"/>
          </a:solidFill>
          <a:ln w="12700">
            <a:solidFill>
              <a:srgbClr val="DCE4F2"/>
            </a:solidFill>
            <a:prstDash val="solid"/>
          </a:ln>
        </p:spPr>
      </p:sp>
      <p:sp>
        <p:nvSpPr>
          <p:cNvPr id="9" name="Text 6"/>
          <p:cNvSpPr txBox="1"/>
          <p:nvPr/>
        </p:nvSpPr>
        <p:spPr>
          <a:xfrm>
            <a:off x="6516472" y="1847088"/>
            <a:ext cx="4870552" cy="310896"/>
          </a:xfrm>
          <a:prstGeom prst="rect">
            <a:avLst/>
          </a:prstGeom>
          <a:noFill/>
          <a:ln/>
        </p:spPr>
        <p:txBody>
          <a:bodyPr wrap="square" lIns="0" tIns="0" rIns="0" bIns="0" rtlCol="0" anchor="ctr"/>
          <a:lstStyle/>
          <a:p>
            <a:pPr marL="0" indent="0">
              <a:buNone/>
            </a:pPr>
            <a:r>
              <a:rPr lang="en-US" sz="1550" b="1" dirty="0">
                <a:solidFill>
                  <a:srgbClr val="15285C"/>
                </a:solidFill>
              </a:rPr>
              <a:t>And decide how much it counts</a:t>
            </a:r>
            <a:endParaRPr lang="en-US" sz="1550" dirty="0"/>
          </a:p>
        </p:txBody>
      </p:sp>
      <p:sp>
        <p:nvSpPr>
          <p:cNvPr id="10" name="mode-dot-0"/>
          <p:cNvSpPr/>
          <p:nvPr/>
        </p:nvSpPr>
        <p:spPr>
          <a:xfrm>
            <a:off x="6534760" y="2322576"/>
            <a:ext cx="137160" cy="137160"/>
          </a:xfrm>
          <a:prstGeom prst="ellipse">
            <a:avLst/>
          </a:prstGeom>
          <a:solidFill>
            <a:srgbClr val="5A6577"/>
          </a:solidFill>
          <a:ln w="12700">
            <a:solidFill>
              <a:srgbClr val="5A6577"/>
            </a:solidFill>
            <a:prstDash val="solid"/>
          </a:ln>
        </p:spPr>
      </p:sp>
      <p:sp>
        <p:nvSpPr>
          <p:cNvPr id="11" name="Text 8"/>
          <p:cNvSpPr txBox="1"/>
          <p:nvPr/>
        </p:nvSpPr>
        <p:spPr>
          <a:xfrm>
            <a:off x="6781648" y="2249424"/>
            <a:ext cx="4568800" cy="402336"/>
          </a:xfrm>
          <a:prstGeom prst="rect">
            <a:avLst/>
          </a:prstGeom>
          <a:noFill/>
          <a:ln/>
        </p:spPr>
        <p:txBody>
          <a:bodyPr wrap="square" lIns="0" tIns="0" rIns="0" bIns="0" rtlCol="0" anchor="t"/>
          <a:lstStyle/>
          <a:p>
            <a:pPr marL="0" indent="0">
              <a:buNone/>
            </a:pPr>
            <a:r>
              <a:rPr lang="en-US" sz="1200" b="1" dirty="0">
                <a:solidFill>
                  <a:srgbClr val="15285C"/>
                </a:solidFill>
                <a:latin typeface="Calibri" pitchFamily="34" charset="0"/>
                <a:ea typeface="Calibri" pitchFamily="34" charset="-122"/>
                <a:cs typeface="Calibri" pitchFamily="34" charset="-120"/>
              </a:rPr>
              <a:t>Roles decide — </a:t>
            </a:r>
            <a:r>
              <a:rPr lang="en-US" sz="1200" dirty="0">
                <a:solidFill>
                  <a:srgbClr val="5A6577"/>
                </a:solidFill>
                <a:latin typeface="Calibri" pitchFamily="34" charset="0"/>
                <a:ea typeface="Calibri" pitchFamily="34" charset="-122"/>
                <a:cs typeface="Calibri" pitchFamily="34" charset="-120"/>
              </a:rPr>
              <a:t>Nothing changes. The assignment is a record of who is responsible.</a:t>
            </a:r>
            <a:endParaRPr lang="en-US" sz="1200" dirty="0"/>
          </a:p>
        </p:txBody>
      </p:sp>
      <p:sp>
        <p:nvSpPr>
          <p:cNvPr id="12" name="mode-dot-1"/>
          <p:cNvSpPr/>
          <p:nvPr/>
        </p:nvSpPr>
        <p:spPr>
          <a:xfrm>
            <a:off x="6534760" y="2752344"/>
            <a:ext cx="137160" cy="137160"/>
          </a:xfrm>
          <a:prstGeom prst="ellipse">
            <a:avLst/>
          </a:prstGeom>
          <a:solidFill>
            <a:srgbClr val="B4801A"/>
          </a:solidFill>
          <a:ln w="12700">
            <a:solidFill>
              <a:srgbClr val="B4801A"/>
            </a:solidFill>
            <a:prstDash val="solid"/>
          </a:ln>
        </p:spPr>
      </p:sp>
      <p:sp>
        <p:nvSpPr>
          <p:cNvPr id="13" name="Text 10"/>
          <p:cNvSpPr txBox="1"/>
          <p:nvPr/>
        </p:nvSpPr>
        <p:spPr>
          <a:xfrm>
            <a:off x="6781648" y="2679192"/>
            <a:ext cx="4568800" cy="402336"/>
          </a:xfrm>
          <a:prstGeom prst="rect">
            <a:avLst/>
          </a:prstGeom>
          <a:noFill/>
          <a:ln/>
        </p:spPr>
        <p:txBody>
          <a:bodyPr wrap="square" lIns="0" tIns="0" rIns="0" bIns="0" rtlCol="0" anchor="t"/>
          <a:lstStyle/>
          <a:p>
            <a:pPr marL="0" indent="0">
              <a:buNone/>
            </a:pPr>
            <a:r>
              <a:rPr lang="en-US" sz="1200" b="1" dirty="0">
                <a:solidFill>
                  <a:srgbClr val="15285C"/>
                </a:solidFill>
                <a:latin typeface="Calibri" pitchFamily="34" charset="0"/>
                <a:ea typeface="Calibri" pitchFamily="34" charset="-122"/>
                <a:cs typeface="Calibri" pitchFamily="34" charset="-120"/>
              </a:rPr>
              <a:t>Assigned people too — </a:t>
            </a:r>
            <a:r>
              <a:rPr lang="en-US" sz="1200" dirty="0">
                <a:solidFill>
                  <a:srgbClr val="5A6577"/>
                </a:solidFill>
                <a:latin typeface="Calibri" pitchFamily="34" charset="0"/>
                <a:ea typeface="Calibri" pitchFamily="34" charset="-122"/>
                <a:cs typeface="Calibri" pitchFamily="34" charset="-120"/>
              </a:rPr>
              <a:t>Widens: the people named may act as well as anyone holding the role.</a:t>
            </a:r>
            <a:endParaRPr lang="en-US" sz="1200" dirty="0"/>
          </a:p>
        </p:txBody>
      </p:sp>
      <p:sp>
        <p:nvSpPr>
          <p:cNvPr id="14" name="mode-dot-2"/>
          <p:cNvSpPr/>
          <p:nvPr/>
        </p:nvSpPr>
        <p:spPr>
          <a:xfrm>
            <a:off x="6534760" y="3182112"/>
            <a:ext cx="137160" cy="137160"/>
          </a:xfrm>
          <a:prstGeom prst="ellipse">
            <a:avLst/>
          </a:prstGeom>
          <a:solidFill>
            <a:srgbClr val="0E7A58"/>
          </a:solidFill>
          <a:ln w="12700">
            <a:solidFill>
              <a:srgbClr val="0E7A58"/>
            </a:solidFill>
            <a:prstDash val="solid"/>
          </a:ln>
        </p:spPr>
      </p:sp>
      <p:sp>
        <p:nvSpPr>
          <p:cNvPr id="15" name="Text 12"/>
          <p:cNvSpPr txBox="1"/>
          <p:nvPr/>
        </p:nvSpPr>
        <p:spPr>
          <a:xfrm>
            <a:off x="6781648" y="3108960"/>
            <a:ext cx="4568800" cy="402336"/>
          </a:xfrm>
          <a:prstGeom prst="rect">
            <a:avLst/>
          </a:prstGeom>
          <a:noFill/>
          <a:ln/>
        </p:spPr>
        <p:txBody>
          <a:bodyPr wrap="square" lIns="0" tIns="0" rIns="0" bIns="0" rtlCol="0" anchor="t"/>
          <a:lstStyle/>
          <a:p>
            <a:pPr marL="0" indent="0">
              <a:buNone/>
            </a:pPr>
            <a:r>
              <a:rPr lang="en-US" sz="1200" b="1" dirty="0">
                <a:solidFill>
                  <a:srgbClr val="15285C"/>
                </a:solidFill>
                <a:latin typeface="Calibri" pitchFamily="34" charset="0"/>
                <a:ea typeface="Calibri" pitchFamily="34" charset="-122"/>
                <a:cs typeface="Calibri" pitchFamily="34" charset="-120"/>
              </a:rPr>
              <a:t>Only assigned people — </a:t>
            </a:r>
            <a:r>
              <a:rPr lang="en-US" sz="1200" dirty="0">
                <a:solidFill>
                  <a:srgbClr val="5A6577"/>
                </a:solidFill>
                <a:latin typeface="Calibri" pitchFamily="34" charset="0"/>
                <a:ea typeface="Calibri" pitchFamily="34" charset="-122"/>
                <a:cs typeface="Calibri" pitchFamily="34" charset="-120"/>
              </a:rPr>
              <a:t>Narrows: only the people named may act. The role alone is not enough.</a:t>
            </a:r>
            <a:endParaRPr lang="en-US" sz="1200" dirty="0"/>
          </a:p>
        </p:txBody>
      </p:sp>
      <p:sp>
        <p:nvSpPr>
          <p:cNvPr id="16" name="w3"/>
          <p:cNvSpPr/>
          <p:nvPr/>
        </p:nvSpPr>
        <p:spPr>
          <a:xfrm>
            <a:off x="566928" y="4050792"/>
            <a:ext cx="11057839" cy="1783080"/>
          </a:xfrm>
          <a:prstGeom prst="roundRect">
            <a:avLst>
              <a:gd name="adj" fmla="val 3590"/>
            </a:avLst>
          </a:prstGeom>
          <a:solidFill>
            <a:srgbClr val="F3F7EF"/>
          </a:solidFill>
          <a:ln w="12700">
            <a:solidFill>
              <a:srgbClr val="D3E3C9"/>
            </a:solidFill>
            <a:prstDash val="solid"/>
          </a:ln>
        </p:spPr>
      </p:sp>
      <p:sp>
        <p:nvSpPr>
          <p:cNvPr id="17" name="Text 14"/>
          <p:cNvSpPr txBox="1"/>
          <p:nvPr/>
        </p:nvSpPr>
        <p:spPr>
          <a:xfrm>
            <a:off x="804672" y="4288536"/>
            <a:ext cx="10582351" cy="295021"/>
          </a:xfrm>
          <a:prstGeom prst="rect">
            <a:avLst/>
          </a:prstGeom>
          <a:noFill/>
          <a:ln/>
        </p:spPr>
        <p:txBody>
          <a:bodyPr wrap="square" lIns="0" tIns="0" rIns="0" bIns="0" rtlCol="0" anchor="ctr"/>
          <a:lstStyle/>
          <a:p>
            <a:pPr marL="0" indent="0">
              <a:buNone/>
            </a:pPr>
            <a:r>
              <a:rPr lang="en-US" sz="1550" b="1" dirty="0">
                <a:solidFill>
                  <a:srgbClr val="15285C"/>
                </a:solidFill>
              </a:rPr>
              <a:t>Two safeguards, so this can never go wrong quietly</a:t>
            </a:r>
            <a:endParaRPr lang="en-US" sz="1550" dirty="0"/>
          </a:p>
        </p:txBody>
      </p:sp>
      <p:sp>
        <p:nvSpPr>
          <p:cNvPr id="18" name="Text 15"/>
          <p:cNvSpPr txBox="1"/>
          <p:nvPr/>
        </p:nvSpPr>
        <p:spPr>
          <a:xfrm>
            <a:off x="804672" y="4656709"/>
            <a:ext cx="10582351" cy="1010742"/>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Every action starts on "Roles decide", so saving an assignment never changes access by surprise</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Restricting an action to nobody falls back to roles instead of locking it out of the system — and the set-up warns you about a missing alternative, an amount band with no ceiling, or a person who has left</a:t>
            </a:r>
            <a:endParaRPr lang="en-US" sz="1350" dirty="0"/>
          </a:p>
        </p:txBody>
      </p:sp>
      <p:sp>
        <p:nvSpPr>
          <p:cNvPr id="25" name="Slide Number Placeholder 0"/>
          <p:cNvSpPr>
            <a:spLocks noGrp="1"/>
          </p:cNvSpPr>
          <p:nvPr>
            <p:ph type="sldNum" sz="quarter" idx="4294967295"/>
          </p:nvPr>
        </p:nvSpPr>
        <p:spPr>
          <a:xfrm>
            <a:off x="1143000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950">
                <a:solidFill>
                  <a:srgbClr val="A8B0BD"/>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lide-title"/>
          <p:cNvSpPr txBox="1"/>
          <p:nvPr/>
        </p:nvSpPr>
        <p:spPr>
          <a:xfrm>
            <a:off x="566928" y="438912"/>
            <a:ext cx="11057839" cy="603504"/>
          </a:xfrm>
          <a:prstGeom prst="rect">
            <a:avLst/>
          </a:prstGeom>
          <a:noFill/>
          <a:ln/>
        </p:spPr>
        <p:txBody>
          <a:bodyPr wrap="square" lIns="0" tIns="0" rIns="0" bIns="0" rtlCol="0" anchor="ctr"/>
          <a:lstStyle/>
          <a:p>
            <a:pPr marL="0" indent="0">
              <a:buNone/>
            </a:pPr>
            <a:r>
              <a:rPr lang="en-US" sz="3000" b="1" dirty="0">
                <a:solidFill>
                  <a:srgbClr val="15285C"/>
                </a:solidFill>
              </a:rPr>
              <a:t>The rules are yours to set</a:t>
            </a:r>
            <a:endParaRPr lang="en-US" sz="3000" dirty="0"/>
          </a:p>
        </p:txBody>
      </p:sp>
      <p:sp>
        <p:nvSpPr>
          <p:cNvPr id="3" name="slide-lead"/>
          <p:cNvSpPr txBox="1"/>
          <p:nvPr/>
        </p:nvSpPr>
        <p:spPr>
          <a:xfrm>
            <a:off x="566928" y="1060704"/>
            <a:ext cx="11057839" cy="402336"/>
          </a:xfrm>
          <a:prstGeom prst="rect">
            <a:avLst/>
          </a:prstGeom>
          <a:noFill/>
          <a:ln/>
        </p:spPr>
        <p:txBody>
          <a:bodyPr wrap="square" lIns="0" tIns="0" rIns="0" bIns="0" rtlCol="0" anchor="ctr"/>
          <a:lstStyle/>
          <a:p>
            <a:pPr marL="0" indent="0">
              <a:buNone/>
            </a:pPr>
            <a:r>
              <a:rPr lang="en-US" sz="1450" dirty="0">
                <a:solidFill>
                  <a:srgbClr val="5A6577"/>
                </a:solidFill>
                <a:latin typeface="Calibri" pitchFamily="34" charset="0"/>
                <a:ea typeface="Calibri" pitchFamily="34" charset="-122"/>
                <a:cs typeface="Calibri" pitchFamily="34" charset="-120"/>
              </a:rPr>
              <a:t>Field Control and Data Control, in both Expenses and Daily Requisition.</a:t>
            </a:r>
            <a:endParaRPr lang="en-US" sz="1450" dirty="0"/>
          </a:p>
        </p:txBody>
      </p:sp>
      <p:sp>
        <p:nvSpPr>
          <p:cNvPr id="5" name="f1"/>
          <p:cNvSpPr/>
          <p:nvPr/>
        </p:nvSpPr>
        <p:spPr>
          <a:xfrm>
            <a:off x="566928" y="1627632"/>
            <a:ext cx="5346040" cy="2240280"/>
          </a:xfrm>
          <a:prstGeom prst="roundRect">
            <a:avLst>
              <a:gd name="adj" fmla="val 2857"/>
            </a:avLst>
          </a:prstGeom>
          <a:solidFill>
            <a:srgbClr val="EEF2FA"/>
          </a:solidFill>
          <a:ln w="12700">
            <a:solidFill>
              <a:srgbClr val="DCE4F2"/>
            </a:solidFill>
            <a:prstDash val="solid"/>
          </a:ln>
        </p:spPr>
      </p:sp>
      <p:sp>
        <p:nvSpPr>
          <p:cNvPr id="6" name="dot-1"/>
          <p:cNvSpPr/>
          <p:nvPr/>
        </p:nvSpPr>
        <p:spPr>
          <a:xfrm>
            <a:off x="804672" y="1865376"/>
            <a:ext cx="347472" cy="347472"/>
          </a:xfrm>
          <a:prstGeom prst="ellipse">
            <a:avLst/>
          </a:prstGeom>
          <a:solidFill>
            <a:srgbClr val="4C6FA5"/>
          </a:solidFill>
          <a:ln w="12700">
            <a:solidFill>
              <a:srgbClr val="4C6FA5"/>
            </a:solidFill>
            <a:prstDash val="solid"/>
          </a:ln>
        </p:spPr>
      </p:sp>
      <p:sp>
        <p:nvSpPr>
          <p:cNvPr id="7" name="Text 4"/>
          <p:cNvSpPr txBox="1"/>
          <p:nvPr/>
        </p:nvSpPr>
        <p:spPr>
          <a:xfrm>
            <a:off x="804672" y="186537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8" name="Text 5"/>
          <p:cNvSpPr txBox="1"/>
          <p:nvPr/>
        </p:nvSpPr>
        <p:spPr>
          <a:xfrm>
            <a:off x="1280160" y="1865376"/>
            <a:ext cx="4395064" cy="295021"/>
          </a:xfrm>
          <a:prstGeom prst="rect">
            <a:avLst/>
          </a:prstGeom>
          <a:noFill/>
          <a:ln/>
        </p:spPr>
        <p:txBody>
          <a:bodyPr wrap="square" lIns="0" tIns="0" rIns="0" bIns="0" rtlCol="0" anchor="ctr"/>
          <a:lstStyle/>
          <a:p>
            <a:pPr marL="0" indent="0">
              <a:buNone/>
            </a:pPr>
            <a:r>
              <a:rPr lang="en-US" sz="1550" b="1" dirty="0">
                <a:solidFill>
                  <a:srgbClr val="15285C"/>
                </a:solidFill>
              </a:rPr>
              <a:t>Field Control — what people see</a:t>
            </a:r>
            <a:endParaRPr lang="en-US" sz="1550" dirty="0"/>
          </a:p>
        </p:txBody>
      </p:sp>
      <p:sp>
        <p:nvSpPr>
          <p:cNvPr id="9" name="Text 6"/>
          <p:cNvSpPr txBox="1"/>
          <p:nvPr/>
        </p:nvSpPr>
        <p:spPr>
          <a:xfrm>
            <a:off x="804672" y="2340864"/>
            <a:ext cx="4870552" cy="1360627"/>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Rename a field to the words your team actually uses</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Make a field required, or hide it entirely</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Choose which columns the register shows, and their order</a:t>
            </a:r>
            <a:endParaRPr lang="en-US" sz="1350" dirty="0"/>
          </a:p>
        </p:txBody>
      </p:sp>
      <p:sp>
        <p:nvSpPr>
          <p:cNvPr id="10" name="f2"/>
          <p:cNvSpPr/>
          <p:nvPr/>
        </p:nvSpPr>
        <p:spPr>
          <a:xfrm>
            <a:off x="6278728" y="1627632"/>
            <a:ext cx="5346040" cy="2240280"/>
          </a:xfrm>
          <a:prstGeom prst="roundRect">
            <a:avLst>
              <a:gd name="adj" fmla="val 2857"/>
            </a:avLst>
          </a:prstGeom>
          <a:solidFill>
            <a:srgbClr val="EEF2FA"/>
          </a:solidFill>
          <a:ln w="12700">
            <a:solidFill>
              <a:srgbClr val="DCE4F2"/>
            </a:solidFill>
            <a:prstDash val="solid"/>
          </a:ln>
        </p:spPr>
      </p:sp>
      <p:sp>
        <p:nvSpPr>
          <p:cNvPr id="11" name="dot-2"/>
          <p:cNvSpPr/>
          <p:nvPr/>
        </p:nvSpPr>
        <p:spPr>
          <a:xfrm>
            <a:off x="6516472" y="1865376"/>
            <a:ext cx="347472" cy="347472"/>
          </a:xfrm>
          <a:prstGeom prst="ellipse">
            <a:avLst/>
          </a:prstGeom>
          <a:solidFill>
            <a:srgbClr val="B4801A"/>
          </a:solidFill>
          <a:ln w="12700">
            <a:solidFill>
              <a:srgbClr val="B4801A"/>
            </a:solidFill>
            <a:prstDash val="solid"/>
          </a:ln>
        </p:spPr>
      </p:sp>
      <p:sp>
        <p:nvSpPr>
          <p:cNvPr id="12" name="Text 9"/>
          <p:cNvSpPr txBox="1"/>
          <p:nvPr/>
        </p:nvSpPr>
        <p:spPr>
          <a:xfrm>
            <a:off x="6516472" y="186537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3" name="Text 10"/>
          <p:cNvSpPr txBox="1"/>
          <p:nvPr/>
        </p:nvSpPr>
        <p:spPr>
          <a:xfrm>
            <a:off x="6991960" y="1865376"/>
            <a:ext cx="4395064" cy="295021"/>
          </a:xfrm>
          <a:prstGeom prst="rect">
            <a:avLst/>
          </a:prstGeom>
          <a:noFill/>
          <a:ln/>
        </p:spPr>
        <p:txBody>
          <a:bodyPr wrap="square" lIns="0" tIns="0" rIns="0" bIns="0" rtlCol="0" anchor="ctr"/>
          <a:lstStyle/>
          <a:p>
            <a:pPr marL="0" indent="0">
              <a:buNone/>
            </a:pPr>
            <a:r>
              <a:rPr lang="en-US" sz="1550" b="1" dirty="0">
                <a:solidFill>
                  <a:srgbClr val="15285C"/>
                </a:solidFill>
              </a:rPr>
              <a:t>Data Control — what people may do</a:t>
            </a:r>
            <a:endParaRPr lang="en-US" sz="1550" dirty="0"/>
          </a:p>
        </p:txBody>
      </p:sp>
      <p:sp>
        <p:nvSpPr>
          <p:cNvPr id="14" name="Text 11"/>
          <p:cNvSpPr txBox="1"/>
          <p:nvPr/>
        </p:nvSpPr>
        <p:spPr>
          <a:xfrm>
            <a:off x="6516472" y="2340864"/>
            <a:ext cx="4870552" cy="1360627"/>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How far back or forward an entry may be dated</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Whether an entry can be edited or deleted after it is received</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A maximum request amount, and a duplicate-request warning</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Highlight anything above a value you set</a:t>
            </a:r>
            <a:endParaRPr lang="en-US" sz="1350" dirty="0"/>
          </a:p>
        </p:txBody>
      </p:sp>
      <p:sp>
        <p:nvSpPr>
          <p:cNvPr id="15" name="f3"/>
          <p:cNvSpPr/>
          <p:nvPr/>
        </p:nvSpPr>
        <p:spPr>
          <a:xfrm>
            <a:off x="566928" y="4096512"/>
            <a:ext cx="11057839" cy="1645920"/>
          </a:xfrm>
          <a:prstGeom prst="roundRect">
            <a:avLst>
              <a:gd name="adj" fmla="val 3889"/>
            </a:avLst>
          </a:prstGeom>
          <a:solidFill>
            <a:srgbClr val="15285C"/>
          </a:solidFill>
          <a:ln w="12700">
            <a:solidFill>
              <a:srgbClr val="15285C"/>
            </a:solidFill>
            <a:prstDash val="solid"/>
          </a:ln>
        </p:spPr>
      </p:sp>
      <p:sp>
        <p:nvSpPr>
          <p:cNvPr id="16" name="Text 13"/>
          <p:cNvSpPr txBox="1"/>
          <p:nvPr/>
        </p:nvSpPr>
        <p:spPr>
          <a:xfrm>
            <a:off x="804672" y="4334256"/>
            <a:ext cx="10582351" cy="295021"/>
          </a:xfrm>
          <a:prstGeom prst="rect">
            <a:avLst/>
          </a:prstGeom>
          <a:noFill/>
          <a:ln/>
        </p:spPr>
        <p:txBody>
          <a:bodyPr wrap="square" lIns="0" tIns="0" rIns="0" bIns="0" rtlCol="0" anchor="ctr"/>
          <a:lstStyle/>
          <a:p>
            <a:pPr marL="0" indent="0">
              <a:buNone/>
            </a:pPr>
            <a:r>
              <a:rPr lang="en-US" sz="1550" b="1" dirty="0">
                <a:solidFill>
                  <a:srgbClr val="FFFFFF"/>
                </a:solidFill>
              </a:rPr>
              <a:t>Why this matters more than it sounds</a:t>
            </a:r>
            <a:endParaRPr lang="en-US" sz="1550" dirty="0"/>
          </a:p>
        </p:txBody>
      </p:sp>
      <p:sp>
        <p:nvSpPr>
          <p:cNvPr id="17" name="Text 14"/>
          <p:cNvSpPr txBox="1"/>
          <p:nvPr/>
        </p:nvSpPr>
        <p:spPr>
          <a:xfrm>
            <a:off x="804672" y="4702429"/>
            <a:ext cx="10582351" cy="873582"/>
          </a:xfrm>
          <a:prstGeom prst="rect">
            <a:avLst/>
          </a:prstGeom>
          <a:noFill/>
          <a:ln/>
        </p:spPr>
        <p:txBody>
          <a:bodyPr wrap="square" lIns="0" tIns="0" rIns="0" bIns="0" rtlCol="0" anchor="t"/>
          <a:lstStyle/>
          <a:p>
            <a:pPr marL="0" indent="0">
              <a:buNone/>
            </a:pPr>
            <a:r>
              <a:rPr lang="en-US" sz="1500" dirty="0">
                <a:solidFill>
                  <a:srgbClr val="D7E0EF"/>
                </a:solidFill>
                <a:latin typeface="Calibri" pitchFamily="34" charset="0"/>
                <a:ea typeface="Calibri" pitchFamily="34" charset="-122"/>
                <a:cs typeface="Calibri" pitchFamily="34" charset="-120"/>
              </a:rPr>
              <a:t>A control you cannot change is a control you work around. These settings mean a policy decision — tighten the dating window, require the project on every bill, stop back-dated entries at month end — takes a minute, and is recorded as a change someone made on a date, not as a mystery.</a:t>
            </a:r>
            <a:endParaRPr lang="en-US" sz="1500" dirty="0"/>
          </a:p>
        </p:txBody>
      </p:sp>
      <p:sp>
        <p:nvSpPr>
          <p:cNvPr id="25" name="Slide Number Placeholder 0"/>
          <p:cNvSpPr>
            <a:spLocks noGrp="1"/>
          </p:cNvSpPr>
          <p:nvPr>
            <p:ph type="sldNum" sz="quarter" idx="4294967295"/>
          </p:nvPr>
        </p:nvSpPr>
        <p:spPr>
          <a:xfrm>
            <a:off x="1143000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950">
                <a:solidFill>
                  <a:srgbClr val="A8B0BD"/>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lide-title"/>
          <p:cNvSpPr txBox="1"/>
          <p:nvPr/>
        </p:nvSpPr>
        <p:spPr>
          <a:xfrm>
            <a:off x="566928" y="438912"/>
            <a:ext cx="11057839" cy="603504"/>
          </a:xfrm>
          <a:prstGeom prst="rect">
            <a:avLst/>
          </a:prstGeom>
          <a:noFill/>
          <a:ln/>
        </p:spPr>
        <p:txBody>
          <a:bodyPr wrap="square" lIns="0" tIns="0" rIns="0" bIns="0" rtlCol="0" anchor="ctr"/>
          <a:lstStyle/>
          <a:p>
            <a:pPr marL="0" indent="0">
              <a:buNone/>
            </a:pPr>
            <a:r>
              <a:rPr lang="en-US" sz="3000" b="1" dirty="0">
                <a:solidFill>
                  <a:srgbClr val="15285C"/>
                </a:solidFill>
              </a:rPr>
              <a:t>Every action leaves a record</a:t>
            </a:r>
            <a:endParaRPr lang="en-US" sz="3000" dirty="0"/>
          </a:p>
        </p:txBody>
      </p:sp>
      <p:sp>
        <p:nvSpPr>
          <p:cNvPr id="3" name="slide-lead"/>
          <p:cNvSpPr txBox="1"/>
          <p:nvPr/>
        </p:nvSpPr>
        <p:spPr>
          <a:xfrm>
            <a:off x="566928" y="1060704"/>
            <a:ext cx="11057839" cy="402336"/>
          </a:xfrm>
          <a:prstGeom prst="rect">
            <a:avLst/>
          </a:prstGeom>
          <a:noFill/>
          <a:ln/>
        </p:spPr>
        <p:txBody>
          <a:bodyPr wrap="square" lIns="0" tIns="0" rIns="0" bIns="0" rtlCol="0" anchor="ctr"/>
          <a:lstStyle/>
          <a:p>
            <a:pPr marL="0" indent="0">
              <a:buNone/>
            </a:pPr>
            <a:r>
              <a:rPr lang="en-US" sz="1450" dirty="0">
                <a:solidFill>
                  <a:srgbClr val="5A6577"/>
                </a:solidFill>
                <a:latin typeface="Calibri" pitchFamily="34" charset="0"/>
                <a:ea typeface="Calibri" pitchFamily="34" charset="-122"/>
                <a:cs typeface="Calibri" pitchFamily="34" charset="-120"/>
              </a:rPr>
              <a:t>Each module has its own Audit Log, and each record carries its own history.</a:t>
            </a:r>
            <a:endParaRPr lang="en-US" sz="1450" dirty="0"/>
          </a:p>
        </p:txBody>
      </p:sp>
      <p:sp>
        <p:nvSpPr>
          <p:cNvPr id="5" name="a1"/>
          <p:cNvSpPr/>
          <p:nvPr/>
        </p:nvSpPr>
        <p:spPr>
          <a:xfrm>
            <a:off x="566928" y="1627632"/>
            <a:ext cx="3466490" cy="2103120"/>
          </a:xfrm>
          <a:prstGeom prst="roundRect">
            <a:avLst>
              <a:gd name="adj" fmla="val 3043"/>
            </a:avLst>
          </a:prstGeom>
          <a:solidFill>
            <a:srgbClr val="EEF2FA"/>
          </a:solidFill>
          <a:ln w="12700">
            <a:solidFill>
              <a:srgbClr val="DCE4F2"/>
            </a:solidFill>
            <a:prstDash val="solid"/>
          </a:ln>
        </p:spPr>
      </p:sp>
      <p:sp>
        <p:nvSpPr>
          <p:cNvPr id="6" name="dot-1"/>
          <p:cNvSpPr/>
          <p:nvPr/>
        </p:nvSpPr>
        <p:spPr>
          <a:xfrm>
            <a:off x="804672" y="1865376"/>
            <a:ext cx="347472" cy="347472"/>
          </a:xfrm>
          <a:prstGeom prst="ellipse">
            <a:avLst/>
          </a:prstGeom>
          <a:solidFill>
            <a:srgbClr val="15285C"/>
          </a:solidFill>
          <a:ln w="12700">
            <a:solidFill>
              <a:srgbClr val="15285C"/>
            </a:solidFill>
            <a:prstDash val="solid"/>
          </a:ln>
        </p:spPr>
      </p:sp>
      <p:sp>
        <p:nvSpPr>
          <p:cNvPr id="7" name="Text 4"/>
          <p:cNvSpPr txBox="1"/>
          <p:nvPr/>
        </p:nvSpPr>
        <p:spPr>
          <a:xfrm>
            <a:off x="804672" y="186537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8" name="Text 5"/>
          <p:cNvSpPr txBox="1"/>
          <p:nvPr/>
        </p:nvSpPr>
        <p:spPr>
          <a:xfrm>
            <a:off x="1280160" y="1865376"/>
            <a:ext cx="2515514" cy="295021"/>
          </a:xfrm>
          <a:prstGeom prst="rect">
            <a:avLst/>
          </a:prstGeom>
          <a:noFill/>
          <a:ln/>
        </p:spPr>
        <p:txBody>
          <a:bodyPr wrap="square" lIns="0" tIns="0" rIns="0" bIns="0" rtlCol="0" anchor="ctr"/>
          <a:lstStyle/>
          <a:p>
            <a:pPr marL="0" indent="0">
              <a:buNone/>
            </a:pPr>
            <a:r>
              <a:rPr lang="en-US" sz="1550" b="1" dirty="0">
                <a:solidFill>
                  <a:srgbClr val="15285C"/>
                </a:solidFill>
              </a:rPr>
              <a:t>Who, when, what</a:t>
            </a:r>
            <a:endParaRPr lang="en-US" sz="1550" dirty="0"/>
          </a:p>
        </p:txBody>
      </p:sp>
      <p:sp>
        <p:nvSpPr>
          <p:cNvPr id="9" name="Text 6"/>
          <p:cNvSpPr txBox="1"/>
          <p:nvPr/>
        </p:nvSpPr>
        <p:spPr>
          <a:xfrm>
            <a:off x="804672" y="2340864"/>
            <a:ext cx="2991002" cy="1223467"/>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The person, the exact time, and the action</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Filter by date, person or action</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Search, and export to Excel</a:t>
            </a:r>
            <a:endParaRPr lang="en-US" sz="1350" dirty="0"/>
          </a:p>
        </p:txBody>
      </p:sp>
      <p:sp>
        <p:nvSpPr>
          <p:cNvPr id="10" name="a2"/>
          <p:cNvSpPr/>
          <p:nvPr/>
        </p:nvSpPr>
        <p:spPr>
          <a:xfrm>
            <a:off x="4362602" y="1627632"/>
            <a:ext cx="3466490" cy="2103120"/>
          </a:xfrm>
          <a:prstGeom prst="roundRect">
            <a:avLst>
              <a:gd name="adj" fmla="val 3043"/>
            </a:avLst>
          </a:prstGeom>
          <a:solidFill>
            <a:srgbClr val="EEF2FA"/>
          </a:solidFill>
          <a:ln w="12700">
            <a:solidFill>
              <a:srgbClr val="DCE4F2"/>
            </a:solidFill>
            <a:prstDash val="solid"/>
          </a:ln>
        </p:spPr>
      </p:sp>
      <p:sp>
        <p:nvSpPr>
          <p:cNvPr id="11" name="dot-2"/>
          <p:cNvSpPr/>
          <p:nvPr/>
        </p:nvSpPr>
        <p:spPr>
          <a:xfrm>
            <a:off x="4600346" y="1865376"/>
            <a:ext cx="347472" cy="347472"/>
          </a:xfrm>
          <a:prstGeom prst="ellipse">
            <a:avLst/>
          </a:prstGeom>
          <a:solidFill>
            <a:srgbClr val="B4801A"/>
          </a:solidFill>
          <a:ln w="12700">
            <a:solidFill>
              <a:srgbClr val="B4801A"/>
            </a:solidFill>
            <a:prstDash val="solid"/>
          </a:ln>
        </p:spPr>
      </p:sp>
      <p:sp>
        <p:nvSpPr>
          <p:cNvPr id="12" name="Text 9"/>
          <p:cNvSpPr txBox="1"/>
          <p:nvPr/>
        </p:nvSpPr>
        <p:spPr>
          <a:xfrm>
            <a:off x="4600346" y="186537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3" name="Text 10"/>
          <p:cNvSpPr txBox="1"/>
          <p:nvPr/>
        </p:nvSpPr>
        <p:spPr>
          <a:xfrm>
            <a:off x="5075834" y="1865376"/>
            <a:ext cx="2515514" cy="295021"/>
          </a:xfrm>
          <a:prstGeom prst="rect">
            <a:avLst/>
          </a:prstGeom>
          <a:noFill/>
          <a:ln/>
        </p:spPr>
        <p:txBody>
          <a:bodyPr wrap="square" lIns="0" tIns="0" rIns="0" bIns="0" rtlCol="0" anchor="ctr"/>
          <a:lstStyle/>
          <a:p>
            <a:pPr marL="0" indent="0">
              <a:buNone/>
            </a:pPr>
            <a:r>
              <a:rPr lang="en-US" sz="1550" b="1" dirty="0">
                <a:solidFill>
                  <a:srgbClr val="15285C"/>
                </a:solidFill>
              </a:rPr>
              <a:t>Before and after</a:t>
            </a:r>
            <a:endParaRPr lang="en-US" sz="1550" dirty="0"/>
          </a:p>
        </p:txBody>
      </p:sp>
      <p:sp>
        <p:nvSpPr>
          <p:cNvPr id="14" name="Text 11"/>
          <p:cNvSpPr txBox="1"/>
          <p:nvPr/>
        </p:nvSpPr>
        <p:spPr>
          <a:xfrm>
            <a:off x="4600346" y="2340864"/>
            <a:ext cx="2991002" cy="1223467"/>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Not just that something changed — what it was, and what it became</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Amounts, parties, dates, statuses and settings alike</a:t>
            </a:r>
            <a:endParaRPr lang="en-US" sz="1350" dirty="0"/>
          </a:p>
        </p:txBody>
      </p:sp>
      <p:sp>
        <p:nvSpPr>
          <p:cNvPr id="15" name="a3"/>
          <p:cNvSpPr/>
          <p:nvPr/>
        </p:nvSpPr>
        <p:spPr>
          <a:xfrm>
            <a:off x="8158277" y="1627632"/>
            <a:ext cx="3466490" cy="2103120"/>
          </a:xfrm>
          <a:prstGeom prst="roundRect">
            <a:avLst>
              <a:gd name="adj" fmla="val 3043"/>
            </a:avLst>
          </a:prstGeom>
          <a:solidFill>
            <a:srgbClr val="EEF2FA"/>
          </a:solidFill>
          <a:ln w="12700">
            <a:solidFill>
              <a:srgbClr val="DCE4F2"/>
            </a:solidFill>
            <a:prstDash val="solid"/>
          </a:ln>
        </p:spPr>
      </p:sp>
      <p:sp>
        <p:nvSpPr>
          <p:cNvPr id="16" name="dot-3"/>
          <p:cNvSpPr/>
          <p:nvPr/>
        </p:nvSpPr>
        <p:spPr>
          <a:xfrm>
            <a:off x="8396021" y="1865376"/>
            <a:ext cx="347472" cy="347472"/>
          </a:xfrm>
          <a:prstGeom prst="ellipse">
            <a:avLst/>
          </a:prstGeom>
          <a:solidFill>
            <a:srgbClr val="0E7A58"/>
          </a:solidFill>
          <a:ln w="12700">
            <a:solidFill>
              <a:srgbClr val="0E7A58"/>
            </a:solidFill>
            <a:prstDash val="solid"/>
          </a:ln>
        </p:spPr>
      </p:sp>
      <p:sp>
        <p:nvSpPr>
          <p:cNvPr id="17" name="Text 14"/>
          <p:cNvSpPr txBox="1"/>
          <p:nvPr/>
        </p:nvSpPr>
        <p:spPr>
          <a:xfrm>
            <a:off x="8396021" y="186537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8" name="Text 15"/>
          <p:cNvSpPr txBox="1"/>
          <p:nvPr/>
        </p:nvSpPr>
        <p:spPr>
          <a:xfrm>
            <a:off x="8871509" y="1865376"/>
            <a:ext cx="2515514" cy="295021"/>
          </a:xfrm>
          <a:prstGeom prst="rect">
            <a:avLst/>
          </a:prstGeom>
          <a:noFill/>
          <a:ln/>
        </p:spPr>
        <p:txBody>
          <a:bodyPr wrap="square" lIns="0" tIns="0" rIns="0" bIns="0" rtlCol="0" anchor="ctr"/>
          <a:lstStyle/>
          <a:p>
            <a:pPr marL="0" indent="0">
              <a:buNone/>
            </a:pPr>
            <a:r>
              <a:rPr lang="en-US" sz="1550" b="1" dirty="0">
                <a:solidFill>
                  <a:srgbClr val="15285C"/>
                </a:solidFill>
              </a:rPr>
              <a:t>On the record itself</a:t>
            </a:r>
            <a:endParaRPr lang="en-US" sz="1550" dirty="0"/>
          </a:p>
        </p:txBody>
      </p:sp>
      <p:sp>
        <p:nvSpPr>
          <p:cNvPr id="19" name="Text 16"/>
          <p:cNvSpPr txBox="1"/>
          <p:nvPr/>
        </p:nvSpPr>
        <p:spPr>
          <a:xfrm>
            <a:off x="8396021" y="2340864"/>
            <a:ext cx="2991002" cy="1223467"/>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Open any requisition or request and see its own timeline</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From the day it was raised to the day it was paid</a:t>
            </a:r>
            <a:endParaRPr lang="en-US" sz="1350" dirty="0"/>
          </a:p>
        </p:txBody>
      </p:sp>
      <p:sp>
        <p:nvSpPr>
          <p:cNvPr id="20" name="a4"/>
          <p:cNvSpPr/>
          <p:nvPr/>
        </p:nvSpPr>
        <p:spPr>
          <a:xfrm>
            <a:off x="566928" y="4005072"/>
            <a:ext cx="11057839" cy="1920240"/>
          </a:xfrm>
          <a:prstGeom prst="roundRect">
            <a:avLst>
              <a:gd name="adj" fmla="val 3333"/>
            </a:avLst>
          </a:prstGeom>
          <a:solidFill>
            <a:srgbClr val="EEF2FA"/>
          </a:solidFill>
          <a:ln w="12700">
            <a:solidFill>
              <a:srgbClr val="DCE4F2"/>
            </a:solidFill>
            <a:prstDash val="solid"/>
          </a:ln>
        </p:spPr>
      </p:sp>
      <p:sp>
        <p:nvSpPr>
          <p:cNvPr id="21" name="Text 18"/>
          <p:cNvSpPr txBox="1"/>
          <p:nvPr/>
        </p:nvSpPr>
        <p:spPr>
          <a:xfrm>
            <a:off x="804672" y="4242816"/>
            <a:ext cx="10582351" cy="295021"/>
          </a:xfrm>
          <a:prstGeom prst="rect">
            <a:avLst/>
          </a:prstGeom>
          <a:noFill/>
          <a:ln/>
        </p:spPr>
        <p:txBody>
          <a:bodyPr wrap="square" lIns="0" tIns="0" rIns="0" bIns="0" rtlCol="0" anchor="ctr"/>
          <a:lstStyle/>
          <a:p>
            <a:pPr marL="0" indent="0">
              <a:buNone/>
            </a:pPr>
            <a:r>
              <a:rPr lang="en-US" sz="1550" b="1" dirty="0">
                <a:solidFill>
                  <a:srgbClr val="15285C"/>
                </a:solidFill>
              </a:rPr>
              <a:t>What is now recorded that was not before</a:t>
            </a:r>
            <a:endParaRPr lang="en-US" sz="1550" dirty="0"/>
          </a:p>
        </p:txBody>
      </p:sp>
      <p:sp>
        <p:nvSpPr>
          <p:cNvPr id="22" name="Text 19"/>
          <p:cNvSpPr txBox="1"/>
          <p:nvPr/>
        </p:nvSpPr>
        <p:spPr>
          <a:xfrm>
            <a:off x="804672" y="4610989"/>
            <a:ext cx="10582351" cy="1147902"/>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GST and TDS verification, including every figure that changed</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Document status, and each attachment added or removed</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Printing and workflow configuration, step by step</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Bulk status moves — one record per requisition, not one for the batch</a:t>
            </a:r>
            <a:endParaRPr lang="en-US" sz="1350" dirty="0"/>
          </a:p>
        </p:txBody>
      </p:sp>
      <p:sp>
        <p:nvSpPr>
          <p:cNvPr id="25" name="Slide Number Placeholder 0"/>
          <p:cNvSpPr>
            <a:spLocks noGrp="1"/>
          </p:cNvSpPr>
          <p:nvPr>
            <p:ph type="sldNum" sz="quarter" idx="4294967295"/>
          </p:nvPr>
        </p:nvSpPr>
        <p:spPr>
          <a:xfrm>
            <a:off x="1143000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950">
                <a:solidFill>
                  <a:srgbClr val="A8B0BD"/>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eyebrow"/>
          <p:cNvSpPr txBox="1"/>
          <p:nvPr/>
        </p:nvSpPr>
        <p:spPr>
          <a:xfrm>
            <a:off x="566928" y="1463040"/>
            <a:ext cx="6949440" cy="310896"/>
          </a:xfrm>
          <a:prstGeom prst="rect">
            <a:avLst/>
          </a:prstGeom>
          <a:noFill/>
          <a:ln/>
        </p:spPr>
        <p:txBody>
          <a:bodyPr wrap="square" lIns="0" tIns="0" rIns="0" bIns="0" rtlCol="0" anchor="ctr"/>
          <a:lstStyle/>
          <a:p>
            <a:pPr marL="0" indent="0">
              <a:buNone/>
            </a:pPr>
            <a:r>
              <a:rPr lang="en-US" sz="1400" b="1" kern="0" spc="300" dirty="0">
                <a:solidFill>
                  <a:srgbClr val="B4801A"/>
                </a:solidFill>
                <a:latin typeface="Calibri" pitchFamily="34" charset="0"/>
                <a:ea typeface="Calibri" pitchFamily="34" charset="-122"/>
                <a:cs typeface="Calibri" pitchFamily="34" charset="-120"/>
              </a:rPr>
              <a:t>PART THREE</a:t>
            </a:r>
            <a:endParaRPr lang="en-US" sz="1400" dirty="0"/>
          </a:p>
        </p:txBody>
      </p:sp>
      <p:sp>
        <p:nvSpPr>
          <p:cNvPr id="3" name="dark-title"/>
          <p:cNvSpPr txBox="1"/>
          <p:nvPr/>
        </p:nvSpPr>
        <p:spPr>
          <a:xfrm>
            <a:off x="566928" y="1883664"/>
            <a:ext cx="6949440" cy="1126744"/>
          </a:xfrm>
          <a:prstGeom prst="rect">
            <a:avLst/>
          </a:prstGeom>
          <a:noFill/>
          <a:ln/>
        </p:spPr>
        <p:txBody>
          <a:bodyPr wrap="square" lIns="0" tIns="0" rIns="0" bIns="0" rtlCol="0" anchor="t"/>
          <a:lstStyle/>
          <a:p>
            <a:pPr marL="0" indent="0">
              <a:buNone/>
            </a:pPr>
            <a:r>
              <a:rPr lang="en-US" sz="3400" b="1" dirty="0">
                <a:solidFill>
                  <a:srgbClr val="FFFFFF"/>
                </a:solidFill>
              </a:rPr>
              <a:t>Seven states, seven registrations, one window</a:t>
            </a:r>
            <a:endParaRPr lang="en-US" sz="3400" dirty="0"/>
          </a:p>
        </p:txBody>
      </p:sp>
      <p:sp>
        <p:nvSpPr>
          <p:cNvPr id="4" name="dark-sub"/>
          <p:cNvSpPr txBox="1"/>
          <p:nvPr/>
        </p:nvSpPr>
        <p:spPr>
          <a:xfrm>
            <a:off x="566928" y="3175000"/>
            <a:ext cx="6583680" cy="321056"/>
          </a:xfrm>
          <a:prstGeom prst="rect">
            <a:avLst/>
          </a:prstGeom>
          <a:noFill/>
          <a:ln/>
        </p:spPr>
        <p:txBody>
          <a:bodyPr wrap="square" lIns="0" tIns="0" rIns="0" bIns="0" rtlCol="0" anchor="t"/>
          <a:lstStyle/>
          <a:p>
            <a:pPr marL="0" indent="0">
              <a:buNone/>
            </a:pPr>
            <a:r>
              <a:rPr lang="en-US" sz="1600" dirty="0">
                <a:solidFill>
                  <a:srgbClr val="CBD6E8"/>
                </a:solidFill>
                <a:latin typeface="Calibri" pitchFamily="34" charset="0"/>
                <a:ea typeface="Calibri" pitchFamily="34" charset="-122"/>
                <a:cs typeface="Calibri" pitchFamily="34" charset="-120"/>
              </a:rPr>
              <a:t>The part of this work with the most money attached to it.</a:t>
            </a:r>
            <a:endParaRPr lang="en-US" sz="1600" dirty="0"/>
          </a:p>
        </p:txBody>
      </p:sp>
      <p:sp>
        <p:nvSpPr>
          <p:cNvPr id="5" name="ghost-03"/>
          <p:cNvSpPr txBox="1"/>
          <p:nvPr/>
        </p:nvSpPr>
        <p:spPr>
          <a:xfrm>
            <a:off x="7772400" y="1188720"/>
            <a:ext cx="3840480" cy="2926080"/>
          </a:xfrm>
          <a:prstGeom prst="rect">
            <a:avLst/>
          </a:prstGeom>
          <a:noFill/>
          <a:ln/>
        </p:spPr>
        <p:txBody>
          <a:bodyPr wrap="square" lIns="0" tIns="0" rIns="0" bIns="0" rtlCol="0" anchor="ctr"/>
          <a:lstStyle/>
          <a:p>
            <a:pPr marL="0" indent="0" algn="r">
              <a:buNone/>
            </a:pPr>
            <a:r>
              <a:rPr lang="en-US" sz="15000" b="1" dirty="0">
                <a:solidFill>
                  <a:srgbClr val="1E3570"/>
                </a:solidFill>
              </a:rPr>
              <a:t>03</a:t>
            </a:r>
            <a:endParaRPr lang="en-US" sz="15000" dirty="0"/>
          </a:p>
        </p:txBody>
      </p:sp>
      <p:sp>
        <p:nvSpPr>
          <p:cNvPr id="6" name="pc-0"/>
          <p:cNvSpPr/>
          <p:nvPr/>
        </p:nvSpPr>
        <p:spPr>
          <a:xfrm>
            <a:off x="594360" y="3797808"/>
            <a:ext cx="146304" cy="146304"/>
          </a:xfrm>
          <a:prstGeom prst="ellipse">
            <a:avLst/>
          </a:prstGeom>
          <a:solidFill>
            <a:srgbClr val="B4801A"/>
          </a:solidFill>
          <a:ln w="12700">
            <a:solidFill>
              <a:srgbClr val="B4801A"/>
            </a:solidFill>
            <a:prstDash val="solid"/>
          </a:ln>
        </p:spPr>
      </p:sp>
      <p:sp>
        <p:nvSpPr>
          <p:cNvPr id="7" name="Text 5"/>
          <p:cNvSpPr txBox="1"/>
          <p:nvPr/>
        </p:nvSpPr>
        <p:spPr>
          <a:xfrm>
            <a:off x="950976" y="3697224"/>
            <a:ext cx="6675120" cy="347472"/>
          </a:xfrm>
          <a:prstGeom prst="rect">
            <a:avLst/>
          </a:prstGeom>
          <a:noFill/>
          <a:ln/>
        </p:spPr>
        <p:txBody>
          <a:bodyPr wrap="square" lIns="0" tIns="0" rIns="0" bIns="0" rtlCol="0" anchor="ctr"/>
          <a:lstStyle/>
          <a:p>
            <a:pPr marL="0" indent="0">
              <a:buNone/>
            </a:pPr>
            <a:r>
              <a:rPr lang="en-US" sz="1400" dirty="0">
                <a:solidFill>
                  <a:srgbClr val="E3EAF6"/>
                </a:solidFill>
                <a:latin typeface="Calibri" pitchFamily="34" charset="0"/>
                <a:ea typeface="Calibri" pitchFamily="34" charset="-122"/>
                <a:cs typeface="Calibri" pitchFamily="34" charset="-120"/>
              </a:rPr>
              <a:t>Every bill knows which registration it belongs to</a:t>
            </a:r>
            <a:endParaRPr lang="en-US" sz="1400" dirty="0"/>
          </a:p>
        </p:txBody>
      </p:sp>
      <p:sp>
        <p:nvSpPr>
          <p:cNvPr id="8" name="pc-1"/>
          <p:cNvSpPr/>
          <p:nvPr/>
        </p:nvSpPr>
        <p:spPr>
          <a:xfrm>
            <a:off x="594360" y="4200144"/>
            <a:ext cx="146304" cy="146304"/>
          </a:xfrm>
          <a:prstGeom prst="ellipse">
            <a:avLst/>
          </a:prstGeom>
          <a:solidFill>
            <a:srgbClr val="B4801A"/>
          </a:solidFill>
          <a:ln w="12700">
            <a:solidFill>
              <a:srgbClr val="B4801A"/>
            </a:solidFill>
            <a:prstDash val="solid"/>
          </a:ln>
        </p:spPr>
      </p:sp>
      <p:sp>
        <p:nvSpPr>
          <p:cNvPr id="9" name="Text 7"/>
          <p:cNvSpPr txBox="1"/>
          <p:nvPr/>
        </p:nvSpPr>
        <p:spPr>
          <a:xfrm>
            <a:off x="950976" y="4099560"/>
            <a:ext cx="6675120" cy="347472"/>
          </a:xfrm>
          <a:prstGeom prst="rect">
            <a:avLst/>
          </a:prstGeom>
          <a:noFill/>
          <a:ln/>
        </p:spPr>
        <p:txBody>
          <a:bodyPr wrap="square" lIns="0" tIns="0" rIns="0" bIns="0" rtlCol="0" anchor="ctr"/>
          <a:lstStyle/>
          <a:p>
            <a:pPr marL="0" indent="0">
              <a:buNone/>
            </a:pPr>
            <a:r>
              <a:rPr lang="en-US" sz="1400" dirty="0">
                <a:solidFill>
                  <a:srgbClr val="E3EAF6"/>
                </a:solidFill>
                <a:latin typeface="Calibri" pitchFamily="34" charset="0"/>
                <a:ea typeface="Calibri" pitchFamily="34" charset="-122"/>
                <a:cs typeface="Calibri" pitchFamily="34" charset="-120"/>
              </a:rPr>
              <a:t>Input credit and reverse-charge output, kept apart</a:t>
            </a:r>
            <a:endParaRPr lang="en-US" sz="1400" dirty="0"/>
          </a:p>
        </p:txBody>
      </p:sp>
      <p:sp>
        <p:nvSpPr>
          <p:cNvPr id="10" name="pc-2"/>
          <p:cNvSpPr/>
          <p:nvPr/>
        </p:nvSpPr>
        <p:spPr>
          <a:xfrm>
            <a:off x="594360" y="4602480"/>
            <a:ext cx="146304" cy="146304"/>
          </a:xfrm>
          <a:prstGeom prst="ellipse">
            <a:avLst/>
          </a:prstGeom>
          <a:solidFill>
            <a:srgbClr val="B4801A"/>
          </a:solidFill>
          <a:ln w="12700">
            <a:solidFill>
              <a:srgbClr val="B4801A"/>
            </a:solidFill>
            <a:prstDash val="solid"/>
          </a:ln>
        </p:spPr>
      </p:sp>
      <p:sp>
        <p:nvSpPr>
          <p:cNvPr id="11" name="Text 9"/>
          <p:cNvSpPr txBox="1"/>
          <p:nvPr/>
        </p:nvSpPr>
        <p:spPr>
          <a:xfrm>
            <a:off x="950976" y="4501896"/>
            <a:ext cx="6675120" cy="347472"/>
          </a:xfrm>
          <a:prstGeom prst="rect">
            <a:avLst/>
          </a:prstGeom>
          <a:noFill/>
          <a:ln/>
        </p:spPr>
        <p:txBody>
          <a:bodyPr wrap="square" lIns="0" tIns="0" rIns="0" bIns="0" rtlCol="0" anchor="ctr"/>
          <a:lstStyle/>
          <a:p>
            <a:pPr marL="0" indent="0">
              <a:buNone/>
            </a:pPr>
            <a:r>
              <a:rPr lang="en-US" sz="1400" dirty="0">
                <a:solidFill>
                  <a:srgbClr val="E3EAF6"/>
                </a:solidFill>
                <a:latin typeface="Calibri" pitchFamily="34" charset="0"/>
                <a:ea typeface="Calibri" pitchFamily="34" charset="-122"/>
                <a:cs typeface="Calibri" pitchFamily="34" charset="-120"/>
              </a:rPr>
              <a:t>Four checks protecting the credit you can claim</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lide-title"/>
          <p:cNvSpPr txBox="1"/>
          <p:nvPr/>
        </p:nvSpPr>
        <p:spPr>
          <a:xfrm>
            <a:off x="566928" y="438912"/>
            <a:ext cx="11057839" cy="603504"/>
          </a:xfrm>
          <a:prstGeom prst="rect">
            <a:avLst/>
          </a:prstGeom>
          <a:noFill/>
          <a:ln/>
        </p:spPr>
        <p:txBody>
          <a:bodyPr wrap="square" lIns="0" tIns="0" rIns="0" bIns="0" rtlCol="0" anchor="ctr"/>
          <a:lstStyle/>
          <a:p>
            <a:pPr marL="0" indent="0">
              <a:buNone/>
            </a:pPr>
            <a:r>
              <a:rPr lang="en-US" sz="3000" b="1" dirty="0">
                <a:solidFill>
                  <a:srgbClr val="15285C"/>
                </a:solidFill>
              </a:rPr>
              <a:t>Every bill knows which registration it belongs to</a:t>
            </a:r>
            <a:endParaRPr lang="en-US" sz="3000" dirty="0"/>
          </a:p>
        </p:txBody>
      </p:sp>
      <p:sp>
        <p:nvSpPr>
          <p:cNvPr id="3" name="slide-lead"/>
          <p:cNvSpPr txBox="1"/>
          <p:nvPr/>
        </p:nvSpPr>
        <p:spPr>
          <a:xfrm>
            <a:off x="566928" y="1060704"/>
            <a:ext cx="11057839" cy="402336"/>
          </a:xfrm>
          <a:prstGeom prst="rect">
            <a:avLst/>
          </a:prstGeom>
          <a:noFill/>
          <a:ln/>
        </p:spPr>
        <p:txBody>
          <a:bodyPr wrap="square" lIns="0" tIns="0" rIns="0" bIns="0" rtlCol="0" anchor="ctr"/>
          <a:lstStyle/>
          <a:p>
            <a:pPr marL="0" indent="0">
              <a:buNone/>
            </a:pPr>
            <a:r>
              <a:rPr lang="en-US" sz="1450" dirty="0">
                <a:solidFill>
                  <a:srgbClr val="5A6577"/>
                </a:solidFill>
                <a:latin typeface="Calibri" pitchFamily="34" charset="0"/>
                <a:ea typeface="Calibri" pitchFamily="34" charset="-122"/>
                <a:cs typeface="Calibri" pitchFamily="34" charset="-120"/>
              </a:rPr>
              <a:t>And that decides both the return it lands in and the tax split that is correct.</a:t>
            </a:r>
            <a:endParaRPr lang="en-US" sz="1450" dirty="0"/>
          </a:p>
        </p:txBody>
      </p:sp>
      <p:sp>
        <p:nvSpPr>
          <p:cNvPr id="5" name="g-chain"/>
          <p:cNvSpPr/>
          <p:nvPr/>
        </p:nvSpPr>
        <p:spPr>
          <a:xfrm>
            <a:off x="566928" y="1627632"/>
            <a:ext cx="5346040" cy="2286000"/>
          </a:xfrm>
          <a:prstGeom prst="roundRect">
            <a:avLst>
              <a:gd name="adj" fmla="val 2800"/>
            </a:avLst>
          </a:prstGeom>
          <a:solidFill>
            <a:srgbClr val="EEF2FA"/>
          </a:solidFill>
          <a:ln w="12700">
            <a:solidFill>
              <a:srgbClr val="DCE4F2"/>
            </a:solidFill>
            <a:prstDash val="solid"/>
          </a:ln>
        </p:spPr>
      </p:sp>
      <p:sp>
        <p:nvSpPr>
          <p:cNvPr id="6" name="Text 3"/>
          <p:cNvSpPr txBox="1"/>
          <p:nvPr/>
        </p:nvSpPr>
        <p:spPr>
          <a:xfrm>
            <a:off x="804672" y="1828800"/>
            <a:ext cx="4870552" cy="292608"/>
          </a:xfrm>
          <a:prstGeom prst="rect">
            <a:avLst/>
          </a:prstGeom>
          <a:noFill/>
          <a:ln/>
        </p:spPr>
        <p:txBody>
          <a:bodyPr wrap="square" lIns="0" tIns="0" rIns="0" bIns="0" rtlCol="0" anchor="ctr"/>
          <a:lstStyle/>
          <a:p>
            <a:pPr marL="0" indent="0">
              <a:buNone/>
            </a:pPr>
            <a:r>
              <a:rPr lang="en-US" sz="1550" b="1" dirty="0">
                <a:solidFill>
                  <a:srgbClr val="15285C"/>
                </a:solidFill>
              </a:rPr>
              <a:t>Found by a chain you control</a:t>
            </a:r>
            <a:endParaRPr lang="en-US" sz="1550" dirty="0"/>
          </a:p>
        </p:txBody>
      </p:sp>
      <p:sp>
        <p:nvSpPr>
          <p:cNvPr id="7" name="Text 4"/>
          <p:cNvSpPr txBox="1"/>
          <p:nvPr/>
        </p:nvSpPr>
        <p:spPr>
          <a:xfrm>
            <a:off x="804672" y="2139696"/>
            <a:ext cx="4870552" cy="310896"/>
          </a:xfrm>
          <a:prstGeom prst="rect">
            <a:avLst/>
          </a:prstGeom>
          <a:noFill/>
          <a:ln/>
        </p:spPr>
        <p:txBody>
          <a:bodyPr wrap="square" lIns="0" tIns="0" rIns="0" bIns="0" rtlCol="0" anchor="ctr"/>
          <a:lstStyle/>
          <a:p>
            <a:pPr marL="0" indent="0">
              <a:buNone/>
            </a:pPr>
            <a:r>
              <a:rPr lang="en-US" sz="1150" dirty="0">
                <a:solidFill>
                  <a:srgbClr val="5A6577"/>
                </a:solidFill>
                <a:latin typeface="Calibri" pitchFamily="34" charset="0"/>
                <a:ea typeface="Calibri" pitchFamily="34" charset="-122"/>
                <a:cs typeface="Calibri" pitchFamily="34" charset="-120"/>
              </a:rPr>
              <a:t>Tried top down; the first source with an answer decides.</a:t>
            </a:r>
            <a:endParaRPr lang="en-US" sz="1150" dirty="0"/>
          </a:p>
        </p:txBody>
      </p:sp>
      <p:sp>
        <p:nvSpPr>
          <p:cNvPr id="8" name="dot-1"/>
          <p:cNvSpPr/>
          <p:nvPr/>
        </p:nvSpPr>
        <p:spPr>
          <a:xfrm>
            <a:off x="841248" y="2505456"/>
            <a:ext cx="256032" cy="256032"/>
          </a:xfrm>
          <a:prstGeom prst="ellipse">
            <a:avLst/>
          </a:prstGeom>
          <a:solidFill>
            <a:srgbClr val="15285C"/>
          </a:solidFill>
          <a:ln w="12700">
            <a:solidFill>
              <a:srgbClr val="15285C"/>
            </a:solidFill>
            <a:prstDash val="solid"/>
          </a:ln>
        </p:spPr>
      </p:sp>
      <p:sp>
        <p:nvSpPr>
          <p:cNvPr id="9" name="Text 6"/>
          <p:cNvSpPr txBox="1"/>
          <p:nvPr/>
        </p:nvSpPr>
        <p:spPr>
          <a:xfrm>
            <a:off x="841248" y="2505456"/>
            <a:ext cx="256032" cy="256032"/>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10" name="Text 7"/>
          <p:cNvSpPr txBox="1"/>
          <p:nvPr/>
        </p:nvSpPr>
        <p:spPr>
          <a:xfrm>
            <a:off x="1188720" y="2487168"/>
            <a:ext cx="4431640" cy="292608"/>
          </a:xfrm>
          <a:prstGeom prst="rect">
            <a:avLst/>
          </a:prstGeom>
          <a:noFill/>
          <a:ln/>
        </p:spPr>
        <p:txBody>
          <a:bodyPr wrap="square" lIns="0" tIns="0" rIns="0" bIns="0" rtlCol="0" anchor="ctr"/>
          <a:lstStyle/>
          <a:p>
            <a:pPr marL="0" indent="0">
              <a:buNone/>
            </a:pPr>
            <a:r>
              <a:rPr lang="en-US" sz="1250" dirty="0">
                <a:solidFill>
                  <a:srgbClr val="101828"/>
                </a:solidFill>
                <a:latin typeface="Calibri" pitchFamily="34" charset="0"/>
                <a:ea typeface="Calibri" pitchFamily="34" charset="-122"/>
                <a:cs typeface="Calibri" pitchFamily="34" charset="-120"/>
              </a:rPr>
              <a:t>Chosen on the bill itself</a:t>
            </a:r>
            <a:endParaRPr lang="en-US" sz="1250" dirty="0"/>
          </a:p>
        </p:txBody>
      </p:sp>
      <p:sp>
        <p:nvSpPr>
          <p:cNvPr id="11" name="dot-2"/>
          <p:cNvSpPr/>
          <p:nvPr/>
        </p:nvSpPr>
        <p:spPr>
          <a:xfrm>
            <a:off x="841248" y="2843784"/>
            <a:ext cx="256032" cy="256032"/>
          </a:xfrm>
          <a:prstGeom prst="ellipse">
            <a:avLst/>
          </a:prstGeom>
          <a:solidFill>
            <a:srgbClr val="15285C"/>
          </a:solidFill>
          <a:ln w="12700">
            <a:solidFill>
              <a:srgbClr val="15285C"/>
            </a:solidFill>
            <a:prstDash val="solid"/>
          </a:ln>
        </p:spPr>
      </p:sp>
      <p:sp>
        <p:nvSpPr>
          <p:cNvPr id="12" name="Text 9"/>
          <p:cNvSpPr txBox="1"/>
          <p:nvPr/>
        </p:nvSpPr>
        <p:spPr>
          <a:xfrm>
            <a:off x="841248" y="2843784"/>
            <a:ext cx="256032" cy="256032"/>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3" name="Text 10"/>
          <p:cNvSpPr txBox="1"/>
          <p:nvPr/>
        </p:nvSpPr>
        <p:spPr>
          <a:xfrm>
            <a:off x="1188720" y="2825496"/>
            <a:ext cx="4431640" cy="292608"/>
          </a:xfrm>
          <a:prstGeom prst="rect">
            <a:avLst/>
          </a:prstGeom>
          <a:noFill/>
          <a:ln/>
        </p:spPr>
        <p:txBody>
          <a:bodyPr wrap="square" lIns="0" tIns="0" rIns="0" bIns="0" rtlCol="0" anchor="ctr"/>
          <a:lstStyle/>
          <a:p>
            <a:pPr marL="0" indent="0">
              <a:buNone/>
            </a:pPr>
            <a:r>
              <a:rPr lang="en-US" sz="1250" dirty="0">
                <a:solidFill>
                  <a:srgbClr val="101828"/>
                </a:solidFill>
                <a:latin typeface="Calibri" pitchFamily="34" charset="0"/>
                <a:ea typeface="Calibri" pitchFamily="34" charset="-122"/>
                <a:cs typeface="Calibri" pitchFamily="34" charset="-120"/>
              </a:rPr>
              <a:t>The project's state — where the site is</a:t>
            </a:r>
            <a:endParaRPr lang="en-US" sz="1250" dirty="0"/>
          </a:p>
        </p:txBody>
      </p:sp>
      <p:sp>
        <p:nvSpPr>
          <p:cNvPr id="14" name="dot-3"/>
          <p:cNvSpPr/>
          <p:nvPr/>
        </p:nvSpPr>
        <p:spPr>
          <a:xfrm>
            <a:off x="841248" y="3182112"/>
            <a:ext cx="256032" cy="256032"/>
          </a:xfrm>
          <a:prstGeom prst="ellipse">
            <a:avLst/>
          </a:prstGeom>
          <a:solidFill>
            <a:srgbClr val="15285C"/>
          </a:solidFill>
          <a:ln w="12700">
            <a:solidFill>
              <a:srgbClr val="15285C"/>
            </a:solidFill>
            <a:prstDash val="solid"/>
          </a:ln>
        </p:spPr>
      </p:sp>
      <p:sp>
        <p:nvSpPr>
          <p:cNvPr id="15" name="Text 12"/>
          <p:cNvSpPr txBox="1"/>
          <p:nvPr/>
        </p:nvSpPr>
        <p:spPr>
          <a:xfrm>
            <a:off x="841248" y="3182112"/>
            <a:ext cx="256032" cy="256032"/>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6" name="Text 13"/>
          <p:cNvSpPr txBox="1"/>
          <p:nvPr/>
        </p:nvSpPr>
        <p:spPr>
          <a:xfrm>
            <a:off x="1188720" y="3163824"/>
            <a:ext cx="4431640" cy="292608"/>
          </a:xfrm>
          <a:prstGeom prst="rect">
            <a:avLst/>
          </a:prstGeom>
          <a:noFill/>
          <a:ln/>
        </p:spPr>
        <p:txBody>
          <a:bodyPr wrap="square" lIns="0" tIns="0" rIns="0" bIns="0" rtlCol="0" anchor="ctr"/>
          <a:lstStyle/>
          <a:p>
            <a:pPr marL="0" indent="0">
              <a:buNone/>
            </a:pPr>
            <a:r>
              <a:rPr lang="en-US" sz="1250" dirty="0">
                <a:solidFill>
                  <a:srgbClr val="101828"/>
                </a:solidFill>
                <a:latin typeface="Calibri" pitchFamily="34" charset="0"/>
                <a:ea typeface="Calibri" pitchFamily="34" charset="-122"/>
                <a:cs typeface="Calibri" pitchFamily="34" charset="-120"/>
              </a:rPr>
              <a:t>The department's registration</a:t>
            </a:r>
            <a:endParaRPr lang="en-US" sz="1250" dirty="0"/>
          </a:p>
        </p:txBody>
      </p:sp>
      <p:sp>
        <p:nvSpPr>
          <p:cNvPr id="17" name="dot-4"/>
          <p:cNvSpPr/>
          <p:nvPr/>
        </p:nvSpPr>
        <p:spPr>
          <a:xfrm>
            <a:off x="841248" y="3520440"/>
            <a:ext cx="256032" cy="256032"/>
          </a:xfrm>
          <a:prstGeom prst="ellipse">
            <a:avLst/>
          </a:prstGeom>
          <a:solidFill>
            <a:srgbClr val="15285C"/>
          </a:solidFill>
          <a:ln w="12700">
            <a:solidFill>
              <a:srgbClr val="15285C"/>
            </a:solidFill>
            <a:prstDash val="solid"/>
          </a:ln>
        </p:spPr>
      </p:sp>
      <p:sp>
        <p:nvSpPr>
          <p:cNvPr id="18" name="Text 15"/>
          <p:cNvSpPr txBox="1"/>
          <p:nvPr/>
        </p:nvSpPr>
        <p:spPr>
          <a:xfrm>
            <a:off x="841248" y="3520440"/>
            <a:ext cx="256032" cy="256032"/>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19" name="Text 16"/>
          <p:cNvSpPr txBox="1"/>
          <p:nvPr/>
        </p:nvSpPr>
        <p:spPr>
          <a:xfrm>
            <a:off x="1188720" y="3502152"/>
            <a:ext cx="4431640" cy="292608"/>
          </a:xfrm>
          <a:prstGeom prst="rect">
            <a:avLst/>
          </a:prstGeom>
          <a:noFill/>
          <a:ln/>
        </p:spPr>
        <p:txBody>
          <a:bodyPr wrap="square" lIns="0" tIns="0" rIns="0" bIns="0" rtlCol="0" anchor="ctr"/>
          <a:lstStyle/>
          <a:p>
            <a:pPr marL="0" indent="0">
              <a:buNone/>
            </a:pPr>
            <a:r>
              <a:rPr lang="en-US" sz="1250" dirty="0">
                <a:solidFill>
                  <a:srgbClr val="101828"/>
                </a:solidFill>
                <a:latin typeface="Calibri" pitchFamily="34" charset="0"/>
                <a:ea typeface="Calibri" pitchFamily="34" charset="-122"/>
                <a:cs typeface="Calibri" pitchFamily="34" charset="-120"/>
              </a:rPr>
              <a:t>The default registration</a:t>
            </a:r>
            <a:endParaRPr lang="en-US" sz="1250" dirty="0"/>
          </a:p>
        </p:txBody>
      </p:sp>
      <p:sp>
        <p:nvSpPr>
          <p:cNvPr id="20" name="g-right"/>
          <p:cNvSpPr/>
          <p:nvPr/>
        </p:nvSpPr>
        <p:spPr>
          <a:xfrm>
            <a:off x="6278728" y="1627632"/>
            <a:ext cx="5346040" cy="2286000"/>
          </a:xfrm>
          <a:prstGeom prst="roundRect">
            <a:avLst>
              <a:gd name="adj" fmla="val 2800"/>
            </a:avLst>
          </a:prstGeom>
          <a:solidFill>
            <a:srgbClr val="EEF2FA"/>
          </a:solidFill>
          <a:ln w="12700">
            <a:solidFill>
              <a:srgbClr val="DCE4F2"/>
            </a:solidFill>
            <a:prstDash val="solid"/>
          </a:ln>
        </p:spPr>
      </p:sp>
      <p:sp>
        <p:nvSpPr>
          <p:cNvPr id="21" name="Text 18"/>
          <p:cNvSpPr txBox="1"/>
          <p:nvPr/>
        </p:nvSpPr>
        <p:spPr>
          <a:xfrm>
            <a:off x="6516472" y="1865376"/>
            <a:ext cx="4870552" cy="295021"/>
          </a:xfrm>
          <a:prstGeom prst="rect">
            <a:avLst/>
          </a:prstGeom>
          <a:noFill/>
          <a:ln/>
        </p:spPr>
        <p:txBody>
          <a:bodyPr wrap="square" lIns="0" tIns="0" rIns="0" bIns="0" rtlCol="0" anchor="ctr"/>
          <a:lstStyle/>
          <a:p>
            <a:pPr marL="0" indent="0">
              <a:buNone/>
            </a:pPr>
            <a:r>
              <a:rPr lang="en-US" sz="1550" b="1" dirty="0">
                <a:solidFill>
                  <a:srgbClr val="15285C"/>
                </a:solidFill>
              </a:rPr>
              <a:t>And then the split is right</a:t>
            </a:r>
            <a:endParaRPr lang="en-US" sz="1550" dirty="0"/>
          </a:p>
        </p:txBody>
      </p:sp>
      <p:sp>
        <p:nvSpPr>
          <p:cNvPr id="22" name="Text 19"/>
          <p:cNvSpPr txBox="1"/>
          <p:nvPr/>
        </p:nvSpPr>
        <p:spPr>
          <a:xfrm>
            <a:off x="6516472" y="2233549"/>
            <a:ext cx="4870552" cy="1513662"/>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A supplier in the same state as the registration charges CGST and SGST</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A supplier in another state charges IGST</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The screen warns when the bill in front of you disagrees with the two states</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One TAN for the company, or one per state — your choice</a:t>
            </a:r>
            <a:endParaRPr lang="en-US" sz="1350" dirty="0"/>
          </a:p>
        </p:txBody>
      </p:sp>
      <p:sp>
        <p:nvSpPr>
          <p:cNvPr id="23" name="g-note"/>
          <p:cNvSpPr/>
          <p:nvPr/>
        </p:nvSpPr>
        <p:spPr>
          <a:xfrm>
            <a:off x="566928" y="4142232"/>
            <a:ext cx="11057839" cy="1463040"/>
          </a:xfrm>
          <a:prstGeom prst="roundRect">
            <a:avLst>
              <a:gd name="adj" fmla="val 4375"/>
            </a:avLst>
          </a:prstGeom>
          <a:solidFill>
            <a:srgbClr val="FBF3E4"/>
          </a:solidFill>
          <a:ln w="12700">
            <a:solidFill>
              <a:srgbClr val="EBD9B4"/>
            </a:solidFill>
            <a:prstDash val="solid"/>
          </a:ln>
        </p:spPr>
      </p:sp>
      <p:sp>
        <p:nvSpPr>
          <p:cNvPr id="24" name="Text 21"/>
          <p:cNvSpPr txBox="1"/>
          <p:nvPr/>
        </p:nvSpPr>
        <p:spPr>
          <a:xfrm>
            <a:off x="804672" y="4379976"/>
            <a:ext cx="10582351" cy="295021"/>
          </a:xfrm>
          <a:prstGeom prst="rect">
            <a:avLst/>
          </a:prstGeom>
          <a:noFill/>
          <a:ln/>
        </p:spPr>
        <p:txBody>
          <a:bodyPr wrap="square" lIns="0" tIns="0" rIns="0" bIns="0" rtlCol="0" anchor="ctr"/>
          <a:lstStyle/>
          <a:p>
            <a:pPr marL="0" indent="0">
              <a:buNone/>
            </a:pPr>
            <a:r>
              <a:rPr lang="en-US" sz="1550" b="1" dirty="0">
                <a:solidFill>
                  <a:srgbClr val="15285C"/>
                </a:solidFill>
              </a:rPr>
              <a:t>What to set up first</a:t>
            </a:r>
            <a:endParaRPr lang="en-US" sz="1550" dirty="0"/>
          </a:p>
        </p:txBody>
      </p:sp>
      <p:sp>
        <p:nvSpPr>
          <p:cNvPr id="25" name="Text 22"/>
          <p:cNvSpPr txBox="1"/>
          <p:nvPr/>
        </p:nvSpPr>
        <p:spPr>
          <a:xfrm>
            <a:off x="804672" y="4748149"/>
            <a:ext cx="10582351" cy="690702"/>
          </a:xfrm>
          <a:prstGeom prst="rect">
            <a:avLst/>
          </a:prstGeom>
          <a:noFill/>
          <a:ln/>
        </p:spPr>
        <p:txBody>
          <a:bodyPr wrap="square" lIns="0" tIns="0" rIns="0" bIns="0" rtlCol="0" anchor="t"/>
          <a:lstStyle/>
          <a:p>
            <a:pPr marL="0" indent="0">
              <a:buNone/>
            </a:pPr>
            <a:r>
              <a:rPr lang="en-US" sz="1450" dirty="0">
                <a:solidFill>
                  <a:srgbClr val="101828"/>
                </a:solidFill>
                <a:latin typeface="Calibri" pitchFamily="34" charset="0"/>
                <a:ea typeface="Calibri" pitchFamily="34" charset="-122"/>
                <a:cs typeface="Calibri" pitchFamily="34" charset="-120"/>
              </a:rPr>
              <a:t>Add the seven GSTINs, then map each project to its state. The settings page has a live example: pick a project and it shows you exactly which registration that bill would land in, and why.</a:t>
            </a:r>
            <a:endParaRPr lang="en-US" sz="1450" dirty="0"/>
          </a:p>
        </p:txBody>
      </p:sp>
      <p:sp>
        <p:nvSpPr>
          <p:cNvPr id="4" name="Slide Number Placeholder 0"/>
          <p:cNvSpPr>
            <a:spLocks noGrp="1"/>
          </p:cNvSpPr>
          <p:nvPr>
            <p:ph type="sldNum" sz="quarter" idx="4294967295"/>
          </p:nvPr>
        </p:nvSpPr>
        <p:spPr>
          <a:xfrm>
            <a:off x="1143000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950">
                <a:solidFill>
                  <a:srgbClr val="A8B0BD"/>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lide-title"/>
          <p:cNvSpPr txBox="1"/>
          <p:nvPr/>
        </p:nvSpPr>
        <p:spPr>
          <a:xfrm>
            <a:off x="566928" y="438912"/>
            <a:ext cx="11057839" cy="603504"/>
          </a:xfrm>
          <a:prstGeom prst="rect">
            <a:avLst/>
          </a:prstGeom>
          <a:noFill/>
          <a:ln/>
        </p:spPr>
        <p:txBody>
          <a:bodyPr wrap="square" lIns="0" tIns="0" rIns="0" bIns="0" rtlCol="0" anchor="ctr"/>
          <a:lstStyle/>
          <a:p>
            <a:pPr marL="0" indent="0">
              <a:buNone/>
            </a:pPr>
            <a:r>
              <a:rPr lang="en-US" sz="3000" b="1" dirty="0">
                <a:solidFill>
                  <a:srgbClr val="15285C"/>
                </a:solidFill>
              </a:rPr>
              <a:t>Two kinds of GST, never added together</a:t>
            </a:r>
            <a:endParaRPr lang="en-US" sz="3000" dirty="0"/>
          </a:p>
        </p:txBody>
      </p:sp>
      <p:sp>
        <p:nvSpPr>
          <p:cNvPr id="3" name="slide-lead"/>
          <p:cNvSpPr txBox="1"/>
          <p:nvPr/>
        </p:nvSpPr>
        <p:spPr>
          <a:xfrm>
            <a:off x="566928" y="1060704"/>
            <a:ext cx="11057839" cy="402336"/>
          </a:xfrm>
          <a:prstGeom prst="rect">
            <a:avLst/>
          </a:prstGeom>
          <a:noFill/>
          <a:ln/>
        </p:spPr>
        <p:txBody>
          <a:bodyPr wrap="square" lIns="0" tIns="0" rIns="0" bIns="0" rtlCol="0" anchor="ctr"/>
          <a:lstStyle/>
          <a:p>
            <a:pPr marL="0" indent="0">
              <a:buNone/>
            </a:pPr>
            <a:r>
              <a:rPr lang="en-US" sz="1450" dirty="0">
                <a:solidFill>
                  <a:srgbClr val="5A6577"/>
                </a:solidFill>
                <a:latin typeface="Calibri" pitchFamily="34" charset="0"/>
                <a:ea typeface="Calibri" pitchFamily="34" charset="-122"/>
                <a:cs typeface="Calibri" pitchFamily="34" charset="-120"/>
              </a:rPr>
              <a:t>On a payment register they fall on opposite sides of the return.</a:t>
            </a:r>
            <a:endParaRPr lang="en-US" sz="1450" dirty="0"/>
          </a:p>
        </p:txBody>
      </p:sp>
      <p:sp>
        <p:nvSpPr>
          <p:cNvPr id="5" name="itc"/>
          <p:cNvSpPr/>
          <p:nvPr/>
        </p:nvSpPr>
        <p:spPr>
          <a:xfrm>
            <a:off x="566928" y="1627632"/>
            <a:ext cx="5318608" cy="2286000"/>
          </a:xfrm>
          <a:prstGeom prst="roundRect">
            <a:avLst>
              <a:gd name="adj" fmla="val 2800"/>
            </a:avLst>
          </a:prstGeom>
          <a:solidFill>
            <a:srgbClr val="F3F7EF"/>
          </a:solidFill>
          <a:ln w="12700">
            <a:solidFill>
              <a:srgbClr val="CFE2C4"/>
            </a:solidFill>
            <a:prstDash val="solid"/>
          </a:ln>
        </p:spPr>
      </p:sp>
      <p:sp>
        <p:nvSpPr>
          <p:cNvPr id="6" name="Text 3"/>
          <p:cNvSpPr txBox="1"/>
          <p:nvPr/>
        </p:nvSpPr>
        <p:spPr>
          <a:xfrm>
            <a:off x="804672" y="1865376"/>
            <a:ext cx="4843120" cy="295021"/>
          </a:xfrm>
          <a:prstGeom prst="rect">
            <a:avLst/>
          </a:prstGeom>
          <a:noFill/>
          <a:ln/>
        </p:spPr>
        <p:txBody>
          <a:bodyPr wrap="square" lIns="0" tIns="0" rIns="0" bIns="0" rtlCol="0" anchor="ctr"/>
          <a:lstStyle/>
          <a:p>
            <a:pPr marL="0" indent="0">
              <a:buNone/>
            </a:pPr>
            <a:r>
              <a:rPr lang="en-US" sz="1550" b="1" dirty="0">
                <a:solidFill>
                  <a:srgbClr val="0E5B42"/>
                </a:solidFill>
              </a:rPr>
              <a:t>Input credit (ITC) — comes back to you</a:t>
            </a:r>
            <a:endParaRPr lang="en-US" sz="1550" dirty="0"/>
          </a:p>
        </p:txBody>
      </p:sp>
      <p:sp>
        <p:nvSpPr>
          <p:cNvPr id="7" name="Text 4"/>
          <p:cNvSpPr txBox="1"/>
          <p:nvPr/>
        </p:nvSpPr>
        <p:spPr>
          <a:xfrm>
            <a:off x="804672" y="2233549"/>
            <a:ext cx="4843120" cy="1513662"/>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GST your supplier charged on a normal bill</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You claim it against your output liability</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Shown per registration, split into CGST, SGST and IGST</a:t>
            </a:r>
            <a:endParaRPr lang="en-US" sz="1350" dirty="0"/>
          </a:p>
        </p:txBody>
      </p:sp>
      <p:sp>
        <p:nvSpPr>
          <p:cNvPr id="8" name="rcm"/>
          <p:cNvSpPr/>
          <p:nvPr/>
        </p:nvSpPr>
        <p:spPr>
          <a:xfrm>
            <a:off x="6306160" y="1627632"/>
            <a:ext cx="5318608" cy="2286000"/>
          </a:xfrm>
          <a:prstGeom prst="roundRect">
            <a:avLst>
              <a:gd name="adj" fmla="val 2800"/>
            </a:avLst>
          </a:prstGeom>
          <a:solidFill>
            <a:srgbClr val="FBF0EC"/>
          </a:solidFill>
          <a:ln w="12700">
            <a:solidFill>
              <a:srgbClr val="EFD2C7"/>
            </a:solidFill>
            <a:prstDash val="solid"/>
          </a:ln>
        </p:spPr>
      </p:sp>
      <p:sp>
        <p:nvSpPr>
          <p:cNvPr id="9" name="Text 6"/>
          <p:cNvSpPr txBox="1"/>
          <p:nvPr/>
        </p:nvSpPr>
        <p:spPr>
          <a:xfrm>
            <a:off x="6543904" y="1865376"/>
            <a:ext cx="4843120" cy="295021"/>
          </a:xfrm>
          <a:prstGeom prst="rect">
            <a:avLst/>
          </a:prstGeom>
          <a:noFill/>
          <a:ln/>
        </p:spPr>
        <p:txBody>
          <a:bodyPr wrap="square" lIns="0" tIns="0" rIns="0" bIns="0" rtlCol="0" anchor="ctr"/>
          <a:lstStyle/>
          <a:p>
            <a:pPr marL="0" indent="0">
              <a:buNone/>
            </a:pPr>
            <a:r>
              <a:rPr lang="en-US" sz="1550" b="1" dirty="0">
                <a:solidFill>
                  <a:srgbClr val="8C3A1E"/>
                </a:solidFill>
              </a:rPr>
              <a:t>Output payable (RCM) — goes out from you</a:t>
            </a:r>
            <a:endParaRPr lang="en-US" sz="1550" dirty="0"/>
          </a:p>
        </p:txBody>
      </p:sp>
      <p:sp>
        <p:nvSpPr>
          <p:cNvPr id="10" name="Text 7"/>
          <p:cNvSpPr txBox="1"/>
          <p:nvPr/>
        </p:nvSpPr>
        <p:spPr>
          <a:xfrm>
            <a:off x="6543904" y="2233549"/>
            <a:ext cx="4843120" cy="1513662"/>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On a reverse-charge bill the supplier charges nothing</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Your company pays that GST to the government itself</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A liability, not a credit — and reported as its own figure</a:t>
            </a:r>
            <a:endParaRPr lang="en-US" sz="1350" dirty="0"/>
          </a:p>
        </p:txBody>
      </p:sp>
      <p:sp>
        <p:nvSpPr>
          <p:cNvPr id="11" name="itc-arrow"/>
          <p:cNvSpPr/>
          <p:nvPr/>
        </p:nvSpPr>
        <p:spPr>
          <a:xfrm>
            <a:off x="5318608" y="3410712"/>
            <a:ext cx="310896" cy="365760"/>
          </a:xfrm>
          <a:prstGeom prst="downArrow">
            <a:avLst/>
          </a:prstGeom>
          <a:solidFill>
            <a:srgbClr val="0E7A58"/>
          </a:solidFill>
          <a:ln w="12700">
            <a:solidFill>
              <a:srgbClr val="0E7A58"/>
            </a:solidFill>
            <a:prstDash val="solid"/>
          </a:ln>
        </p:spPr>
      </p:sp>
      <p:sp>
        <p:nvSpPr>
          <p:cNvPr id="12" name="rcm-arrow"/>
          <p:cNvSpPr/>
          <p:nvPr/>
        </p:nvSpPr>
        <p:spPr>
          <a:xfrm>
            <a:off x="11057839" y="3410712"/>
            <a:ext cx="310896" cy="365760"/>
          </a:xfrm>
          <a:prstGeom prst="upArrow">
            <a:avLst/>
          </a:prstGeom>
          <a:solidFill>
            <a:srgbClr val="A6281F"/>
          </a:solidFill>
          <a:ln w="12700">
            <a:solidFill>
              <a:srgbClr val="A6281F"/>
            </a:solidFill>
            <a:prstDash val="solid"/>
          </a:ln>
        </p:spPr>
      </p:sp>
      <p:sp>
        <p:nvSpPr>
          <p:cNvPr id="13" name="tds"/>
          <p:cNvSpPr/>
          <p:nvPr/>
        </p:nvSpPr>
        <p:spPr>
          <a:xfrm>
            <a:off x="566928" y="4142232"/>
            <a:ext cx="11057839" cy="1463040"/>
          </a:xfrm>
          <a:prstGeom prst="roundRect">
            <a:avLst>
              <a:gd name="adj" fmla="val 4375"/>
            </a:avLst>
          </a:prstGeom>
          <a:solidFill>
            <a:srgbClr val="EEF2FA"/>
          </a:solidFill>
          <a:ln w="12700">
            <a:solidFill>
              <a:srgbClr val="DCE4F2"/>
            </a:solidFill>
            <a:prstDash val="solid"/>
          </a:ln>
        </p:spPr>
      </p:sp>
      <p:sp>
        <p:nvSpPr>
          <p:cNvPr id="14" name="Text 11"/>
          <p:cNvSpPr txBox="1"/>
          <p:nvPr/>
        </p:nvSpPr>
        <p:spPr>
          <a:xfrm>
            <a:off x="804672" y="4379976"/>
            <a:ext cx="10582351" cy="295021"/>
          </a:xfrm>
          <a:prstGeom prst="rect">
            <a:avLst/>
          </a:prstGeom>
          <a:noFill/>
          <a:ln/>
        </p:spPr>
        <p:txBody>
          <a:bodyPr wrap="square" lIns="0" tIns="0" rIns="0" bIns="0" rtlCol="0" anchor="ctr"/>
          <a:lstStyle/>
          <a:p>
            <a:pPr marL="0" indent="0">
              <a:buNone/>
            </a:pPr>
            <a:r>
              <a:rPr lang="en-US" sz="1550" b="1" dirty="0">
                <a:solidFill>
                  <a:srgbClr val="15285C"/>
                </a:solidFill>
              </a:rPr>
              <a:t>And TDS is a third thing again</a:t>
            </a:r>
            <a:endParaRPr lang="en-US" sz="1550" dirty="0"/>
          </a:p>
        </p:txBody>
      </p:sp>
      <p:sp>
        <p:nvSpPr>
          <p:cNvPr id="15" name="Text 12"/>
          <p:cNvSpPr txBox="1"/>
          <p:nvPr/>
        </p:nvSpPr>
        <p:spPr>
          <a:xfrm>
            <a:off x="804672" y="4748149"/>
            <a:ext cx="10582351" cy="690702"/>
          </a:xfrm>
          <a:prstGeom prst="rect">
            <a:avLst/>
          </a:prstGeom>
          <a:noFill/>
          <a:ln/>
        </p:spPr>
        <p:txBody>
          <a:bodyPr wrap="square" lIns="0" tIns="0" rIns="0" bIns="0" rtlCol="0" anchor="t"/>
          <a:lstStyle/>
          <a:p>
            <a:pPr marL="0" indent="0">
              <a:buNone/>
            </a:pPr>
            <a:r>
              <a:rPr lang="en-US" sz="1450" dirty="0">
                <a:solidFill>
                  <a:srgbClr val="101828"/>
                </a:solidFill>
                <a:latin typeface="Calibri" pitchFamily="34" charset="0"/>
                <a:ea typeface="Calibri" pitchFamily="34" charset="-122"/>
                <a:cs typeface="Calibri" pitchFamily="34" charset="-120"/>
              </a:rPr>
              <a:t>Tax withheld from the supplier, which your company has to deposit. It is not GST and belongs on neither side above. The report keeps all three apart — by registration, and by TAN where each state files its own return.</a:t>
            </a:r>
            <a:endParaRPr lang="en-US" sz="1450" dirty="0"/>
          </a:p>
        </p:txBody>
      </p:sp>
      <p:sp>
        <p:nvSpPr>
          <p:cNvPr id="25" name="Slide Number Placeholder 0"/>
          <p:cNvSpPr>
            <a:spLocks noGrp="1"/>
          </p:cNvSpPr>
          <p:nvPr>
            <p:ph type="sldNum" sz="quarter" idx="4294967295"/>
          </p:nvPr>
        </p:nvSpPr>
        <p:spPr>
          <a:xfrm>
            <a:off x="1143000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950">
                <a:solidFill>
                  <a:srgbClr val="A8B0BD"/>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lide-title"/>
          <p:cNvSpPr txBox="1"/>
          <p:nvPr/>
        </p:nvSpPr>
        <p:spPr>
          <a:xfrm>
            <a:off x="566928" y="438912"/>
            <a:ext cx="11057839" cy="603504"/>
          </a:xfrm>
          <a:prstGeom prst="rect">
            <a:avLst/>
          </a:prstGeom>
          <a:noFill/>
          <a:ln/>
        </p:spPr>
        <p:txBody>
          <a:bodyPr wrap="square" lIns="0" tIns="0" rIns="0" bIns="0" rtlCol="0" anchor="ctr"/>
          <a:lstStyle/>
          <a:p>
            <a:pPr marL="0" indent="0">
              <a:buNone/>
            </a:pPr>
            <a:r>
              <a:rPr lang="en-US" sz="3000" b="1" dirty="0">
                <a:solidFill>
                  <a:srgbClr val="15285C"/>
                </a:solidFill>
              </a:rPr>
              <a:t>Protecting the credit you are entitled to</a:t>
            </a:r>
            <a:endParaRPr lang="en-US" sz="3000" dirty="0"/>
          </a:p>
        </p:txBody>
      </p:sp>
      <p:sp>
        <p:nvSpPr>
          <p:cNvPr id="3" name="slide-lead"/>
          <p:cNvSpPr txBox="1"/>
          <p:nvPr/>
        </p:nvSpPr>
        <p:spPr>
          <a:xfrm>
            <a:off x="566928" y="1060704"/>
            <a:ext cx="11057839" cy="402336"/>
          </a:xfrm>
          <a:prstGeom prst="rect">
            <a:avLst/>
          </a:prstGeom>
          <a:noFill/>
          <a:ln/>
        </p:spPr>
        <p:txBody>
          <a:bodyPr wrap="square" lIns="0" tIns="0" rIns="0" bIns="0" rtlCol="0" anchor="ctr"/>
          <a:lstStyle/>
          <a:p>
            <a:pPr marL="0" indent="0">
              <a:buNone/>
            </a:pPr>
            <a:r>
              <a:rPr lang="en-US" sz="1450" dirty="0">
                <a:solidFill>
                  <a:srgbClr val="5A6577"/>
                </a:solidFill>
                <a:latin typeface="Calibri" pitchFamily="34" charset="0"/>
                <a:ea typeface="Calibri" pitchFamily="34" charset="-122"/>
                <a:cs typeface="Calibri" pitchFamily="34" charset="-120"/>
              </a:rPr>
              <a:t>Four checks that find bills whose input credit cannot be claimed as things stand.</a:t>
            </a:r>
            <a:endParaRPr lang="en-US" sz="1450" dirty="0"/>
          </a:p>
        </p:txBody>
      </p:sp>
      <p:sp>
        <p:nvSpPr>
          <p:cNvPr id="5" name="chk-0"/>
          <p:cNvSpPr/>
          <p:nvPr/>
        </p:nvSpPr>
        <p:spPr>
          <a:xfrm>
            <a:off x="566928" y="1627632"/>
            <a:ext cx="5391760" cy="1042416"/>
          </a:xfrm>
          <a:prstGeom prst="roundRect">
            <a:avLst>
              <a:gd name="adj" fmla="val 5263"/>
            </a:avLst>
          </a:prstGeom>
          <a:solidFill>
            <a:srgbClr val="FFFFFF"/>
          </a:solidFill>
          <a:ln w="12700">
            <a:solidFill>
              <a:srgbClr val="DCE4F2"/>
            </a:solidFill>
            <a:prstDash val="solid"/>
          </a:ln>
        </p:spPr>
      </p:sp>
      <p:sp>
        <p:nvSpPr>
          <p:cNvPr id="6" name="chk-dot-0"/>
          <p:cNvSpPr/>
          <p:nvPr/>
        </p:nvSpPr>
        <p:spPr>
          <a:xfrm>
            <a:off x="786384" y="1956816"/>
            <a:ext cx="164592" cy="164592"/>
          </a:xfrm>
          <a:prstGeom prst="ellipse">
            <a:avLst/>
          </a:prstGeom>
          <a:solidFill>
            <a:srgbClr val="A6281F"/>
          </a:solidFill>
          <a:ln w="12700">
            <a:solidFill>
              <a:srgbClr val="A6281F"/>
            </a:solidFill>
            <a:prstDash val="solid"/>
          </a:ln>
        </p:spPr>
      </p:sp>
      <p:sp>
        <p:nvSpPr>
          <p:cNvPr id="7" name="Text 4"/>
          <p:cNvSpPr txBox="1"/>
          <p:nvPr/>
        </p:nvSpPr>
        <p:spPr>
          <a:xfrm>
            <a:off x="1078992" y="1810512"/>
            <a:ext cx="4660240" cy="329184"/>
          </a:xfrm>
          <a:prstGeom prst="rect">
            <a:avLst/>
          </a:prstGeom>
          <a:noFill/>
          <a:ln/>
        </p:spPr>
        <p:txBody>
          <a:bodyPr wrap="square" lIns="0" tIns="0" rIns="0" bIns="0" rtlCol="0" anchor="ctr"/>
          <a:lstStyle/>
          <a:p>
            <a:pPr marL="0" indent="0">
              <a:buNone/>
            </a:pPr>
            <a:r>
              <a:rPr lang="en-US" sz="1400" b="1" dirty="0">
                <a:solidFill>
                  <a:srgbClr val="15285C"/>
                </a:solidFill>
              </a:rPr>
              <a:t>GST charged, but no supplier GSTIN</a:t>
            </a:r>
            <a:endParaRPr lang="en-US" sz="1400" dirty="0"/>
          </a:p>
        </p:txBody>
      </p:sp>
      <p:sp>
        <p:nvSpPr>
          <p:cNvPr id="8" name="Text 5"/>
          <p:cNvSpPr txBox="1"/>
          <p:nvPr/>
        </p:nvSpPr>
        <p:spPr>
          <a:xfrm>
            <a:off x="1078992" y="2139696"/>
            <a:ext cx="4660240" cy="402336"/>
          </a:xfrm>
          <a:prstGeom prst="rect">
            <a:avLst/>
          </a:prstGeom>
          <a:noFill/>
          <a:ln/>
        </p:spPr>
        <p:txBody>
          <a:bodyPr wrap="square" lIns="0" tIns="0" rIns="0" bIns="0" rtlCol="0" anchor="t"/>
          <a:lstStyle/>
          <a:p>
            <a:pPr marL="0" indent="0">
              <a:buNone/>
            </a:pPr>
            <a:r>
              <a:rPr lang="en-US" sz="1150" dirty="0">
                <a:solidFill>
                  <a:srgbClr val="5A6577"/>
                </a:solidFill>
                <a:latin typeface="Calibri" pitchFamily="34" charset="0"/>
                <a:ea typeface="Calibri" pitchFamily="34" charset="-122"/>
                <a:cs typeface="Calibri" pitchFamily="34" charset="-120"/>
              </a:rPr>
              <a:t>Without the number the credit cannot be matched or claimed</a:t>
            </a:r>
            <a:endParaRPr lang="en-US" sz="1150" dirty="0"/>
          </a:p>
        </p:txBody>
      </p:sp>
      <p:sp>
        <p:nvSpPr>
          <p:cNvPr id="9" name="chk-1"/>
          <p:cNvSpPr/>
          <p:nvPr/>
        </p:nvSpPr>
        <p:spPr>
          <a:xfrm>
            <a:off x="6233008" y="1627632"/>
            <a:ext cx="5391760" cy="1042416"/>
          </a:xfrm>
          <a:prstGeom prst="roundRect">
            <a:avLst>
              <a:gd name="adj" fmla="val 5263"/>
            </a:avLst>
          </a:prstGeom>
          <a:solidFill>
            <a:srgbClr val="FFFFFF"/>
          </a:solidFill>
          <a:ln w="12700">
            <a:solidFill>
              <a:srgbClr val="DCE4F2"/>
            </a:solidFill>
            <a:prstDash val="solid"/>
          </a:ln>
        </p:spPr>
      </p:sp>
      <p:sp>
        <p:nvSpPr>
          <p:cNvPr id="10" name="chk-dot-1"/>
          <p:cNvSpPr/>
          <p:nvPr/>
        </p:nvSpPr>
        <p:spPr>
          <a:xfrm>
            <a:off x="6452464" y="1956816"/>
            <a:ext cx="164592" cy="164592"/>
          </a:xfrm>
          <a:prstGeom prst="ellipse">
            <a:avLst/>
          </a:prstGeom>
          <a:solidFill>
            <a:srgbClr val="A6281F"/>
          </a:solidFill>
          <a:ln w="12700">
            <a:solidFill>
              <a:srgbClr val="A6281F"/>
            </a:solidFill>
            <a:prstDash val="solid"/>
          </a:ln>
        </p:spPr>
      </p:sp>
      <p:sp>
        <p:nvSpPr>
          <p:cNvPr id="11" name="Text 8"/>
          <p:cNvSpPr txBox="1"/>
          <p:nvPr/>
        </p:nvSpPr>
        <p:spPr>
          <a:xfrm>
            <a:off x="6745072" y="1810512"/>
            <a:ext cx="4660240" cy="329184"/>
          </a:xfrm>
          <a:prstGeom prst="rect">
            <a:avLst/>
          </a:prstGeom>
          <a:noFill/>
          <a:ln/>
        </p:spPr>
        <p:txBody>
          <a:bodyPr wrap="square" lIns="0" tIns="0" rIns="0" bIns="0" rtlCol="0" anchor="ctr"/>
          <a:lstStyle/>
          <a:p>
            <a:pPr marL="0" indent="0">
              <a:buNone/>
            </a:pPr>
            <a:r>
              <a:rPr lang="en-US" sz="1400" b="1" dirty="0">
                <a:solidFill>
                  <a:srgbClr val="15285C"/>
                </a:solidFill>
              </a:rPr>
              <a:t>No invoice number or date</a:t>
            </a:r>
            <a:endParaRPr lang="en-US" sz="1400" dirty="0"/>
          </a:p>
        </p:txBody>
      </p:sp>
      <p:sp>
        <p:nvSpPr>
          <p:cNvPr id="12" name="Text 9"/>
          <p:cNvSpPr txBox="1"/>
          <p:nvPr/>
        </p:nvSpPr>
        <p:spPr>
          <a:xfrm>
            <a:off x="6745072" y="2139696"/>
            <a:ext cx="4660240" cy="402336"/>
          </a:xfrm>
          <a:prstGeom prst="rect">
            <a:avLst/>
          </a:prstGeom>
          <a:noFill/>
          <a:ln/>
        </p:spPr>
        <p:txBody>
          <a:bodyPr wrap="square" lIns="0" tIns="0" rIns="0" bIns="0" rtlCol="0" anchor="t"/>
          <a:lstStyle/>
          <a:p>
            <a:pPr marL="0" indent="0">
              <a:buNone/>
            </a:pPr>
            <a:r>
              <a:rPr lang="en-US" sz="1150" dirty="0">
                <a:solidFill>
                  <a:srgbClr val="5A6577"/>
                </a:solidFill>
                <a:latin typeface="Calibri" pitchFamily="34" charset="0"/>
                <a:ea typeface="Calibri" pitchFamily="34" charset="-122"/>
                <a:cs typeface="Calibri" pitchFamily="34" charset="-120"/>
              </a:rPr>
              <a:t>Both are needed to claim; a bill without them sits unclaimed</a:t>
            </a:r>
            <a:endParaRPr lang="en-US" sz="1150" dirty="0"/>
          </a:p>
        </p:txBody>
      </p:sp>
      <p:sp>
        <p:nvSpPr>
          <p:cNvPr id="13" name="chk-2"/>
          <p:cNvSpPr/>
          <p:nvPr/>
        </p:nvSpPr>
        <p:spPr>
          <a:xfrm>
            <a:off x="566928" y="2834640"/>
            <a:ext cx="5391760" cy="1042416"/>
          </a:xfrm>
          <a:prstGeom prst="roundRect">
            <a:avLst>
              <a:gd name="adj" fmla="val 5263"/>
            </a:avLst>
          </a:prstGeom>
          <a:solidFill>
            <a:srgbClr val="FFFFFF"/>
          </a:solidFill>
          <a:ln w="12700">
            <a:solidFill>
              <a:srgbClr val="DCE4F2"/>
            </a:solidFill>
            <a:prstDash val="solid"/>
          </a:ln>
        </p:spPr>
      </p:sp>
      <p:sp>
        <p:nvSpPr>
          <p:cNvPr id="14" name="chk-dot-2"/>
          <p:cNvSpPr/>
          <p:nvPr/>
        </p:nvSpPr>
        <p:spPr>
          <a:xfrm>
            <a:off x="786384" y="3163824"/>
            <a:ext cx="164592" cy="164592"/>
          </a:xfrm>
          <a:prstGeom prst="ellipse">
            <a:avLst/>
          </a:prstGeom>
          <a:solidFill>
            <a:srgbClr val="B4801A"/>
          </a:solidFill>
          <a:ln w="12700">
            <a:solidFill>
              <a:srgbClr val="B4801A"/>
            </a:solidFill>
            <a:prstDash val="solid"/>
          </a:ln>
        </p:spPr>
      </p:sp>
      <p:sp>
        <p:nvSpPr>
          <p:cNvPr id="15" name="Text 12"/>
          <p:cNvSpPr txBox="1"/>
          <p:nvPr/>
        </p:nvSpPr>
        <p:spPr>
          <a:xfrm>
            <a:off x="1078992" y="3017520"/>
            <a:ext cx="4660240" cy="329184"/>
          </a:xfrm>
          <a:prstGeom prst="rect">
            <a:avLst/>
          </a:prstGeom>
          <a:noFill/>
          <a:ln/>
        </p:spPr>
        <p:txBody>
          <a:bodyPr wrap="square" lIns="0" tIns="0" rIns="0" bIns="0" rtlCol="0" anchor="ctr"/>
          <a:lstStyle/>
          <a:p>
            <a:pPr marL="0" indent="0">
              <a:buNone/>
            </a:pPr>
            <a:r>
              <a:rPr lang="en-US" sz="1400" b="1" dirty="0">
                <a:solidFill>
                  <a:srgbClr val="15285C"/>
                </a:solidFill>
              </a:rPr>
              <a:t>The wrong split for the two states</a:t>
            </a:r>
            <a:endParaRPr lang="en-US" sz="1400" dirty="0"/>
          </a:p>
        </p:txBody>
      </p:sp>
      <p:sp>
        <p:nvSpPr>
          <p:cNvPr id="16" name="Text 13"/>
          <p:cNvSpPr txBox="1"/>
          <p:nvPr/>
        </p:nvSpPr>
        <p:spPr>
          <a:xfrm>
            <a:off x="1078992" y="3346704"/>
            <a:ext cx="4660240" cy="402336"/>
          </a:xfrm>
          <a:prstGeom prst="rect">
            <a:avLst/>
          </a:prstGeom>
          <a:noFill/>
          <a:ln/>
        </p:spPr>
        <p:txBody>
          <a:bodyPr wrap="square" lIns="0" tIns="0" rIns="0" bIns="0" rtlCol="0" anchor="t"/>
          <a:lstStyle/>
          <a:p>
            <a:pPr marL="0" indent="0">
              <a:buNone/>
            </a:pPr>
            <a:r>
              <a:rPr lang="en-US" sz="1150" dirty="0">
                <a:solidFill>
                  <a:srgbClr val="5A6577"/>
                </a:solidFill>
                <a:latin typeface="Calibri" pitchFamily="34" charset="0"/>
                <a:ea typeface="Calibri" pitchFamily="34" charset="-122"/>
                <a:cs typeface="Calibri" pitchFamily="34" charset="-120"/>
              </a:rPr>
              <a:t>CGST and SGST on an interstate bill, or IGST within one state</a:t>
            </a:r>
            <a:endParaRPr lang="en-US" sz="1150" dirty="0"/>
          </a:p>
        </p:txBody>
      </p:sp>
      <p:sp>
        <p:nvSpPr>
          <p:cNvPr id="17" name="chk-3"/>
          <p:cNvSpPr/>
          <p:nvPr/>
        </p:nvSpPr>
        <p:spPr>
          <a:xfrm>
            <a:off x="6233008" y="2834640"/>
            <a:ext cx="5391760" cy="1042416"/>
          </a:xfrm>
          <a:prstGeom prst="roundRect">
            <a:avLst>
              <a:gd name="adj" fmla="val 5263"/>
            </a:avLst>
          </a:prstGeom>
          <a:solidFill>
            <a:srgbClr val="FFFFFF"/>
          </a:solidFill>
          <a:ln w="12700">
            <a:solidFill>
              <a:srgbClr val="DCE4F2"/>
            </a:solidFill>
            <a:prstDash val="solid"/>
          </a:ln>
        </p:spPr>
      </p:sp>
      <p:sp>
        <p:nvSpPr>
          <p:cNvPr id="18" name="chk-dot-3"/>
          <p:cNvSpPr/>
          <p:nvPr/>
        </p:nvSpPr>
        <p:spPr>
          <a:xfrm>
            <a:off x="6452464" y="3163824"/>
            <a:ext cx="164592" cy="164592"/>
          </a:xfrm>
          <a:prstGeom prst="ellipse">
            <a:avLst/>
          </a:prstGeom>
          <a:solidFill>
            <a:srgbClr val="B4801A"/>
          </a:solidFill>
          <a:ln w="12700">
            <a:solidFill>
              <a:srgbClr val="B4801A"/>
            </a:solidFill>
            <a:prstDash val="solid"/>
          </a:ln>
        </p:spPr>
      </p:sp>
      <p:sp>
        <p:nvSpPr>
          <p:cNvPr id="19" name="Text 16"/>
          <p:cNvSpPr txBox="1"/>
          <p:nvPr/>
        </p:nvSpPr>
        <p:spPr>
          <a:xfrm>
            <a:off x="6745072" y="3017520"/>
            <a:ext cx="4660240" cy="329184"/>
          </a:xfrm>
          <a:prstGeom prst="rect">
            <a:avLst/>
          </a:prstGeom>
          <a:noFill/>
          <a:ln/>
        </p:spPr>
        <p:txBody>
          <a:bodyPr wrap="square" lIns="0" tIns="0" rIns="0" bIns="0" rtlCol="0" anchor="ctr"/>
          <a:lstStyle/>
          <a:p>
            <a:pPr marL="0" indent="0">
              <a:buNone/>
            </a:pPr>
            <a:r>
              <a:rPr lang="en-US" sz="1400" b="1" dirty="0">
                <a:solidFill>
                  <a:srgbClr val="15285C"/>
                </a:solidFill>
              </a:rPr>
              <a:t>TDS deducted without a valid PAN</a:t>
            </a:r>
            <a:endParaRPr lang="en-US" sz="1400" dirty="0"/>
          </a:p>
        </p:txBody>
      </p:sp>
      <p:sp>
        <p:nvSpPr>
          <p:cNvPr id="20" name="Text 17"/>
          <p:cNvSpPr txBox="1"/>
          <p:nvPr/>
        </p:nvSpPr>
        <p:spPr>
          <a:xfrm>
            <a:off x="6745072" y="3346704"/>
            <a:ext cx="4660240" cy="402336"/>
          </a:xfrm>
          <a:prstGeom prst="rect">
            <a:avLst/>
          </a:prstGeom>
          <a:noFill/>
          <a:ln/>
        </p:spPr>
        <p:txBody>
          <a:bodyPr wrap="square" lIns="0" tIns="0" rIns="0" bIns="0" rtlCol="0" anchor="t"/>
          <a:lstStyle/>
          <a:p>
            <a:pPr marL="0" indent="0">
              <a:buNone/>
            </a:pPr>
            <a:r>
              <a:rPr lang="en-US" sz="1150" dirty="0">
                <a:solidFill>
                  <a:srgbClr val="5A6577"/>
                </a:solidFill>
                <a:latin typeface="Calibri" pitchFamily="34" charset="0"/>
                <a:ea typeface="Calibri" pitchFamily="34" charset="-122"/>
                <a:cs typeface="Calibri" pitchFamily="34" charset="-120"/>
              </a:rPr>
              <a:t>The deduction stands, but the rate and the return are at risk</a:t>
            </a:r>
            <a:endParaRPr lang="en-US" sz="1150" dirty="0"/>
          </a:p>
        </p:txBody>
      </p:sp>
      <p:sp>
        <p:nvSpPr>
          <p:cNvPr id="21" name="chk-note"/>
          <p:cNvSpPr/>
          <p:nvPr/>
        </p:nvSpPr>
        <p:spPr>
          <a:xfrm>
            <a:off x="566928" y="4169664"/>
            <a:ext cx="11057839" cy="1554480"/>
          </a:xfrm>
          <a:prstGeom prst="roundRect">
            <a:avLst>
              <a:gd name="adj" fmla="val 4118"/>
            </a:avLst>
          </a:prstGeom>
          <a:solidFill>
            <a:srgbClr val="15285C"/>
          </a:solidFill>
          <a:ln w="12700">
            <a:solidFill>
              <a:srgbClr val="15285C"/>
            </a:solidFill>
            <a:prstDash val="solid"/>
          </a:ln>
        </p:spPr>
      </p:sp>
      <p:sp>
        <p:nvSpPr>
          <p:cNvPr id="22" name="Text 19"/>
          <p:cNvSpPr txBox="1"/>
          <p:nvPr/>
        </p:nvSpPr>
        <p:spPr>
          <a:xfrm>
            <a:off x="804672" y="4407408"/>
            <a:ext cx="10582351" cy="295021"/>
          </a:xfrm>
          <a:prstGeom prst="rect">
            <a:avLst/>
          </a:prstGeom>
          <a:noFill/>
          <a:ln/>
        </p:spPr>
        <p:txBody>
          <a:bodyPr wrap="square" lIns="0" tIns="0" rIns="0" bIns="0" rtlCol="0" anchor="ctr"/>
          <a:lstStyle/>
          <a:p>
            <a:pPr marL="0" indent="0">
              <a:buNone/>
            </a:pPr>
            <a:r>
              <a:rPr lang="en-US" sz="1550" b="1" dirty="0">
                <a:solidFill>
                  <a:srgbClr val="FFFFFF"/>
                </a:solidFill>
              </a:rPr>
              <a:t>And one more, which is the easiest to miss</a:t>
            </a:r>
            <a:endParaRPr lang="en-US" sz="1550" dirty="0"/>
          </a:p>
        </p:txBody>
      </p:sp>
      <p:sp>
        <p:nvSpPr>
          <p:cNvPr id="23" name="Text 20"/>
          <p:cNvSpPr txBox="1"/>
          <p:nvPr/>
        </p:nvSpPr>
        <p:spPr>
          <a:xfrm>
            <a:off x="804672" y="4775581"/>
            <a:ext cx="10582351" cy="782142"/>
          </a:xfrm>
          <a:prstGeom prst="rect">
            <a:avLst/>
          </a:prstGeom>
          <a:noFill/>
          <a:ln/>
        </p:spPr>
        <p:txBody>
          <a:bodyPr wrap="square" lIns="0" tIns="0" rIns="0" bIns="0" rtlCol="0" anchor="t"/>
          <a:lstStyle/>
          <a:p>
            <a:pPr marL="0" indent="0">
              <a:buNone/>
            </a:pPr>
            <a:r>
              <a:rPr lang="en-US" sz="1500" dirty="0">
                <a:solidFill>
                  <a:srgbClr val="D7E0EF"/>
                </a:solidFill>
                <a:latin typeface="Calibri" pitchFamily="34" charset="0"/>
                <a:ea typeface="Calibri" pitchFamily="34" charset="-122"/>
                <a:cs typeface="Calibri" pitchFamily="34" charset="-120"/>
              </a:rPr>
              <a:t>A bill attributed to no registration at all would be missing from every return the company files. The report shows those separately, with the credit, the liability and the TDS they carry, so they can be fixed before filing rather than after.</a:t>
            </a:r>
            <a:endParaRPr lang="en-US" sz="1500" dirty="0"/>
          </a:p>
        </p:txBody>
      </p:sp>
      <p:sp>
        <p:nvSpPr>
          <p:cNvPr id="25" name="Slide Number Placeholder 0"/>
          <p:cNvSpPr>
            <a:spLocks noGrp="1"/>
          </p:cNvSpPr>
          <p:nvPr>
            <p:ph type="sldNum" sz="quarter" idx="4294967295"/>
          </p:nvPr>
        </p:nvSpPr>
        <p:spPr>
          <a:xfrm>
            <a:off x="1143000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950">
                <a:solidFill>
                  <a:srgbClr val="A8B0BD"/>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lide-title"/>
          <p:cNvSpPr txBox="1"/>
          <p:nvPr/>
        </p:nvSpPr>
        <p:spPr>
          <a:xfrm>
            <a:off x="566928" y="438912"/>
            <a:ext cx="11057839" cy="603504"/>
          </a:xfrm>
          <a:prstGeom prst="rect">
            <a:avLst/>
          </a:prstGeom>
          <a:noFill/>
          <a:ln/>
        </p:spPr>
        <p:txBody>
          <a:bodyPr wrap="square" lIns="0" tIns="0" rIns="0" bIns="0" rtlCol="0" anchor="ctr"/>
          <a:lstStyle/>
          <a:p>
            <a:pPr marL="0" indent="0">
              <a:buNone/>
            </a:pPr>
            <a:r>
              <a:rPr lang="en-US" sz="3000" b="1" dirty="0">
                <a:solidFill>
                  <a:srgbClr val="15285C"/>
                </a:solidFill>
              </a:rPr>
              <a:t>Everyone can see where things stand</a:t>
            </a:r>
            <a:endParaRPr lang="en-US" sz="3000" dirty="0"/>
          </a:p>
        </p:txBody>
      </p:sp>
      <p:sp>
        <p:nvSpPr>
          <p:cNvPr id="3" name="slide-lead"/>
          <p:cNvSpPr txBox="1"/>
          <p:nvPr/>
        </p:nvSpPr>
        <p:spPr>
          <a:xfrm>
            <a:off x="566928" y="1060704"/>
            <a:ext cx="11057839" cy="402336"/>
          </a:xfrm>
          <a:prstGeom prst="rect">
            <a:avLst/>
          </a:prstGeom>
          <a:noFill/>
          <a:ln/>
        </p:spPr>
        <p:txBody>
          <a:bodyPr wrap="square" lIns="0" tIns="0" rIns="0" bIns="0" rtlCol="0" anchor="ctr"/>
          <a:lstStyle/>
          <a:p>
            <a:pPr marL="0" indent="0">
              <a:buNone/>
            </a:pPr>
            <a:r>
              <a:rPr lang="en-US" sz="1450" dirty="0">
                <a:solidFill>
                  <a:srgbClr val="5A6577"/>
                </a:solidFill>
                <a:latin typeface="Calibri" pitchFamily="34" charset="0"/>
                <a:ea typeface="Calibri" pitchFamily="34" charset="-122"/>
                <a:cs typeface="Calibri" pitchFamily="34" charset="-120"/>
              </a:rPr>
              <a:t>Each module opens on a dashboard rather than a menu.</a:t>
            </a:r>
            <a:endParaRPr lang="en-US" sz="1450" dirty="0"/>
          </a:p>
        </p:txBody>
      </p:sp>
      <p:graphicFrame>
        <p:nvGraphicFramePr>
          <p:cNvPr id="5" name="ageing-chart"/>
          <p:cNvGraphicFramePr/>
          <p:nvPr/>
        </p:nvGraphicFramePr>
        <p:xfrm>
          <a:off x="566928" y="1627632"/>
          <a:ext cx="594360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2"/>
          <p:cNvSpPr txBox="1"/>
          <p:nvPr/>
        </p:nvSpPr>
        <p:spPr>
          <a:xfrm>
            <a:off x="566928" y="4480560"/>
            <a:ext cx="5943600" cy="274320"/>
          </a:xfrm>
          <a:prstGeom prst="rect">
            <a:avLst/>
          </a:prstGeom>
          <a:noFill/>
          <a:ln/>
        </p:spPr>
        <p:txBody>
          <a:bodyPr wrap="square" rtlCol="0" anchor="ctr"/>
          <a:lstStyle/>
          <a:p>
            <a:pPr marL="0" indent="0">
              <a:buNone/>
            </a:pPr>
            <a:r>
              <a:rPr lang="en-US" sz="1050" i="1" dirty="0">
                <a:solidFill>
                  <a:srgbClr val="5A6577"/>
                </a:solidFill>
                <a:latin typeface="Calibri" pitchFamily="34" charset="0"/>
                <a:ea typeface="Calibri" pitchFamily="34" charset="-122"/>
                <a:cs typeface="Calibri" pitchFamily="34" charset="-120"/>
              </a:rPr>
              <a:t>Illustrative shape only — the live dashboard shows your own figures</a:t>
            </a:r>
            <a:endParaRPr lang="en-US" sz="1050" dirty="0"/>
          </a:p>
        </p:txBody>
      </p:sp>
      <p:sp>
        <p:nvSpPr>
          <p:cNvPr id="7" name="v1"/>
          <p:cNvSpPr/>
          <p:nvPr/>
        </p:nvSpPr>
        <p:spPr>
          <a:xfrm>
            <a:off x="6876288" y="1627632"/>
            <a:ext cx="4748479" cy="1572768"/>
          </a:xfrm>
          <a:prstGeom prst="roundRect">
            <a:avLst>
              <a:gd name="adj" fmla="val 4070"/>
            </a:avLst>
          </a:prstGeom>
          <a:solidFill>
            <a:srgbClr val="EEF2FA"/>
          </a:solidFill>
          <a:ln w="12700">
            <a:solidFill>
              <a:srgbClr val="DCE4F2"/>
            </a:solidFill>
            <a:prstDash val="solid"/>
          </a:ln>
        </p:spPr>
      </p:sp>
      <p:sp>
        <p:nvSpPr>
          <p:cNvPr id="8" name="Text 4"/>
          <p:cNvSpPr txBox="1"/>
          <p:nvPr/>
        </p:nvSpPr>
        <p:spPr>
          <a:xfrm>
            <a:off x="7114032" y="1865376"/>
            <a:ext cx="4272991" cy="295021"/>
          </a:xfrm>
          <a:prstGeom prst="rect">
            <a:avLst/>
          </a:prstGeom>
          <a:noFill/>
          <a:ln/>
        </p:spPr>
        <p:txBody>
          <a:bodyPr wrap="square" lIns="0" tIns="0" rIns="0" bIns="0" rtlCol="0" anchor="ctr"/>
          <a:lstStyle/>
          <a:p>
            <a:pPr marL="0" indent="0">
              <a:buNone/>
            </a:pPr>
            <a:r>
              <a:rPr lang="en-US" sz="1550" b="1" dirty="0">
                <a:solidFill>
                  <a:srgbClr val="15285C"/>
                </a:solidFill>
              </a:rPr>
              <a:t>Daily Requisition</a:t>
            </a:r>
            <a:endParaRPr lang="en-US" sz="1550" dirty="0"/>
          </a:p>
        </p:txBody>
      </p:sp>
      <p:sp>
        <p:nvSpPr>
          <p:cNvPr id="9" name="Text 5"/>
          <p:cNvSpPr txBox="1"/>
          <p:nvPr/>
        </p:nvSpPr>
        <p:spPr>
          <a:xfrm>
            <a:off x="7114032" y="2233549"/>
            <a:ext cx="4272991" cy="80043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What is waiting at each stage, and the oldest in each</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What is still due, by department and by party</a:t>
            </a:r>
            <a:endParaRPr lang="en-US" sz="1350" dirty="0"/>
          </a:p>
        </p:txBody>
      </p:sp>
      <p:sp>
        <p:nvSpPr>
          <p:cNvPr id="10" name="v2"/>
          <p:cNvSpPr/>
          <p:nvPr/>
        </p:nvSpPr>
        <p:spPr>
          <a:xfrm>
            <a:off x="6876288" y="3346704"/>
            <a:ext cx="4748479" cy="1572768"/>
          </a:xfrm>
          <a:prstGeom prst="roundRect">
            <a:avLst>
              <a:gd name="adj" fmla="val 4070"/>
            </a:avLst>
          </a:prstGeom>
          <a:solidFill>
            <a:srgbClr val="EEF2FA"/>
          </a:solidFill>
          <a:ln w="12700">
            <a:solidFill>
              <a:srgbClr val="DCE4F2"/>
            </a:solidFill>
            <a:prstDash val="solid"/>
          </a:ln>
        </p:spPr>
      </p:sp>
      <p:sp>
        <p:nvSpPr>
          <p:cNvPr id="11" name="Text 7"/>
          <p:cNvSpPr txBox="1"/>
          <p:nvPr/>
        </p:nvSpPr>
        <p:spPr>
          <a:xfrm>
            <a:off x="7114032" y="3584448"/>
            <a:ext cx="4272991" cy="295021"/>
          </a:xfrm>
          <a:prstGeom prst="rect">
            <a:avLst/>
          </a:prstGeom>
          <a:noFill/>
          <a:ln/>
        </p:spPr>
        <p:txBody>
          <a:bodyPr wrap="square" lIns="0" tIns="0" rIns="0" bIns="0" rtlCol="0" anchor="ctr"/>
          <a:lstStyle/>
          <a:p>
            <a:pPr marL="0" indent="0">
              <a:buNone/>
            </a:pPr>
            <a:r>
              <a:rPr lang="en-US" sz="1550" b="1" dirty="0">
                <a:solidFill>
                  <a:srgbClr val="15285C"/>
                </a:solidFill>
              </a:rPr>
              <a:t>Bank Balance</a:t>
            </a:r>
            <a:endParaRPr lang="en-US" sz="1550" dirty="0"/>
          </a:p>
        </p:txBody>
      </p:sp>
      <p:sp>
        <p:nvSpPr>
          <p:cNvPr id="12" name="Text 8"/>
          <p:cNvSpPr txBox="1"/>
          <p:nvPr/>
        </p:nvSpPr>
        <p:spPr>
          <a:xfrm>
            <a:off x="7114032" y="3952621"/>
            <a:ext cx="4272991" cy="80043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Balances, limits and utilisation per account</a:t>
            </a:r>
            <a:endParaRPr lang="en-US" sz="1350" dirty="0"/>
          </a:p>
          <a:p>
            <a:pPr marL="342900" indent="-342900">
              <a:spcAft>
                <a:spcPts val="600"/>
              </a:spcAft>
              <a:buSzPct val="100000"/>
              <a:buChar char="•"/>
            </a:pPr>
            <a:r>
              <a:rPr lang="en-US" sz="1350" dirty="0">
                <a:solidFill>
                  <a:srgbClr val="101828"/>
                </a:solidFill>
                <a:latin typeface="Calibri" pitchFamily="34" charset="0"/>
                <a:ea typeface="Calibri" pitchFamily="34" charset="-122"/>
                <a:cs typeface="Calibri" pitchFamily="34" charset="-120"/>
              </a:rPr>
              <a:t>Receipts against payments, month by month</a:t>
            </a:r>
            <a:endParaRPr lang="en-US" sz="1350" dirty="0"/>
          </a:p>
        </p:txBody>
      </p:sp>
      <p:sp>
        <p:nvSpPr>
          <p:cNvPr id="13" name="v3"/>
          <p:cNvSpPr/>
          <p:nvPr/>
        </p:nvSpPr>
        <p:spPr>
          <a:xfrm>
            <a:off x="6876288" y="5065776"/>
            <a:ext cx="4748479" cy="1207008"/>
          </a:xfrm>
          <a:prstGeom prst="roundRect">
            <a:avLst>
              <a:gd name="adj" fmla="val 5303"/>
            </a:avLst>
          </a:prstGeom>
          <a:solidFill>
            <a:srgbClr val="EEF2FA"/>
          </a:solidFill>
          <a:ln w="12700">
            <a:solidFill>
              <a:srgbClr val="DCE4F2"/>
            </a:solidFill>
            <a:prstDash val="solid"/>
          </a:ln>
        </p:spPr>
      </p:sp>
      <p:sp>
        <p:nvSpPr>
          <p:cNvPr id="14" name="Text 10"/>
          <p:cNvSpPr txBox="1"/>
          <p:nvPr/>
        </p:nvSpPr>
        <p:spPr>
          <a:xfrm>
            <a:off x="7114032" y="5303520"/>
            <a:ext cx="4272991" cy="295021"/>
          </a:xfrm>
          <a:prstGeom prst="rect">
            <a:avLst/>
          </a:prstGeom>
          <a:noFill/>
          <a:ln/>
        </p:spPr>
        <p:txBody>
          <a:bodyPr wrap="square" lIns="0" tIns="0" rIns="0" bIns="0" rtlCol="0" anchor="ctr"/>
          <a:lstStyle/>
          <a:p>
            <a:pPr marL="0" indent="0">
              <a:buNone/>
            </a:pPr>
            <a:r>
              <a:rPr lang="en-US" sz="1550" b="1" dirty="0">
                <a:solidFill>
                  <a:srgbClr val="15285C"/>
                </a:solidFill>
              </a:rPr>
              <a:t>Expenses</a:t>
            </a:r>
            <a:endParaRPr lang="en-US" sz="1550" dirty="0"/>
          </a:p>
        </p:txBody>
      </p:sp>
      <p:sp>
        <p:nvSpPr>
          <p:cNvPr id="15" name="Text 11"/>
          <p:cNvSpPr txBox="1"/>
          <p:nvPr/>
        </p:nvSpPr>
        <p:spPr>
          <a:xfrm>
            <a:off x="7114032" y="5671693"/>
            <a:ext cx="4272991" cy="434670"/>
          </a:xfrm>
          <a:prstGeom prst="rect">
            <a:avLst/>
          </a:prstGeom>
          <a:noFill/>
          <a:ln/>
        </p:spPr>
        <p:txBody>
          <a:bodyPr wrap="square" lIns="0" tIns="0" rIns="0" bIns="0" rtlCol="0" anchor="t"/>
          <a:lstStyle/>
          <a:p>
            <a:pPr marL="0" indent="0">
              <a:buNone/>
            </a:pPr>
            <a:r>
              <a:rPr lang="en-US" sz="1250" dirty="0">
                <a:solidFill>
                  <a:srgbClr val="101828"/>
                </a:solidFill>
                <a:latin typeface="Calibri" pitchFamily="34" charset="0"/>
                <a:ea typeface="Calibri" pitchFamily="34" charset="-122"/>
                <a:cs typeface="Calibri" pitchFamily="34" charset="-120"/>
              </a:rPr>
              <a:t>Registers per department and consolidated, with the columns you chose.</a:t>
            </a:r>
            <a:endParaRPr lang="en-US" sz="1250" dirty="0"/>
          </a:p>
        </p:txBody>
      </p:sp>
      <p:sp>
        <p:nvSpPr>
          <p:cNvPr id="25" name="Slide Number Placeholder 0"/>
          <p:cNvSpPr>
            <a:spLocks noGrp="1"/>
          </p:cNvSpPr>
          <p:nvPr>
            <p:ph type="sldNum" sz="quarter" idx="4294967295"/>
          </p:nvPr>
        </p:nvSpPr>
        <p:spPr>
          <a:xfrm>
            <a:off x="1143000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950">
                <a:solidFill>
                  <a:srgbClr val="A8B0BD"/>
                </a:solidFill>
                <a:latin typeface="Calibri"/>
                <a:ea typeface="Calibri"/>
                <a:cs typeface="Calibri"/>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lide-title"/>
          <p:cNvSpPr txBox="1"/>
          <p:nvPr/>
        </p:nvSpPr>
        <p:spPr>
          <a:xfrm>
            <a:off x="566928" y="438912"/>
            <a:ext cx="11057839" cy="603504"/>
          </a:xfrm>
          <a:prstGeom prst="rect">
            <a:avLst/>
          </a:prstGeom>
          <a:noFill/>
          <a:ln/>
        </p:spPr>
        <p:txBody>
          <a:bodyPr wrap="square" lIns="0" tIns="0" rIns="0" bIns="0" rtlCol="0" anchor="ctr"/>
          <a:lstStyle/>
          <a:p>
            <a:pPr marL="0" indent="0">
              <a:buNone/>
            </a:pPr>
            <a:r>
              <a:rPr lang="en-US" sz="3000" b="1" dirty="0">
                <a:solidFill>
                  <a:srgbClr val="15285C"/>
                </a:solidFill>
              </a:rPr>
              <a:t>What changes for you, by role</a:t>
            </a:r>
            <a:endParaRPr lang="en-US" sz="3000" dirty="0"/>
          </a:p>
        </p:txBody>
      </p:sp>
      <p:sp>
        <p:nvSpPr>
          <p:cNvPr id="3" name="slide-lead"/>
          <p:cNvSpPr txBox="1"/>
          <p:nvPr/>
        </p:nvSpPr>
        <p:spPr>
          <a:xfrm>
            <a:off x="566928" y="1060704"/>
            <a:ext cx="11057839" cy="402336"/>
          </a:xfrm>
          <a:prstGeom prst="rect">
            <a:avLst/>
          </a:prstGeom>
          <a:noFill/>
          <a:ln/>
        </p:spPr>
        <p:txBody>
          <a:bodyPr wrap="square" lIns="0" tIns="0" rIns="0" bIns="0" rtlCol="0" anchor="ctr"/>
          <a:lstStyle/>
          <a:p>
            <a:pPr marL="0" indent="0">
              <a:buNone/>
            </a:pPr>
            <a:r>
              <a:rPr lang="en-US" sz="1450" dirty="0">
                <a:solidFill>
                  <a:srgbClr val="5A6577"/>
                </a:solidFill>
                <a:latin typeface="Calibri" pitchFamily="34" charset="0"/>
                <a:ea typeface="Calibri" pitchFamily="34" charset="-122"/>
                <a:cs typeface="Calibri" pitchFamily="34" charset="-120"/>
              </a:rPr>
              <a:t>Most people will notice three things and nothing else.</a:t>
            </a:r>
            <a:endParaRPr lang="en-US" sz="1450" dirty="0"/>
          </a:p>
        </p:txBody>
      </p:sp>
      <p:sp>
        <p:nvSpPr>
          <p:cNvPr id="5" name="role-0"/>
          <p:cNvSpPr/>
          <p:nvPr/>
        </p:nvSpPr>
        <p:spPr>
          <a:xfrm>
            <a:off x="566928" y="1627632"/>
            <a:ext cx="3478682" cy="2788920"/>
          </a:xfrm>
          <a:prstGeom prst="roundRect">
            <a:avLst>
              <a:gd name="adj" fmla="val 2295"/>
            </a:avLst>
          </a:prstGeom>
          <a:solidFill>
            <a:srgbClr val="EEF2FA"/>
          </a:solidFill>
          <a:ln w="12700">
            <a:solidFill>
              <a:srgbClr val="DCE4F2"/>
            </a:solidFill>
            <a:prstDash val="solid"/>
          </a:ln>
        </p:spPr>
      </p:sp>
      <p:sp>
        <p:nvSpPr>
          <p:cNvPr id="6" name="dot-1"/>
          <p:cNvSpPr/>
          <p:nvPr/>
        </p:nvSpPr>
        <p:spPr>
          <a:xfrm>
            <a:off x="804672" y="1865376"/>
            <a:ext cx="347472" cy="347472"/>
          </a:xfrm>
          <a:prstGeom prst="ellipse">
            <a:avLst/>
          </a:prstGeom>
          <a:solidFill>
            <a:srgbClr val="4C6FA5"/>
          </a:solidFill>
          <a:ln w="12700">
            <a:solidFill>
              <a:srgbClr val="4C6FA5"/>
            </a:solidFill>
            <a:prstDash val="solid"/>
          </a:ln>
        </p:spPr>
      </p:sp>
      <p:sp>
        <p:nvSpPr>
          <p:cNvPr id="7" name="Text 4"/>
          <p:cNvSpPr txBox="1"/>
          <p:nvPr/>
        </p:nvSpPr>
        <p:spPr>
          <a:xfrm>
            <a:off x="804672" y="186537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8" name="Text 5"/>
          <p:cNvSpPr txBox="1"/>
          <p:nvPr/>
        </p:nvSpPr>
        <p:spPr>
          <a:xfrm>
            <a:off x="1280160" y="1865376"/>
            <a:ext cx="2527706" cy="295021"/>
          </a:xfrm>
          <a:prstGeom prst="rect">
            <a:avLst/>
          </a:prstGeom>
          <a:noFill/>
          <a:ln/>
        </p:spPr>
        <p:txBody>
          <a:bodyPr wrap="square" lIns="0" tIns="0" rIns="0" bIns="0" rtlCol="0" anchor="ctr"/>
          <a:lstStyle/>
          <a:p>
            <a:pPr marL="0" indent="0">
              <a:buNone/>
            </a:pPr>
            <a:r>
              <a:rPr lang="en-US" sz="1550" b="1" dirty="0">
                <a:solidFill>
                  <a:srgbClr val="15285C"/>
                </a:solidFill>
              </a:rPr>
              <a:t>Department and site staff</a:t>
            </a:r>
            <a:endParaRPr lang="en-US" sz="1550" dirty="0"/>
          </a:p>
        </p:txBody>
      </p:sp>
      <p:sp>
        <p:nvSpPr>
          <p:cNvPr id="9" name="Text 6"/>
          <p:cNvSpPr txBox="1"/>
          <p:nvPr/>
        </p:nvSpPr>
        <p:spPr>
          <a:xfrm>
            <a:off x="804672" y="2340864"/>
            <a:ext cx="3003194" cy="1909267"/>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01828"/>
                </a:solidFill>
                <a:latin typeface="Calibri" pitchFamily="34" charset="0"/>
                <a:ea typeface="Calibri" pitchFamily="34" charset="-122"/>
                <a:cs typeface="Calibri" pitchFamily="34" charset="-120"/>
              </a:rPr>
              <a:t>One shorter form, with only the fields that apply</a:t>
            </a:r>
            <a:endParaRPr lang="en-US" sz="1300" dirty="0"/>
          </a:p>
          <a:p>
            <a:pPr marL="342900" indent="-342900">
              <a:spcAft>
                <a:spcPts val="600"/>
              </a:spcAft>
              <a:buSzPct val="100000"/>
              <a:buChar char="•"/>
            </a:pPr>
            <a:r>
              <a:rPr lang="en-US" sz="1300" dirty="0">
                <a:solidFill>
                  <a:srgbClr val="101828"/>
                </a:solidFill>
                <a:latin typeface="Calibri" pitchFamily="34" charset="0"/>
                <a:ea typeface="Calibri" pitchFamily="34" charset="-122"/>
                <a:cs typeface="Calibri" pitchFamily="34" charset="-120"/>
              </a:rPr>
              <a:t>A warning if you are about to raise a duplicate</a:t>
            </a:r>
            <a:endParaRPr lang="en-US" sz="1300" dirty="0"/>
          </a:p>
          <a:p>
            <a:pPr marL="342900" indent="-342900">
              <a:spcAft>
                <a:spcPts val="600"/>
              </a:spcAft>
              <a:buSzPct val="100000"/>
              <a:buChar char="•"/>
            </a:pPr>
            <a:r>
              <a:rPr lang="en-US" sz="1300" dirty="0">
                <a:solidFill>
                  <a:srgbClr val="101828"/>
                </a:solidFill>
                <a:latin typeface="Calibri" pitchFamily="34" charset="0"/>
                <a:ea typeface="Calibri" pitchFamily="34" charset="-122"/>
                <a:cs typeface="Calibri" pitchFamily="34" charset="-120"/>
              </a:rPr>
              <a:t>You can see where your request has got to</a:t>
            </a:r>
            <a:endParaRPr lang="en-US" sz="1300" dirty="0"/>
          </a:p>
        </p:txBody>
      </p:sp>
      <p:sp>
        <p:nvSpPr>
          <p:cNvPr id="10" name="role-1"/>
          <p:cNvSpPr/>
          <p:nvPr/>
        </p:nvSpPr>
        <p:spPr>
          <a:xfrm>
            <a:off x="4356506" y="1627632"/>
            <a:ext cx="3478682" cy="2788920"/>
          </a:xfrm>
          <a:prstGeom prst="roundRect">
            <a:avLst>
              <a:gd name="adj" fmla="val 2295"/>
            </a:avLst>
          </a:prstGeom>
          <a:solidFill>
            <a:srgbClr val="EEF2FA"/>
          </a:solidFill>
          <a:ln w="12700">
            <a:solidFill>
              <a:srgbClr val="DCE4F2"/>
            </a:solidFill>
            <a:prstDash val="solid"/>
          </a:ln>
        </p:spPr>
      </p:sp>
      <p:sp>
        <p:nvSpPr>
          <p:cNvPr id="11" name="dot-2"/>
          <p:cNvSpPr/>
          <p:nvPr/>
        </p:nvSpPr>
        <p:spPr>
          <a:xfrm>
            <a:off x="4594250" y="1865376"/>
            <a:ext cx="347472" cy="347472"/>
          </a:xfrm>
          <a:prstGeom prst="ellipse">
            <a:avLst/>
          </a:prstGeom>
          <a:solidFill>
            <a:srgbClr val="B4801A"/>
          </a:solidFill>
          <a:ln w="12700">
            <a:solidFill>
              <a:srgbClr val="B4801A"/>
            </a:solidFill>
            <a:prstDash val="solid"/>
          </a:ln>
        </p:spPr>
      </p:sp>
      <p:sp>
        <p:nvSpPr>
          <p:cNvPr id="12" name="Text 9"/>
          <p:cNvSpPr txBox="1"/>
          <p:nvPr/>
        </p:nvSpPr>
        <p:spPr>
          <a:xfrm>
            <a:off x="4594250" y="186537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3" name="Text 10"/>
          <p:cNvSpPr txBox="1"/>
          <p:nvPr/>
        </p:nvSpPr>
        <p:spPr>
          <a:xfrm>
            <a:off x="5069738" y="1865376"/>
            <a:ext cx="2527706" cy="295021"/>
          </a:xfrm>
          <a:prstGeom prst="rect">
            <a:avLst/>
          </a:prstGeom>
          <a:noFill/>
          <a:ln/>
        </p:spPr>
        <p:txBody>
          <a:bodyPr wrap="square" lIns="0" tIns="0" rIns="0" bIns="0" rtlCol="0" anchor="ctr"/>
          <a:lstStyle/>
          <a:p>
            <a:pPr marL="0" indent="0">
              <a:buNone/>
            </a:pPr>
            <a:r>
              <a:rPr lang="en-US" sz="1550" b="1" dirty="0">
                <a:solidFill>
                  <a:srgbClr val="15285C"/>
                </a:solidFill>
              </a:rPr>
              <a:t>Finance and accounts</a:t>
            </a:r>
            <a:endParaRPr lang="en-US" sz="1550" dirty="0"/>
          </a:p>
        </p:txBody>
      </p:sp>
      <p:sp>
        <p:nvSpPr>
          <p:cNvPr id="14" name="Text 11"/>
          <p:cNvSpPr txBox="1"/>
          <p:nvPr/>
        </p:nvSpPr>
        <p:spPr>
          <a:xfrm>
            <a:off x="4594250" y="2340864"/>
            <a:ext cx="3003194" cy="1909267"/>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01828"/>
                </a:solidFill>
                <a:latin typeface="Calibri" pitchFamily="34" charset="0"/>
                <a:ea typeface="Calibri" pitchFamily="34" charset="-122"/>
                <a:cs typeface="Calibri" pitchFamily="34" charset="-120"/>
              </a:rPr>
              <a:t>Receive many requests at once, numbered in order</a:t>
            </a:r>
            <a:endParaRPr lang="en-US" sz="1300" dirty="0"/>
          </a:p>
          <a:p>
            <a:pPr marL="342900" indent="-342900">
              <a:spcAft>
                <a:spcPts val="600"/>
              </a:spcAft>
              <a:buSzPct val="100000"/>
              <a:buChar char="•"/>
            </a:pPr>
            <a:r>
              <a:rPr lang="en-US" sz="1300" dirty="0">
                <a:solidFill>
                  <a:srgbClr val="101828"/>
                </a:solidFill>
                <a:latin typeface="Calibri" pitchFamily="34" charset="0"/>
                <a:ea typeface="Calibri" pitchFamily="34" charset="-122"/>
                <a:cs typeface="Calibri" pitchFamily="34" charset="-120"/>
              </a:rPr>
              <a:t>GST and TDS verification opens already filled in</a:t>
            </a:r>
            <a:endParaRPr lang="en-US" sz="1300" dirty="0"/>
          </a:p>
          <a:p>
            <a:pPr marL="342900" indent="-342900">
              <a:spcAft>
                <a:spcPts val="600"/>
              </a:spcAft>
              <a:buSzPct val="100000"/>
              <a:buChar char="•"/>
            </a:pPr>
            <a:r>
              <a:rPr lang="en-US" sz="1300" dirty="0">
                <a:solidFill>
                  <a:srgbClr val="101828"/>
                </a:solidFill>
                <a:latin typeface="Calibri" pitchFamily="34" charset="0"/>
                <a:ea typeface="Calibri" pitchFamily="34" charset="-122"/>
                <a:cs typeface="Calibri" pitchFamily="34" charset="-120"/>
              </a:rPr>
              <a:t>The GST report splits credit, liability and TDS per GSTIN</a:t>
            </a:r>
            <a:endParaRPr lang="en-US" sz="1300" dirty="0"/>
          </a:p>
        </p:txBody>
      </p:sp>
      <p:sp>
        <p:nvSpPr>
          <p:cNvPr id="15" name="role-2"/>
          <p:cNvSpPr/>
          <p:nvPr/>
        </p:nvSpPr>
        <p:spPr>
          <a:xfrm>
            <a:off x="8146085" y="1627632"/>
            <a:ext cx="3478682" cy="2788920"/>
          </a:xfrm>
          <a:prstGeom prst="roundRect">
            <a:avLst>
              <a:gd name="adj" fmla="val 2295"/>
            </a:avLst>
          </a:prstGeom>
          <a:solidFill>
            <a:srgbClr val="EEF2FA"/>
          </a:solidFill>
          <a:ln w="12700">
            <a:solidFill>
              <a:srgbClr val="DCE4F2"/>
            </a:solidFill>
            <a:prstDash val="solid"/>
          </a:ln>
        </p:spPr>
      </p:sp>
      <p:sp>
        <p:nvSpPr>
          <p:cNvPr id="16" name="dot-3"/>
          <p:cNvSpPr/>
          <p:nvPr/>
        </p:nvSpPr>
        <p:spPr>
          <a:xfrm>
            <a:off x="8383829" y="1865376"/>
            <a:ext cx="347472" cy="347472"/>
          </a:xfrm>
          <a:prstGeom prst="ellipse">
            <a:avLst/>
          </a:prstGeom>
          <a:solidFill>
            <a:srgbClr val="0E7A58"/>
          </a:solidFill>
          <a:ln w="12700">
            <a:solidFill>
              <a:srgbClr val="0E7A58"/>
            </a:solidFill>
            <a:prstDash val="solid"/>
          </a:ln>
        </p:spPr>
      </p:sp>
      <p:sp>
        <p:nvSpPr>
          <p:cNvPr id="17" name="Text 14"/>
          <p:cNvSpPr txBox="1"/>
          <p:nvPr/>
        </p:nvSpPr>
        <p:spPr>
          <a:xfrm>
            <a:off x="8383829" y="186537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8" name="Text 15"/>
          <p:cNvSpPr txBox="1"/>
          <p:nvPr/>
        </p:nvSpPr>
        <p:spPr>
          <a:xfrm>
            <a:off x="8859317" y="1865376"/>
            <a:ext cx="2527706" cy="295021"/>
          </a:xfrm>
          <a:prstGeom prst="rect">
            <a:avLst/>
          </a:prstGeom>
          <a:noFill/>
          <a:ln/>
        </p:spPr>
        <p:txBody>
          <a:bodyPr wrap="square" lIns="0" tIns="0" rIns="0" bIns="0" rtlCol="0" anchor="ctr"/>
          <a:lstStyle/>
          <a:p>
            <a:pPr marL="0" indent="0">
              <a:buNone/>
            </a:pPr>
            <a:r>
              <a:rPr lang="en-US" sz="1550" b="1" dirty="0">
                <a:solidFill>
                  <a:srgbClr val="15285C"/>
                </a:solidFill>
              </a:rPr>
              <a:t>Directors and management</a:t>
            </a:r>
            <a:endParaRPr lang="en-US" sz="1550" dirty="0"/>
          </a:p>
        </p:txBody>
      </p:sp>
      <p:sp>
        <p:nvSpPr>
          <p:cNvPr id="19" name="Text 16"/>
          <p:cNvSpPr txBox="1"/>
          <p:nvPr/>
        </p:nvSpPr>
        <p:spPr>
          <a:xfrm>
            <a:off x="8383829" y="2340864"/>
            <a:ext cx="3003194" cy="1909267"/>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01828"/>
                </a:solidFill>
                <a:latin typeface="Calibri" pitchFamily="34" charset="0"/>
                <a:ea typeface="Calibri" pitchFamily="34" charset="-122"/>
                <a:cs typeface="Calibri" pitchFamily="34" charset="-120"/>
              </a:rPr>
              <a:t>A dashboard per module, no request needed</a:t>
            </a:r>
            <a:endParaRPr lang="en-US" sz="1300" dirty="0"/>
          </a:p>
          <a:p>
            <a:pPr marL="342900" indent="-342900">
              <a:spcAft>
                <a:spcPts val="600"/>
              </a:spcAft>
              <a:buSzPct val="100000"/>
              <a:buChar char="•"/>
            </a:pPr>
            <a:r>
              <a:rPr lang="en-US" sz="1300" dirty="0">
                <a:solidFill>
                  <a:srgbClr val="101828"/>
                </a:solidFill>
                <a:latin typeface="Calibri" pitchFamily="34" charset="0"/>
                <a:ea typeface="Calibri" pitchFamily="34" charset="-122"/>
                <a:cs typeface="Calibri" pitchFamily="34" charset="-120"/>
              </a:rPr>
              <a:t>An audit log that answers who, when and what</a:t>
            </a:r>
            <a:endParaRPr lang="en-US" sz="1300" dirty="0"/>
          </a:p>
          <a:p>
            <a:pPr marL="342900" indent="-342900">
              <a:spcAft>
                <a:spcPts val="600"/>
              </a:spcAft>
              <a:buSzPct val="100000"/>
              <a:buChar char="•"/>
            </a:pPr>
            <a:r>
              <a:rPr lang="en-US" sz="1300" dirty="0">
                <a:solidFill>
                  <a:srgbClr val="101828"/>
                </a:solidFill>
                <a:latin typeface="Calibri" pitchFamily="34" charset="0"/>
                <a:ea typeface="Calibri" pitchFamily="34" charset="-122"/>
                <a:cs typeface="Calibri" pitchFamily="34" charset="-120"/>
              </a:rPr>
              <a:t>The controls are settings you own, and changes are recorded</a:t>
            </a:r>
            <a:endParaRPr lang="en-US" sz="1300" dirty="0"/>
          </a:p>
        </p:txBody>
      </p:sp>
      <p:sp>
        <p:nvSpPr>
          <p:cNvPr id="20" name="role-note"/>
          <p:cNvSpPr/>
          <p:nvPr/>
        </p:nvSpPr>
        <p:spPr>
          <a:xfrm>
            <a:off x="566928" y="4645152"/>
            <a:ext cx="11057839" cy="1234440"/>
          </a:xfrm>
          <a:prstGeom prst="roundRect">
            <a:avLst>
              <a:gd name="adj" fmla="val 5185"/>
            </a:avLst>
          </a:prstGeom>
          <a:solidFill>
            <a:srgbClr val="EEF2FA"/>
          </a:solidFill>
          <a:ln w="12700">
            <a:solidFill>
              <a:srgbClr val="DCE4F2"/>
            </a:solidFill>
            <a:prstDash val="solid"/>
          </a:ln>
        </p:spPr>
      </p:sp>
      <p:sp>
        <p:nvSpPr>
          <p:cNvPr id="21" name="Text 18"/>
          <p:cNvSpPr txBox="1"/>
          <p:nvPr/>
        </p:nvSpPr>
        <p:spPr>
          <a:xfrm>
            <a:off x="804672" y="4882896"/>
            <a:ext cx="10582351" cy="295021"/>
          </a:xfrm>
          <a:prstGeom prst="rect">
            <a:avLst/>
          </a:prstGeom>
          <a:noFill/>
          <a:ln/>
        </p:spPr>
        <p:txBody>
          <a:bodyPr wrap="square" lIns="0" tIns="0" rIns="0" bIns="0" rtlCol="0" anchor="ctr"/>
          <a:lstStyle/>
          <a:p>
            <a:pPr marL="0" indent="0">
              <a:buNone/>
            </a:pPr>
            <a:r>
              <a:rPr lang="en-US" sz="1550" b="1" dirty="0">
                <a:solidFill>
                  <a:srgbClr val="15285C"/>
                </a:solidFill>
              </a:rPr>
              <a:t>Nothing you already knew how to do has moved</a:t>
            </a:r>
            <a:endParaRPr lang="en-US" sz="1550" dirty="0"/>
          </a:p>
        </p:txBody>
      </p:sp>
      <p:sp>
        <p:nvSpPr>
          <p:cNvPr id="22" name="Text 19"/>
          <p:cNvSpPr txBox="1"/>
          <p:nvPr/>
        </p:nvSpPr>
        <p:spPr>
          <a:xfrm>
            <a:off x="804672" y="5251069"/>
            <a:ext cx="10582351" cy="462102"/>
          </a:xfrm>
          <a:prstGeom prst="rect">
            <a:avLst/>
          </a:prstGeom>
          <a:noFill/>
          <a:ln/>
        </p:spPr>
        <p:txBody>
          <a:bodyPr wrap="square" lIns="0" tIns="0" rIns="0" bIns="0" rtlCol="0" anchor="t"/>
          <a:lstStyle/>
          <a:p>
            <a:pPr marL="0" indent="0">
              <a:buNone/>
            </a:pPr>
            <a:r>
              <a:rPr lang="en-US" sz="1400" dirty="0">
                <a:solidFill>
                  <a:srgbClr val="101828"/>
                </a:solidFill>
                <a:latin typeface="Calibri" pitchFamily="34" charset="0"/>
                <a:ea typeface="Calibri" pitchFamily="34" charset="-122"/>
                <a:cs typeface="Calibri" pitchFamily="34" charset="-120"/>
              </a:rPr>
              <a:t>Every new rule ships switched off, matching how the system behaved before, so the day it arrives nothing changes until you choose to change it.</a:t>
            </a:r>
            <a:endParaRPr lang="en-US" sz="1400" dirty="0"/>
          </a:p>
        </p:txBody>
      </p:sp>
      <p:sp>
        <p:nvSpPr>
          <p:cNvPr id="25" name="Slide Number Placeholder 0"/>
          <p:cNvSpPr>
            <a:spLocks noGrp="1"/>
          </p:cNvSpPr>
          <p:nvPr>
            <p:ph type="sldNum" sz="quarter" idx="4294967295"/>
          </p:nvPr>
        </p:nvSpPr>
        <p:spPr>
          <a:xfrm>
            <a:off x="1143000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950">
                <a:solidFill>
                  <a:srgbClr val="A8B0BD"/>
                </a:solidFill>
                <a:latin typeface="Calibri"/>
                <a:ea typeface="Calibri"/>
                <a:cs typeface="Calibri"/>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lide-title"/>
          <p:cNvSpPr txBox="1"/>
          <p:nvPr/>
        </p:nvSpPr>
        <p:spPr>
          <a:xfrm>
            <a:off x="566928" y="438912"/>
            <a:ext cx="11057839" cy="603504"/>
          </a:xfrm>
          <a:prstGeom prst="rect">
            <a:avLst/>
          </a:prstGeom>
          <a:noFill/>
          <a:ln/>
        </p:spPr>
        <p:txBody>
          <a:bodyPr wrap="square" lIns="0" tIns="0" rIns="0" bIns="0" rtlCol="0" anchor="ctr"/>
          <a:lstStyle/>
          <a:p>
            <a:pPr marL="0" indent="0">
              <a:buNone/>
            </a:pPr>
            <a:r>
              <a:rPr lang="en-US" sz="3000" b="1" dirty="0">
                <a:solidFill>
                  <a:srgbClr val="15285C"/>
                </a:solidFill>
              </a:rPr>
              <a:t>What we need from you</a:t>
            </a:r>
            <a:endParaRPr lang="en-US" sz="3000" dirty="0"/>
          </a:p>
        </p:txBody>
      </p:sp>
      <p:sp>
        <p:nvSpPr>
          <p:cNvPr id="3" name="slide-lead"/>
          <p:cNvSpPr txBox="1"/>
          <p:nvPr/>
        </p:nvSpPr>
        <p:spPr>
          <a:xfrm>
            <a:off x="566928" y="1060704"/>
            <a:ext cx="11057839" cy="402336"/>
          </a:xfrm>
          <a:prstGeom prst="rect">
            <a:avLst/>
          </a:prstGeom>
          <a:noFill/>
          <a:ln/>
        </p:spPr>
        <p:txBody>
          <a:bodyPr wrap="square" lIns="0" tIns="0" rIns="0" bIns="0" rtlCol="0" anchor="ctr"/>
          <a:lstStyle/>
          <a:p>
            <a:pPr marL="0" indent="0">
              <a:buNone/>
            </a:pPr>
            <a:r>
              <a:rPr lang="en-US" sz="1450" dirty="0">
                <a:solidFill>
                  <a:srgbClr val="5A6577"/>
                </a:solidFill>
                <a:latin typeface="Calibri" pitchFamily="34" charset="0"/>
                <a:ea typeface="Calibri" pitchFamily="34" charset="-122"/>
                <a:cs typeface="Calibri" pitchFamily="34" charset="-120"/>
              </a:rPr>
              <a:t>The software is live. These are the decisions only the business can make.</a:t>
            </a:r>
            <a:endParaRPr lang="en-US" sz="1450" dirty="0"/>
          </a:p>
        </p:txBody>
      </p:sp>
      <p:sp>
        <p:nvSpPr>
          <p:cNvPr id="5" name="next-0"/>
          <p:cNvSpPr/>
          <p:nvPr/>
        </p:nvSpPr>
        <p:spPr>
          <a:xfrm>
            <a:off x="566928" y="1627632"/>
            <a:ext cx="11057839" cy="658368"/>
          </a:xfrm>
          <a:prstGeom prst="roundRect">
            <a:avLst>
              <a:gd name="adj" fmla="val 6944"/>
            </a:avLst>
          </a:prstGeom>
          <a:solidFill>
            <a:srgbClr val="FFFFFF"/>
          </a:solidFill>
          <a:ln w="12700">
            <a:solidFill>
              <a:srgbClr val="E3E9F3"/>
            </a:solidFill>
            <a:prstDash val="solid"/>
          </a:ln>
        </p:spPr>
      </p:sp>
      <p:sp>
        <p:nvSpPr>
          <p:cNvPr id="6" name="dot-1"/>
          <p:cNvSpPr/>
          <p:nvPr/>
        </p:nvSpPr>
        <p:spPr>
          <a:xfrm>
            <a:off x="768096" y="1783080"/>
            <a:ext cx="347472" cy="347472"/>
          </a:xfrm>
          <a:prstGeom prst="ellipse">
            <a:avLst/>
          </a:prstGeom>
          <a:solidFill>
            <a:srgbClr val="15285C"/>
          </a:solidFill>
          <a:ln w="12700">
            <a:solidFill>
              <a:srgbClr val="15285C"/>
            </a:solidFill>
            <a:prstDash val="solid"/>
          </a:ln>
        </p:spPr>
      </p:sp>
      <p:sp>
        <p:nvSpPr>
          <p:cNvPr id="7" name="Text 4"/>
          <p:cNvSpPr txBox="1"/>
          <p:nvPr/>
        </p:nvSpPr>
        <p:spPr>
          <a:xfrm>
            <a:off x="768096" y="1783080"/>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8" name="Text 5"/>
          <p:cNvSpPr txBox="1"/>
          <p:nvPr/>
        </p:nvSpPr>
        <p:spPr>
          <a:xfrm>
            <a:off x="1261872" y="1682496"/>
            <a:ext cx="4846320" cy="548640"/>
          </a:xfrm>
          <a:prstGeom prst="rect">
            <a:avLst/>
          </a:prstGeom>
          <a:noFill/>
          <a:ln/>
        </p:spPr>
        <p:txBody>
          <a:bodyPr wrap="square" lIns="0" tIns="0" rIns="0" bIns="0" rtlCol="0" anchor="ctr"/>
          <a:lstStyle/>
          <a:p>
            <a:pPr marL="0" indent="0">
              <a:buNone/>
            </a:pPr>
            <a:r>
              <a:rPr lang="en-US" sz="1400" b="1" dirty="0">
                <a:solidFill>
                  <a:srgbClr val="15285C"/>
                </a:solidFill>
              </a:rPr>
              <a:t>Confirm the seven GSTINs and their TANs</a:t>
            </a:r>
            <a:endParaRPr lang="en-US" sz="1400" dirty="0"/>
          </a:p>
        </p:txBody>
      </p:sp>
      <p:sp>
        <p:nvSpPr>
          <p:cNvPr id="9" name="Text 6"/>
          <p:cNvSpPr txBox="1"/>
          <p:nvPr/>
        </p:nvSpPr>
        <p:spPr>
          <a:xfrm>
            <a:off x="6190488" y="1682496"/>
            <a:ext cx="1920240" cy="548640"/>
          </a:xfrm>
          <a:prstGeom prst="rect">
            <a:avLst/>
          </a:prstGeom>
          <a:noFill/>
          <a:ln/>
        </p:spPr>
        <p:txBody>
          <a:bodyPr wrap="square" lIns="0" tIns="0" rIns="0" bIns="0" rtlCol="0" anchor="ctr"/>
          <a:lstStyle/>
          <a:p>
            <a:pPr marL="0" indent="0">
              <a:buNone/>
            </a:pPr>
            <a:r>
              <a:rPr lang="en-US" sz="1150" b="1" dirty="0">
                <a:solidFill>
                  <a:srgbClr val="B4801A"/>
                </a:solidFill>
              </a:rPr>
              <a:t>Accounts</a:t>
            </a:r>
            <a:endParaRPr lang="en-US" sz="1150" dirty="0"/>
          </a:p>
        </p:txBody>
      </p:sp>
      <p:sp>
        <p:nvSpPr>
          <p:cNvPr id="10" name="Text 7"/>
          <p:cNvSpPr txBox="1"/>
          <p:nvPr/>
        </p:nvSpPr>
        <p:spPr>
          <a:xfrm>
            <a:off x="8202168" y="1682496"/>
            <a:ext cx="3285439" cy="548640"/>
          </a:xfrm>
          <a:prstGeom prst="rect">
            <a:avLst/>
          </a:prstGeom>
          <a:noFill/>
          <a:ln/>
        </p:spPr>
        <p:txBody>
          <a:bodyPr wrap="square" lIns="0" tIns="0" rIns="0" bIns="0" rtlCol="0" anchor="ctr"/>
          <a:lstStyle/>
          <a:p>
            <a:pPr marL="0" indent="0">
              <a:buNone/>
            </a:pPr>
            <a:r>
              <a:rPr lang="en-US" sz="1150" dirty="0">
                <a:solidFill>
                  <a:srgbClr val="5A6577"/>
                </a:solidFill>
                <a:latin typeface="Calibri" pitchFamily="34" charset="0"/>
                <a:ea typeface="Calibri" pitchFamily="34" charset="-122"/>
                <a:cs typeface="Calibri" pitchFamily="34" charset="-120"/>
              </a:rPr>
              <a:t>So every bill lands in the right return</a:t>
            </a:r>
            <a:endParaRPr lang="en-US" sz="1150" dirty="0"/>
          </a:p>
        </p:txBody>
      </p:sp>
      <p:sp>
        <p:nvSpPr>
          <p:cNvPr id="11" name="next-1"/>
          <p:cNvSpPr/>
          <p:nvPr/>
        </p:nvSpPr>
        <p:spPr>
          <a:xfrm>
            <a:off x="566928" y="2377440"/>
            <a:ext cx="11057839" cy="658368"/>
          </a:xfrm>
          <a:prstGeom prst="roundRect">
            <a:avLst>
              <a:gd name="adj" fmla="val 6944"/>
            </a:avLst>
          </a:prstGeom>
          <a:solidFill>
            <a:srgbClr val="FAFBFD"/>
          </a:solidFill>
          <a:ln w="12700">
            <a:solidFill>
              <a:srgbClr val="E3E9F3"/>
            </a:solidFill>
            <a:prstDash val="solid"/>
          </a:ln>
        </p:spPr>
      </p:sp>
      <p:sp>
        <p:nvSpPr>
          <p:cNvPr id="12" name="dot-2"/>
          <p:cNvSpPr/>
          <p:nvPr/>
        </p:nvSpPr>
        <p:spPr>
          <a:xfrm>
            <a:off x="768096" y="2532888"/>
            <a:ext cx="347472" cy="347472"/>
          </a:xfrm>
          <a:prstGeom prst="ellipse">
            <a:avLst/>
          </a:prstGeom>
          <a:solidFill>
            <a:srgbClr val="15285C"/>
          </a:solidFill>
          <a:ln w="12700">
            <a:solidFill>
              <a:srgbClr val="15285C"/>
            </a:solidFill>
            <a:prstDash val="solid"/>
          </a:ln>
        </p:spPr>
      </p:sp>
      <p:sp>
        <p:nvSpPr>
          <p:cNvPr id="13" name="Text 10"/>
          <p:cNvSpPr txBox="1"/>
          <p:nvPr/>
        </p:nvSpPr>
        <p:spPr>
          <a:xfrm>
            <a:off x="768096" y="2532888"/>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4" name="Text 11"/>
          <p:cNvSpPr txBox="1"/>
          <p:nvPr/>
        </p:nvSpPr>
        <p:spPr>
          <a:xfrm>
            <a:off x="1261872" y="2432304"/>
            <a:ext cx="4846320" cy="548640"/>
          </a:xfrm>
          <a:prstGeom prst="rect">
            <a:avLst/>
          </a:prstGeom>
          <a:noFill/>
          <a:ln/>
        </p:spPr>
        <p:txBody>
          <a:bodyPr wrap="square" lIns="0" tIns="0" rIns="0" bIns="0" rtlCol="0" anchor="ctr"/>
          <a:lstStyle/>
          <a:p>
            <a:pPr marL="0" indent="0">
              <a:buNone/>
            </a:pPr>
            <a:r>
              <a:rPr lang="en-US" sz="1400" b="1" dirty="0">
                <a:solidFill>
                  <a:srgbClr val="15285C"/>
                </a:solidFill>
              </a:rPr>
              <a:t>Map each project to its state</a:t>
            </a:r>
            <a:endParaRPr lang="en-US" sz="1400" dirty="0"/>
          </a:p>
        </p:txBody>
      </p:sp>
      <p:sp>
        <p:nvSpPr>
          <p:cNvPr id="15" name="Text 12"/>
          <p:cNvSpPr txBox="1"/>
          <p:nvPr/>
        </p:nvSpPr>
        <p:spPr>
          <a:xfrm>
            <a:off x="6190488" y="2432304"/>
            <a:ext cx="1920240" cy="548640"/>
          </a:xfrm>
          <a:prstGeom prst="rect">
            <a:avLst/>
          </a:prstGeom>
          <a:noFill/>
          <a:ln/>
        </p:spPr>
        <p:txBody>
          <a:bodyPr wrap="square" lIns="0" tIns="0" rIns="0" bIns="0" rtlCol="0" anchor="ctr"/>
          <a:lstStyle/>
          <a:p>
            <a:pPr marL="0" indent="0">
              <a:buNone/>
            </a:pPr>
            <a:r>
              <a:rPr lang="en-US" sz="1150" b="1" dirty="0">
                <a:solidFill>
                  <a:srgbClr val="B4801A"/>
                </a:solidFill>
              </a:rPr>
              <a:t>Accounts with Projects</a:t>
            </a:r>
            <a:endParaRPr lang="en-US" sz="1150" dirty="0"/>
          </a:p>
        </p:txBody>
      </p:sp>
      <p:sp>
        <p:nvSpPr>
          <p:cNvPr id="16" name="Text 13"/>
          <p:cNvSpPr txBox="1"/>
          <p:nvPr/>
        </p:nvSpPr>
        <p:spPr>
          <a:xfrm>
            <a:off x="8202168" y="2432304"/>
            <a:ext cx="3285439" cy="548640"/>
          </a:xfrm>
          <a:prstGeom prst="rect">
            <a:avLst/>
          </a:prstGeom>
          <a:noFill/>
          <a:ln/>
        </p:spPr>
        <p:txBody>
          <a:bodyPr wrap="square" lIns="0" tIns="0" rIns="0" bIns="0" rtlCol="0" anchor="ctr"/>
          <a:lstStyle/>
          <a:p>
            <a:pPr marL="0" indent="0">
              <a:buNone/>
            </a:pPr>
            <a:r>
              <a:rPr lang="en-US" sz="1150" dirty="0">
                <a:solidFill>
                  <a:srgbClr val="5A6577"/>
                </a:solidFill>
                <a:latin typeface="Calibri" pitchFamily="34" charset="0"/>
                <a:ea typeface="Calibri" pitchFamily="34" charset="-122"/>
                <a:cs typeface="Calibri" pitchFamily="34" charset="-120"/>
              </a:rPr>
              <a:t>The attribution chain needs this to be accurate</a:t>
            </a:r>
            <a:endParaRPr lang="en-US" sz="1150" dirty="0"/>
          </a:p>
        </p:txBody>
      </p:sp>
      <p:sp>
        <p:nvSpPr>
          <p:cNvPr id="17" name="next-2"/>
          <p:cNvSpPr/>
          <p:nvPr/>
        </p:nvSpPr>
        <p:spPr>
          <a:xfrm>
            <a:off x="566928" y="3127248"/>
            <a:ext cx="11057839" cy="658368"/>
          </a:xfrm>
          <a:prstGeom prst="roundRect">
            <a:avLst>
              <a:gd name="adj" fmla="val 6944"/>
            </a:avLst>
          </a:prstGeom>
          <a:solidFill>
            <a:srgbClr val="FFFFFF"/>
          </a:solidFill>
          <a:ln w="12700">
            <a:solidFill>
              <a:srgbClr val="E3E9F3"/>
            </a:solidFill>
            <a:prstDash val="solid"/>
          </a:ln>
        </p:spPr>
      </p:sp>
      <p:sp>
        <p:nvSpPr>
          <p:cNvPr id="18" name="dot-3"/>
          <p:cNvSpPr/>
          <p:nvPr/>
        </p:nvSpPr>
        <p:spPr>
          <a:xfrm>
            <a:off x="768096" y="3282696"/>
            <a:ext cx="347472" cy="347472"/>
          </a:xfrm>
          <a:prstGeom prst="ellipse">
            <a:avLst/>
          </a:prstGeom>
          <a:solidFill>
            <a:srgbClr val="15285C"/>
          </a:solidFill>
          <a:ln w="12700">
            <a:solidFill>
              <a:srgbClr val="15285C"/>
            </a:solidFill>
            <a:prstDash val="solid"/>
          </a:ln>
        </p:spPr>
      </p:sp>
      <p:sp>
        <p:nvSpPr>
          <p:cNvPr id="19" name="Text 16"/>
          <p:cNvSpPr txBox="1"/>
          <p:nvPr/>
        </p:nvSpPr>
        <p:spPr>
          <a:xfrm>
            <a:off x="768096" y="328269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20" name="Text 17"/>
          <p:cNvSpPr txBox="1"/>
          <p:nvPr/>
        </p:nvSpPr>
        <p:spPr>
          <a:xfrm>
            <a:off x="1261872" y="3182112"/>
            <a:ext cx="4846320" cy="548640"/>
          </a:xfrm>
          <a:prstGeom prst="rect">
            <a:avLst/>
          </a:prstGeom>
          <a:noFill/>
          <a:ln/>
        </p:spPr>
        <p:txBody>
          <a:bodyPr wrap="square" lIns="0" tIns="0" rIns="0" bIns="0" rtlCol="0" anchor="ctr"/>
          <a:lstStyle/>
          <a:p>
            <a:pPr marL="0" indent="0">
              <a:buNone/>
            </a:pPr>
            <a:r>
              <a:rPr lang="en-US" sz="1400" b="1" dirty="0">
                <a:solidFill>
                  <a:srgbClr val="15285C"/>
                </a:solidFill>
              </a:rPr>
              <a:t>Decide who acts on what, and the alternatives</a:t>
            </a:r>
            <a:endParaRPr lang="en-US" sz="1400" dirty="0"/>
          </a:p>
        </p:txBody>
      </p:sp>
      <p:sp>
        <p:nvSpPr>
          <p:cNvPr id="21" name="Text 18"/>
          <p:cNvSpPr txBox="1"/>
          <p:nvPr/>
        </p:nvSpPr>
        <p:spPr>
          <a:xfrm>
            <a:off x="6190488" y="3182112"/>
            <a:ext cx="1920240" cy="548640"/>
          </a:xfrm>
          <a:prstGeom prst="rect">
            <a:avLst/>
          </a:prstGeom>
          <a:noFill/>
          <a:ln/>
        </p:spPr>
        <p:txBody>
          <a:bodyPr wrap="square" lIns="0" tIns="0" rIns="0" bIns="0" rtlCol="0" anchor="ctr"/>
          <a:lstStyle/>
          <a:p>
            <a:pPr marL="0" indent="0">
              <a:buNone/>
            </a:pPr>
            <a:r>
              <a:rPr lang="en-US" sz="1150" b="1" dirty="0">
                <a:solidFill>
                  <a:srgbClr val="B4801A"/>
                </a:solidFill>
              </a:rPr>
              <a:t>Directors</a:t>
            </a:r>
            <a:endParaRPr lang="en-US" sz="1150" dirty="0"/>
          </a:p>
        </p:txBody>
      </p:sp>
      <p:sp>
        <p:nvSpPr>
          <p:cNvPr id="22" name="Text 19"/>
          <p:cNvSpPr txBox="1"/>
          <p:nvPr/>
        </p:nvSpPr>
        <p:spPr>
          <a:xfrm>
            <a:off x="8202168" y="3182112"/>
            <a:ext cx="3285439" cy="548640"/>
          </a:xfrm>
          <a:prstGeom prst="rect">
            <a:avLst/>
          </a:prstGeom>
          <a:noFill/>
          <a:ln/>
        </p:spPr>
        <p:txBody>
          <a:bodyPr wrap="square" lIns="0" tIns="0" rIns="0" bIns="0" rtlCol="0" anchor="ctr"/>
          <a:lstStyle/>
          <a:p>
            <a:pPr marL="0" indent="0">
              <a:buNone/>
            </a:pPr>
            <a:r>
              <a:rPr lang="en-US" sz="1150" dirty="0">
                <a:solidFill>
                  <a:srgbClr val="5A6577"/>
                </a:solidFill>
                <a:latin typeface="Calibri" pitchFamily="34" charset="0"/>
                <a:ea typeface="Calibri" pitchFamily="34" charset="-122"/>
                <a:cs typeface="Calibri" pitchFamily="34" charset="-120"/>
              </a:rPr>
              <a:t>Then choose which of those to enforce</a:t>
            </a:r>
            <a:endParaRPr lang="en-US" sz="1150" dirty="0"/>
          </a:p>
        </p:txBody>
      </p:sp>
      <p:sp>
        <p:nvSpPr>
          <p:cNvPr id="23" name="next-3"/>
          <p:cNvSpPr/>
          <p:nvPr/>
        </p:nvSpPr>
        <p:spPr>
          <a:xfrm>
            <a:off x="566928" y="3877056"/>
            <a:ext cx="11057839" cy="658368"/>
          </a:xfrm>
          <a:prstGeom prst="roundRect">
            <a:avLst>
              <a:gd name="adj" fmla="val 6944"/>
            </a:avLst>
          </a:prstGeom>
          <a:solidFill>
            <a:srgbClr val="FAFBFD"/>
          </a:solidFill>
          <a:ln w="12700">
            <a:solidFill>
              <a:srgbClr val="E3E9F3"/>
            </a:solidFill>
            <a:prstDash val="solid"/>
          </a:ln>
        </p:spPr>
      </p:sp>
      <p:sp>
        <p:nvSpPr>
          <p:cNvPr id="24" name="dot-4"/>
          <p:cNvSpPr/>
          <p:nvPr/>
        </p:nvSpPr>
        <p:spPr>
          <a:xfrm>
            <a:off x="768096" y="4032504"/>
            <a:ext cx="347472" cy="347472"/>
          </a:xfrm>
          <a:prstGeom prst="ellipse">
            <a:avLst/>
          </a:prstGeom>
          <a:solidFill>
            <a:srgbClr val="15285C"/>
          </a:solidFill>
          <a:ln w="12700">
            <a:solidFill>
              <a:srgbClr val="15285C"/>
            </a:solidFill>
            <a:prstDash val="solid"/>
          </a:ln>
        </p:spPr>
      </p:sp>
      <p:sp>
        <p:nvSpPr>
          <p:cNvPr id="25" name="Text 22"/>
          <p:cNvSpPr txBox="1"/>
          <p:nvPr/>
        </p:nvSpPr>
        <p:spPr>
          <a:xfrm>
            <a:off x="768096" y="4032504"/>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26" name="Text 23"/>
          <p:cNvSpPr txBox="1"/>
          <p:nvPr/>
        </p:nvSpPr>
        <p:spPr>
          <a:xfrm>
            <a:off x="1261872" y="3931920"/>
            <a:ext cx="4846320" cy="548640"/>
          </a:xfrm>
          <a:prstGeom prst="rect">
            <a:avLst/>
          </a:prstGeom>
          <a:noFill/>
          <a:ln/>
        </p:spPr>
        <p:txBody>
          <a:bodyPr wrap="square" lIns="0" tIns="0" rIns="0" bIns="0" rtlCol="0" anchor="ctr"/>
          <a:lstStyle/>
          <a:p>
            <a:pPr marL="0" indent="0">
              <a:buNone/>
            </a:pPr>
            <a:r>
              <a:rPr lang="en-US" sz="1400" b="1" dirty="0">
                <a:solidFill>
                  <a:srgbClr val="15285C"/>
                </a:solidFill>
              </a:rPr>
              <a:t>Set the dating window and limits</a:t>
            </a:r>
            <a:endParaRPr lang="en-US" sz="1400" dirty="0"/>
          </a:p>
        </p:txBody>
      </p:sp>
      <p:sp>
        <p:nvSpPr>
          <p:cNvPr id="27" name="Text 24"/>
          <p:cNvSpPr txBox="1"/>
          <p:nvPr/>
        </p:nvSpPr>
        <p:spPr>
          <a:xfrm>
            <a:off x="6190488" y="3931920"/>
            <a:ext cx="1920240" cy="548640"/>
          </a:xfrm>
          <a:prstGeom prst="rect">
            <a:avLst/>
          </a:prstGeom>
          <a:noFill/>
          <a:ln/>
        </p:spPr>
        <p:txBody>
          <a:bodyPr wrap="square" lIns="0" tIns="0" rIns="0" bIns="0" rtlCol="0" anchor="ctr"/>
          <a:lstStyle/>
          <a:p>
            <a:pPr marL="0" indent="0">
              <a:buNone/>
            </a:pPr>
            <a:r>
              <a:rPr lang="en-US" sz="1150" b="1" dirty="0">
                <a:solidFill>
                  <a:srgbClr val="B4801A"/>
                </a:solidFill>
              </a:rPr>
              <a:t>Finance</a:t>
            </a:r>
            <a:endParaRPr lang="en-US" sz="1150" dirty="0"/>
          </a:p>
        </p:txBody>
      </p:sp>
      <p:sp>
        <p:nvSpPr>
          <p:cNvPr id="28" name="Text 25"/>
          <p:cNvSpPr txBox="1"/>
          <p:nvPr/>
        </p:nvSpPr>
        <p:spPr>
          <a:xfrm>
            <a:off x="8202168" y="3931920"/>
            <a:ext cx="3285439" cy="548640"/>
          </a:xfrm>
          <a:prstGeom prst="rect">
            <a:avLst/>
          </a:prstGeom>
          <a:noFill/>
          <a:ln/>
        </p:spPr>
        <p:txBody>
          <a:bodyPr wrap="square" lIns="0" tIns="0" rIns="0" bIns="0" rtlCol="0" anchor="ctr"/>
          <a:lstStyle/>
          <a:p>
            <a:pPr marL="0" indent="0">
              <a:buNone/>
            </a:pPr>
            <a:r>
              <a:rPr lang="en-US" sz="1150" dirty="0">
                <a:solidFill>
                  <a:srgbClr val="5A6577"/>
                </a:solidFill>
                <a:latin typeface="Calibri" pitchFamily="34" charset="0"/>
                <a:ea typeface="Calibri" pitchFamily="34" charset="-122"/>
                <a:cs typeface="Calibri" pitchFamily="34" charset="-120"/>
              </a:rPr>
              <a:t>Month-end discipline becomes a setting, not a reminder</a:t>
            </a:r>
            <a:endParaRPr lang="en-US" sz="1150" dirty="0"/>
          </a:p>
        </p:txBody>
      </p:sp>
      <p:sp>
        <p:nvSpPr>
          <p:cNvPr id="29" name="next-4"/>
          <p:cNvSpPr/>
          <p:nvPr/>
        </p:nvSpPr>
        <p:spPr>
          <a:xfrm>
            <a:off x="566928" y="4626864"/>
            <a:ext cx="11057839" cy="658368"/>
          </a:xfrm>
          <a:prstGeom prst="roundRect">
            <a:avLst>
              <a:gd name="adj" fmla="val 6944"/>
            </a:avLst>
          </a:prstGeom>
          <a:solidFill>
            <a:srgbClr val="FFFFFF"/>
          </a:solidFill>
          <a:ln w="12700">
            <a:solidFill>
              <a:srgbClr val="E3E9F3"/>
            </a:solidFill>
            <a:prstDash val="solid"/>
          </a:ln>
        </p:spPr>
      </p:sp>
      <p:sp>
        <p:nvSpPr>
          <p:cNvPr id="30" name="dot-5"/>
          <p:cNvSpPr/>
          <p:nvPr/>
        </p:nvSpPr>
        <p:spPr>
          <a:xfrm>
            <a:off x="768096" y="4782312"/>
            <a:ext cx="347472" cy="347472"/>
          </a:xfrm>
          <a:prstGeom prst="ellipse">
            <a:avLst/>
          </a:prstGeom>
          <a:solidFill>
            <a:srgbClr val="15285C"/>
          </a:solidFill>
          <a:ln w="12700">
            <a:solidFill>
              <a:srgbClr val="15285C"/>
            </a:solidFill>
            <a:prstDash val="solid"/>
          </a:ln>
        </p:spPr>
      </p:sp>
      <p:sp>
        <p:nvSpPr>
          <p:cNvPr id="31" name="Text 28"/>
          <p:cNvSpPr txBox="1"/>
          <p:nvPr/>
        </p:nvSpPr>
        <p:spPr>
          <a:xfrm>
            <a:off x="768096" y="478231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rPr>
              <a:t>5</a:t>
            </a:r>
            <a:endParaRPr lang="en-US" sz="1200" dirty="0"/>
          </a:p>
        </p:txBody>
      </p:sp>
      <p:sp>
        <p:nvSpPr>
          <p:cNvPr id="32" name="Text 29"/>
          <p:cNvSpPr txBox="1"/>
          <p:nvPr/>
        </p:nvSpPr>
        <p:spPr>
          <a:xfrm>
            <a:off x="1261872" y="4681728"/>
            <a:ext cx="4846320" cy="548640"/>
          </a:xfrm>
          <a:prstGeom prst="rect">
            <a:avLst/>
          </a:prstGeom>
          <a:noFill/>
          <a:ln/>
        </p:spPr>
        <p:txBody>
          <a:bodyPr wrap="square" lIns="0" tIns="0" rIns="0" bIns="0" rtlCol="0" anchor="ctr"/>
          <a:lstStyle/>
          <a:p>
            <a:pPr marL="0" indent="0">
              <a:buNone/>
            </a:pPr>
            <a:r>
              <a:rPr lang="en-US" sz="1400" b="1" dirty="0">
                <a:solidFill>
                  <a:srgbClr val="15285C"/>
                </a:solidFill>
              </a:rPr>
              <a:t>Walk the three dashboards with each team</a:t>
            </a:r>
            <a:endParaRPr lang="en-US" sz="1400" dirty="0"/>
          </a:p>
        </p:txBody>
      </p:sp>
      <p:sp>
        <p:nvSpPr>
          <p:cNvPr id="33" name="Text 30"/>
          <p:cNvSpPr txBox="1"/>
          <p:nvPr/>
        </p:nvSpPr>
        <p:spPr>
          <a:xfrm>
            <a:off x="6190488" y="4681728"/>
            <a:ext cx="1920240" cy="548640"/>
          </a:xfrm>
          <a:prstGeom prst="rect">
            <a:avLst/>
          </a:prstGeom>
          <a:noFill/>
          <a:ln/>
        </p:spPr>
        <p:txBody>
          <a:bodyPr wrap="square" lIns="0" tIns="0" rIns="0" bIns="0" rtlCol="0" anchor="ctr"/>
          <a:lstStyle/>
          <a:p>
            <a:pPr marL="0" indent="0">
              <a:buNone/>
            </a:pPr>
            <a:r>
              <a:rPr lang="en-US" sz="1150" b="1" dirty="0">
                <a:solidFill>
                  <a:srgbClr val="B4801A"/>
                </a:solidFill>
              </a:rPr>
              <a:t>All of us</a:t>
            </a:r>
            <a:endParaRPr lang="en-US" sz="1150" dirty="0"/>
          </a:p>
        </p:txBody>
      </p:sp>
      <p:sp>
        <p:nvSpPr>
          <p:cNvPr id="34" name="Text 31"/>
          <p:cNvSpPr txBox="1"/>
          <p:nvPr/>
        </p:nvSpPr>
        <p:spPr>
          <a:xfrm>
            <a:off x="8202168" y="4681728"/>
            <a:ext cx="3285439" cy="548640"/>
          </a:xfrm>
          <a:prstGeom prst="rect">
            <a:avLst/>
          </a:prstGeom>
          <a:noFill/>
          <a:ln/>
        </p:spPr>
        <p:txBody>
          <a:bodyPr wrap="square" lIns="0" tIns="0" rIns="0" bIns="0" rtlCol="0" anchor="ctr"/>
          <a:lstStyle/>
          <a:p>
            <a:pPr marL="0" indent="0">
              <a:buNone/>
            </a:pPr>
            <a:r>
              <a:rPr lang="en-US" sz="1150" dirty="0">
                <a:solidFill>
                  <a:srgbClr val="5A6577"/>
                </a:solidFill>
                <a:latin typeface="Calibri" pitchFamily="34" charset="0"/>
                <a:ea typeface="Calibri" pitchFamily="34" charset="-122"/>
                <a:cs typeface="Calibri" pitchFamily="34" charset="-120"/>
              </a:rPr>
              <a:t>Half an hour per team is enough</a:t>
            </a:r>
            <a:endParaRPr lang="en-US" sz="1150" dirty="0"/>
          </a:p>
        </p:txBody>
      </p:sp>
      <p:sp>
        <p:nvSpPr>
          <p:cNvPr id="4" name="Slide Number Placeholder 0"/>
          <p:cNvSpPr>
            <a:spLocks noGrp="1"/>
          </p:cNvSpPr>
          <p:nvPr>
            <p:ph type="sldNum" sz="quarter" idx="4294967295"/>
          </p:nvPr>
        </p:nvSpPr>
        <p:spPr>
          <a:xfrm>
            <a:off x="1143000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950">
                <a:solidFill>
                  <a:srgbClr val="A8B0BD"/>
                </a:solidFill>
                <a:latin typeface="Calibri"/>
                <a:ea typeface="Calibri"/>
                <a:cs typeface="Calibri"/>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eyebrow"/>
          <p:cNvSpPr txBox="1"/>
          <p:nvPr/>
        </p:nvSpPr>
        <p:spPr>
          <a:xfrm>
            <a:off x="566928" y="1737360"/>
            <a:ext cx="10058400" cy="310896"/>
          </a:xfrm>
          <a:prstGeom prst="rect">
            <a:avLst/>
          </a:prstGeom>
          <a:noFill/>
          <a:ln/>
        </p:spPr>
        <p:txBody>
          <a:bodyPr wrap="square" lIns="0" tIns="0" rIns="0" bIns="0" rtlCol="0" anchor="ctr"/>
          <a:lstStyle/>
          <a:p>
            <a:pPr marL="0" indent="0">
              <a:buNone/>
            </a:pPr>
            <a:r>
              <a:rPr lang="en-US" sz="1400" b="1" kern="0" spc="300" dirty="0">
                <a:solidFill>
                  <a:srgbClr val="B4801A"/>
                </a:solidFill>
                <a:latin typeface="Calibri" pitchFamily="34" charset="0"/>
                <a:ea typeface="Calibri" pitchFamily="34" charset="-122"/>
                <a:cs typeface="Calibri" pitchFamily="34" charset="-120"/>
              </a:rPr>
              <a:t>THANK YOU</a:t>
            </a:r>
            <a:endParaRPr lang="en-US" sz="1400" dirty="0"/>
          </a:p>
        </p:txBody>
      </p:sp>
      <p:sp>
        <p:nvSpPr>
          <p:cNvPr id="3" name="dark-title"/>
          <p:cNvSpPr txBox="1"/>
          <p:nvPr/>
        </p:nvSpPr>
        <p:spPr>
          <a:xfrm>
            <a:off x="566928" y="2157984"/>
            <a:ext cx="10058400" cy="599948"/>
          </a:xfrm>
          <a:prstGeom prst="rect">
            <a:avLst/>
          </a:prstGeom>
          <a:noFill/>
          <a:ln/>
        </p:spPr>
        <p:txBody>
          <a:bodyPr wrap="square" lIns="0" tIns="0" rIns="0" bIns="0" rtlCol="0" anchor="t"/>
          <a:lstStyle/>
          <a:p>
            <a:pPr marL="0" indent="0">
              <a:buNone/>
            </a:pPr>
            <a:r>
              <a:rPr lang="en-US" sz="3400" b="1" dirty="0">
                <a:solidFill>
                  <a:srgbClr val="FFFFFF"/>
                </a:solidFill>
              </a:rPr>
              <a:t>Questions, and a look at the live screens</a:t>
            </a:r>
            <a:endParaRPr lang="en-US" sz="3400" dirty="0"/>
          </a:p>
        </p:txBody>
      </p:sp>
      <p:sp>
        <p:nvSpPr>
          <p:cNvPr id="4" name="dark-sub"/>
          <p:cNvSpPr txBox="1"/>
          <p:nvPr/>
        </p:nvSpPr>
        <p:spPr>
          <a:xfrm>
            <a:off x="566928" y="2922524"/>
            <a:ext cx="9692640" cy="321056"/>
          </a:xfrm>
          <a:prstGeom prst="rect">
            <a:avLst/>
          </a:prstGeom>
          <a:noFill/>
          <a:ln/>
        </p:spPr>
        <p:txBody>
          <a:bodyPr wrap="square" lIns="0" tIns="0" rIns="0" bIns="0" rtlCol="0" anchor="t"/>
          <a:lstStyle/>
          <a:p>
            <a:pPr marL="0" indent="0">
              <a:buNone/>
            </a:pPr>
            <a:r>
              <a:rPr lang="en-US" sz="1600" dirty="0">
                <a:solidFill>
                  <a:srgbClr val="CBD6E8"/>
                </a:solidFill>
                <a:latin typeface="Calibri" pitchFamily="34" charset="0"/>
                <a:ea typeface="Calibri" pitchFamily="34" charset="-122"/>
                <a:cs typeface="Calibri" pitchFamily="34" charset="-120"/>
              </a:rPr>
              <a:t>All three are open and ready to walk through.</a:t>
            </a:r>
            <a:endParaRPr lang="en-US" sz="1600" dirty="0"/>
          </a:p>
        </p:txBody>
      </p:sp>
      <p:sp>
        <p:nvSpPr>
          <p:cNvPr id="5" name="close-0"/>
          <p:cNvSpPr/>
          <p:nvPr/>
        </p:nvSpPr>
        <p:spPr>
          <a:xfrm>
            <a:off x="566928" y="4069080"/>
            <a:ext cx="3442106" cy="1691640"/>
          </a:xfrm>
          <a:prstGeom prst="roundRect">
            <a:avLst>
              <a:gd name="adj" fmla="val 3784"/>
            </a:avLst>
          </a:prstGeom>
          <a:solidFill>
            <a:srgbClr val="1C3366"/>
          </a:solidFill>
          <a:ln w="12700">
            <a:solidFill>
              <a:srgbClr val="2F5192"/>
            </a:solidFill>
            <a:prstDash val="solid"/>
          </a:ln>
        </p:spPr>
      </p:sp>
      <p:sp>
        <p:nvSpPr>
          <p:cNvPr id="6" name="dot-1"/>
          <p:cNvSpPr/>
          <p:nvPr/>
        </p:nvSpPr>
        <p:spPr>
          <a:xfrm>
            <a:off x="804672" y="4306824"/>
            <a:ext cx="347472" cy="347472"/>
          </a:xfrm>
          <a:prstGeom prst="ellipse">
            <a:avLst/>
          </a:prstGeom>
          <a:solidFill>
            <a:srgbClr val="4C6FA5"/>
          </a:solidFill>
          <a:ln w="12700">
            <a:solidFill>
              <a:srgbClr val="4C6FA5"/>
            </a:solidFill>
            <a:prstDash val="solid"/>
          </a:ln>
        </p:spPr>
      </p:sp>
      <p:sp>
        <p:nvSpPr>
          <p:cNvPr id="7" name="Text 5"/>
          <p:cNvSpPr txBox="1"/>
          <p:nvPr/>
        </p:nvSpPr>
        <p:spPr>
          <a:xfrm>
            <a:off x="804672" y="4306824"/>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8" name="Text 6"/>
          <p:cNvSpPr txBox="1"/>
          <p:nvPr/>
        </p:nvSpPr>
        <p:spPr>
          <a:xfrm>
            <a:off x="1280160" y="4306824"/>
            <a:ext cx="2491130" cy="295021"/>
          </a:xfrm>
          <a:prstGeom prst="rect">
            <a:avLst/>
          </a:prstGeom>
          <a:noFill/>
          <a:ln/>
        </p:spPr>
        <p:txBody>
          <a:bodyPr wrap="square" lIns="0" tIns="0" rIns="0" bIns="0" rtlCol="0" anchor="ctr"/>
          <a:lstStyle/>
          <a:p>
            <a:pPr marL="0" indent="0">
              <a:buNone/>
            </a:pPr>
            <a:r>
              <a:rPr lang="en-US" sz="1550" b="1" dirty="0">
                <a:solidFill>
                  <a:srgbClr val="FFFFFF"/>
                </a:solidFill>
              </a:rPr>
              <a:t>Expenses</a:t>
            </a:r>
            <a:endParaRPr lang="en-US" sz="1550" dirty="0"/>
          </a:p>
        </p:txBody>
      </p:sp>
      <p:sp>
        <p:nvSpPr>
          <p:cNvPr id="9" name="Text 7"/>
          <p:cNvSpPr txBox="1"/>
          <p:nvPr/>
        </p:nvSpPr>
        <p:spPr>
          <a:xfrm>
            <a:off x="804672" y="4782312"/>
            <a:ext cx="2966618" cy="811987"/>
          </a:xfrm>
          <a:prstGeom prst="rect">
            <a:avLst/>
          </a:prstGeom>
          <a:noFill/>
          <a:ln/>
        </p:spPr>
        <p:txBody>
          <a:bodyPr wrap="square" lIns="0" tIns="0" rIns="0" bIns="0" rtlCol="0" anchor="t"/>
          <a:lstStyle/>
          <a:p>
            <a:pPr marL="0" indent="0">
              <a:buNone/>
            </a:pPr>
            <a:r>
              <a:rPr lang="en-US" sz="1300" dirty="0">
                <a:solidFill>
                  <a:srgbClr val="CBD6E8"/>
                </a:solidFill>
                <a:latin typeface="Calibri" pitchFamily="34" charset="0"/>
                <a:ea typeface="Calibri" pitchFamily="34" charset="-122"/>
                <a:cs typeface="Calibri" pitchFamily="34" charset="-120"/>
              </a:rPr>
              <a:t>Raise a request, with GST and TDS captured once</a:t>
            </a:r>
            <a:endParaRPr lang="en-US" sz="1300" dirty="0"/>
          </a:p>
        </p:txBody>
      </p:sp>
      <p:sp>
        <p:nvSpPr>
          <p:cNvPr id="10" name="close-1"/>
          <p:cNvSpPr/>
          <p:nvPr/>
        </p:nvSpPr>
        <p:spPr>
          <a:xfrm>
            <a:off x="4374794" y="4069080"/>
            <a:ext cx="3442106" cy="1691640"/>
          </a:xfrm>
          <a:prstGeom prst="roundRect">
            <a:avLst>
              <a:gd name="adj" fmla="val 3784"/>
            </a:avLst>
          </a:prstGeom>
          <a:solidFill>
            <a:srgbClr val="1C3366"/>
          </a:solidFill>
          <a:ln w="12700">
            <a:solidFill>
              <a:srgbClr val="2F5192"/>
            </a:solidFill>
            <a:prstDash val="solid"/>
          </a:ln>
        </p:spPr>
      </p:sp>
      <p:sp>
        <p:nvSpPr>
          <p:cNvPr id="11" name="dot-2"/>
          <p:cNvSpPr/>
          <p:nvPr/>
        </p:nvSpPr>
        <p:spPr>
          <a:xfrm>
            <a:off x="4612538" y="4306824"/>
            <a:ext cx="347472" cy="347472"/>
          </a:xfrm>
          <a:prstGeom prst="ellipse">
            <a:avLst/>
          </a:prstGeom>
          <a:solidFill>
            <a:srgbClr val="B4801A"/>
          </a:solidFill>
          <a:ln w="12700">
            <a:solidFill>
              <a:srgbClr val="B4801A"/>
            </a:solidFill>
            <a:prstDash val="solid"/>
          </a:ln>
        </p:spPr>
      </p:sp>
      <p:sp>
        <p:nvSpPr>
          <p:cNvPr id="12" name="Text 10"/>
          <p:cNvSpPr txBox="1"/>
          <p:nvPr/>
        </p:nvSpPr>
        <p:spPr>
          <a:xfrm>
            <a:off x="4612538" y="4306824"/>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3" name="Text 11"/>
          <p:cNvSpPr txBox="1"/>
          <p:nvPr/>
        </p:nvSpPr>
        <p:spPr>
          <a:xfrm>
            <a:off x="5088026" y="4306824"/>
            <a:ext cx="2491130" cy="295021"/>
          </a:xfrm>
          <a:prstGeom prst="rect">
            <a:avLst/>
          </a:prstGeom>
          <a:noFill/>
          <a:ln/>
        </p:spPr>
        <p:txBody>
          <a:bodyPr wrap="square" lIns="0" tIns="0" rIns="0" bIns="0" rtlCol="0" anchor="ctr"/>
          <a:lstStyle/>
          <a:p>
            <a:pPr marL="0" indent="0">
              <a:buNone/>
            </a:pPr>
            <a:r>
              <a:rPr lang="en-US" sz="1550" b="1" dirty="0">
                <a:solidFill>
                  <a:srgbClr val="FFFFFF"/>
                </a:solidFill>
              </a:rPr>
              <a:t>Daily Requisition</a:t>
            </a:r>
            <a:endParaRPr lang="en-US" sz="1550" dirty="0"/>
          </a:p>
        </p:txBody>
      </p:sp>
      <p:sp>
        <p:nvSpPr>
          <p:cNvPr id="14" name="Text 12"/>
          <p:cNvSpPr txBox="1"/>
          <p:nvPr/>
        </p:nvSpPr>
        <p:spPr>
          <a:xfrm>
            <a:off x="4612538" y="4782312"/>
            <a:ext cx="2966618" cy="811987"/>
          </a:xfrm>
          <a:prstGeom prst="rect">
            <a:avLst/>
          </a:prstGeom>
          <a:noFill/>
          <a:ln/>
        </p:spPr>
        <p:txBody>
          <a:bodyPr wrap="square" lIns="0" tIns="0" rIns="0" bIns="0" rtlCol="0" anchor="t"/>
          <a:lstStyle/>
          <a:p>
            <a:pPr marL="0" indent="0">
              <a:buNone/>
            </a:pPr>
            <a:r>
              <a:rPr lang="en-US" sz="1300" dirty="0">
                <a:solidFill>
                  <a:srgbClr val="CBD6E8"/>
                </a:solidFill>
                <a:latin typeface="Calibri" pitchFamily="34" charset="0"/>
                <a:ea typeface="Calibri" pitchFamily="34" charset="-122"/>
                <a:cs typeface="Calibri" pitchFamily="34" charset="-120"/>
              </a:rPr>
              <a:t>Receive, verify and send for payment</a:t>
            </a:r>
            <a:endParaRPr lang="en-US" sz="1300" dirty="0"/>
          </a:p>
        </p:txBody>
      </p:sp>
      <p:sp>
        <p:nvSpPr>
          <p:cNvPr id="15" name="close-2"/>
          <p:cNvSpPr/>
          <p:nvPr/>
        </p:nvSpPr>
        <p:spPr>
          <a:xfrm>
            <a:off x="8182661" y="4069080"/>
            <a:ext cx="3442106" cy="1691640"/>
          </a:xfrm>
          <a:prstGeom prst="roundRect">
            <a:avLst>
              <a:gd name="adj" fmla="val 3784"/>
            </a:avLst>
          </a:prstGeom>
          <a:solidFill>
            <a:srgbClr val="1C3366"/>
          </a:solidFill>
          <a:ln w="12700">
            <a:solidFill>
              <a:srgbClr val="2F5192"/>
            </a:solidFill>
            <a:prstDash val="solid"/>
          </a:ln>
        </p:spPr>
      </p:sp>
      <p:sp>
        <p:nvSpPr>
          <p:cNvPr id="16" name="dot-3"/>
          <p:cNvSpPr/>
          <p:nvPr/>
        </p:nvSpPr>
        <p:spPr>
          <a:xfrm>
            <a:off x="8420405" y="4306824"/>
            <a:ext cx="347472" cy="347472"/>
          </a:xfrm>
          <a:prstGeom prst="ellipse">
            <a:avLst/>
          </a:prstGeom>
          <a:solidFill>
            <a:srgbClr val="0E7A58"/>
          </a:solidFill>
          <a:ln w="12700">
            <a:solidFill>
              <a:srgbClr val="0E7A58"/>
            </a:solidFill>
            <a:prstDash val="solid"/>
          </a:ln>
        </p:spPr>
      </p:sp>
      <p:sp>
        <p:nvSpPr>
          <p:cNvPr id="17" name="Text 15"/>
          <p:cNvSpPr txBox="1"/>
          <p:nvPr/>
        </p:nvSpPr>
        <p:spPr>
          <a:xfrm>
            <a:off x="8420405" y="4306824"/>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8" name="Text 16"/>
          <p:cNvSpPr txBox="1"/>
          <p:nvPr/>
        </p:nvSpPr>
        <p:spPr>
          <a:xfrm>
            <a:off x="8895893" y="4306824"/>
            <a:ext cx="2491130" cy="295021"/>
          </a:xfrm>
          <a:prstGeom prst="rect">
            <a:avLst/>
          </a:prstGeom>
          <a:noFill/>
          <a:ln/>
        </p:spPr>
        <p:txBody>
          <a:bodyPr wrap="square" lIns="0" tIns="0" rIns="0" bIns="0" rtlCol="0" anchor="ctr"/>
          <a:lstStyle/>
          <a:p>
            <a:pPr marL="0" indent="0">
              <a:buNone/>
            </a:pPr>
            <a:r>
              <a:rPr lang="en-US" sz="1550" b="1" dirty="0">
                <a:solidFill>
                  <a:srgbClr val="FFFFFF"/>
                </a:solidFill>
              </a:rPr>
              <a:t>Bank Balance</a:t>
            </a:r>
            <a:endParaRPr lang="en-US" sz="1550" dirty="0"/>
          </a:p>
        </p:txBody>
      </p:sp>
      <p:sp>
        <p:nvSpPr>
          <p:cNvPr id="19" name="Text 17"/>
          <p:cNvSpPr txBox="1"/>
          <p:nvPr/>
        </p:nvSpPr>
        <p:spPr>
          <a:xfrm>
            <a:off x="8420405" y="4782312"/>
            <a:ext cx="2966618" cy="811987"/>
          </a:xfrm>
          <a:prstGeom prst="rect">
            <a:avLst/>
          </a:prstGeom>
          <a:noFill/>
          <a:ln/>
        </p:spPr>
        <p:txBody>
          <a:bodyPr wrap="square" lIns="0" tIns="0" rIns="0" bIns="0" rtlCol="0" anchor="t"/>
          <a:lstStyle/>
          <a:p>
            <a:pPr marL="0" indent="0">
              <a:buNone/>
            </a:pPr>
            <a:r>
              <a:rPr lang="en-US" sz="1300" dirty="0">
                <a:solidFill>
                  <a:srgbClr val="CBD6E8"/>
                </a:solidFill>
                <a:latin typeface="Calibri" pitchFamily="34" charset="0"/>
                <a:ea typeface="Calibri" pitchFamily="34" charset="-122"/>
                <a:cs typeface="Calibri" pitchFamily="34" charset="-120"/>
              </a:rPr>
              <a:t>Pay, and know the position</a:t>
            </a:r>
            <a:endParaRPr lang="en-US" sz="1300" dirty="0"/>
          </a:p>
        </p:txBody>
      </p:sp>
    </p:spTree>
  </p:cSld>
  <p:clrMapOvr>
    <a:masterClrMapping/>
  </p:clrMapOvr>
</p:sld>
</file>

<file path=ppt/theme/theme1.xml><?xml version="1.0" encoding="utf-8"?>
<a:theme xmlns:a="http://schemas.openxmlformats.org/drawingml/2006/main" name="SEL Payments">
  <a:themeElements>
    <a:clrScheme name="SEL Payments">
      <a:dk1>
        <a:srgbClr val="101828"/>
      </a:dk1>
      <a:lt1>
        <a:srgbClr val="FFFFFF"/>
      </a:lt1>
      <a:dk2>
        <a:srgbClr val="15285C"/>
      </a:dk2>
      <a:lt2>
        <a:srgbClr val="EEF2FA"/>
      </a:lt2>
      <a:accent1>
        <a:srgbClr val="15285C"/>
      </a:accent1>
      <a:accent2>
        <a:srgbClr val="B4801A"/>
      </a:accent2>
      <a:accent3>
        <a:srgbClr val="0E7A58"/>
      </a:accent3>
      <a:accent4>
        <a:srgbClr val="A6281F"/>
      </a:accent4>
      <a:accent5>
        <a:srgbClr val="4C6FA5"/>
      </a:accent5>
      <a:accent6>
        <a:srgbClr val="5A6577"/>
      </a:accent6>
      <a:hlink>
        <a:srgbClr val="4C6FA5"/>
      </a:hlink>
      <a:folHlink>
        <a:srgbClr val="5A6577"/>
      </a:folHlink>
    </a:clrScheme>
    <a:fontScheme name="SEL Payment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2923</Words>
  <Application>Microsoft Office PowerPoint</Application>
  <PresentationFormat>Widescreen</PresentationFormat>
  <Paragraphs>365</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SEL Payments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SEL Payment Modules — User and Director Briefing</dc:title>
  <dc:subject>Expenses, Daily Requisition and Bank Balance</dc:subject>
  <dc:creator>SEL</dc:creator>
  <cp:lastModifiedBy>John Smith</cp:lastModifiedBy>
  <cp:revision>1</cp:revision>
  <dcterms:created xsi:type="dcterms:W3CDTF">2026-10-05T07:08:42Z</dcterms:created>
  <dcterms:modified xsi:type="dcterms:W3CDTF">2026-10-05T07:14:27Z</dcterms:modified>
</cp:coreProperties>
</file>