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68277e3-cf31-d34a-dedb-1ee80e0016e5}">
          <p14:sldIdLst>
            <p14:sldId id="256"/>
          </p14:sldIdLst>
        </p14:section>
        <p14:section name="What it does" id="{05e6d8ff-e054-0582-d23a-f22433060345}">
          <p14:sldIdLst>
            <p14:sldId id="257"/>
          </p14:sldIdLst>
        </p14:section>
        <p14:section name="How it works" id="{31bda28e-51ce-d1fa-98ff-33267b2fd6ef}">
          <p14:sldIdLst>
            <p14:sldId id="258"/>
          </p14:sldIdLst>
        </p14:section>
        <p14:section name="Controls" id="{143bf07d-d2b0-4837-25d9-ce5e36f6c1d5}">
          <p14:sldIdLst>
            <p14:sldId id="259"/>
          </p14:sldIdLst>
        </p14:section>
        <p14:section name="Next steps" id="{c39054cb-0d73-f39f-5365-e0e7719f8a19}">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Recurring Payments is the module that looks after every bill we pay on a cycle. Instead of relying on someone remembering that the electricity bill is due on the 5th, the system creates each month's payment ahead of time, puts it in the right person's queue, and follows it through approval and payment to closure. Three numbers to remember: it handles eight billing frequencies, every payment moves through a five-step workflow with deadlines, and there are nine ready-made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the module does. First, a master: we describe a recurring bill once — who the vendor is, roughly how much, when the bill comes and when it is due. Second, generation: every day at the time we set — six in the morning by default — the system runs Generate all and creates the next payment a few days before the bill is expected, so nothing is forgotten. Third, the workflow: the payment lands in the owner's queue, then the verifier's, then the approver's, each with a deadline. Fourth, visibility: dashboards, a calendar, nine reports and a complete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life of a single bill. The payment owner collects the bill and enters it — and if the bill covers slightly different dates than expected, they can move the billing period up to five days either way. The verifier checks it against a checklist; anything well above or below past bills is flagged. Approval goes to the right approvers for that amount. Accounts then pays, recording the UTR, and finally checks the receipt and closes it. Every step has a deadline in working hours. If something is wrong, it goes back one step, and approvals start again so nobody signs off on old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directors, the controls. On the left is the reminder schedule around any due date: reminders seven, three and one day before, the due date, then the grace period, and only after grace does a payment count as overdue and escalate daily. Every action is logged. On the right: approvals follow amount, category and project rules; the same bill cannot be entered twice; unusual amounts need a written review; approved figures are locked; and payments can optionally be mirrored into E-Approval.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release fixed a set of reliability issues: manual generation now always creates the cycle that is really missing, one bad record no longer stops the nightly run, reports show what is actually still owed, approvals restart after a correction, and overpayment and duplicate generation are blocked. Owners can now adjust the billing period by up to five days. Four decisions for this group: whether to build email and SMS reminders, linking payments to vendor IDs, whether closed and rejected payments should ever be reopened, and the roll-out plan for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7680960" cy="1188720"/>
          </a:xfrm>
          <a:prstGeom prst="rect">
            <a:avLst/>
          </a:prstGeom>
          <a:noFill/>
          <a:ln/>
        </p:spPr>
        <p:txBody>
          <a:bodyPr wrap="square" rtlCol="0"/>
          <a:lstStyle>
            <a:lvl1pPr indent="0" marL="0">
              <a:buNone/>
              <a:defRPr lang="en-US" sz="4800" b="1" dirty="0">
                <a:solidFill>
                  <a:schemeClr val="bg1"/>
                </a:solidFill>
                <a:latin typeface="Cambria" pitchFamily="34" charset="0"/>
                <a:ea typeface="Cambria" pitchFamily="34" charset="-122"/>
                <a:cs typeface="Cambria" pitchFamily="34" charset="-120"/>
              </a:defRPr>
            </a:lvl1pPr>
          </a:lstStyle>
          <a:p>
            <a:pPr indent="0" marL="0">
              <a:buNone/>
            </a:pPr>
            <a:endParaRPr lang="en-US" sz="4800" dirty="0"/>
          </a:p>
        </p:txBody>
      </p:sp>
      <p:sp>
        <p:nvSpPr>
          <p:cNvPr id="3" name="Text 0"/>
          <p:cNvSpPr/>
          <p:nvPr>
            <p:ph idx="101" type="body" hasCustomPrompt="1"/>
          </p:nvPr>
        </p:nvSpPr>
        <p:spPr>
          <a:xfrm>
            <a:off x="685800" y="2743200"/>
            <a:ext cx="6949440" cy="1280160"/>
          </a:xfrm>
          <a:prstGeom prst="rect">
            <a:avLst/>
          </a:prstGeom>
          <a:noFill/>
          <a:ln/>
        </p:spPr>
        <p:txBody>
          <a:bodyPr wrap="square" rtlCol="0"/>
          <a:lstStyle>
            <a:lvl1pPr indent="0" marL="0">
              <a:buNone/>
              <a:defRPr lang="en-US" sz="1800" dirty="0">
                <a:solidFill>
                  <a:schemeClr val="accent5"/>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Recurring Payments  ·  SEL Live</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Recurring Payments  ·  SEL Live</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7680960" cy="1188720"/>
          </a:xfrm>
          <a:prstGeom prst="rect">
            <a:avLst/>
          </a:prstGeom>
          <a:noFill/>
          <a:ln/>
        </p:spPr>
        <p:txBody>
          <a:bodyPr wrap="square" lIns="0" tIns="0" rIns="0" bIns="0" rtlCol="0" anchor="b"/>
          <a:lstStyle/>
          <a:p>
            <a:pPr indent="0" marL="0">
              <a:buNone/>
            </a:pPr>
            <a:r>
              <a:rPr lang="en-US" sz="4800" b="1" dirty="0">
                <a:solidFill>
                  <a:schemeClr val="bg1"/>
                </a:solidFill>
                <a:latin typeface="Cambria" pitchFamily="34" charset="0"/>
                <a:ea typeface="Cambria" pitchFamily="34" charset="-122"/>
                <a:cs typeface="Cambria" pitchFamily="34" charset="-120"/>
              </a:rPr>
              <a:t>Recurring Payments</a:t>
            </a:r>
            <a:endParaRPr lang="en-US" sz="4800" dirty="0"/>
          </a:p>
        </p:txBody>
      </p:sp>
      <p:sp>
        <p:nvSpPr>
          <p:cNvPr id="3" name="Text 0"/>
          <p:cNvSpPr/>
          <p:nvPr>
            <p:ph idx="101" type="body" hasCustomPrompt="1"/>
          </p:nvPr>
        </p:nvSpPr>
        <p:spPr>
          <a:xfrm>
            <a:off x="685800" y="2743200"/>
            <a:ext cx="6949440" cy="1280160"/>
          </a:xfrm>
          <a:prstGeom prst="rect">
            <a:avLst/>
          </a:prstGeom>
          <a:noFill/>
          <a:ln/>
        </p:spPr>
        <p:txBody>
          <a:bodyPr wrap="square" lIns="0" tIns="0" rIns="0" bIns="0" rtlCol="0" anchor="t"/>
          <a:lstStyle/>
          <a:p>
            <a:pPr indent="0" marL="0">
              <a:buNone/>
            </a:pPr>
            <a:r>
              <a:rPr lang="en-US" sz="1800" dirty="0">
                <a:solidFill>
                  <a:schemeClr val="accent5"/>
                </a:solidFill>
                <a:latin typeface="Calibri" pitchFamily="34" charset="0"/>
                <a:ea typeface="Calibri" pitchFamily="34" charset="-122"/>
                <a:cs typeface="Calibri" pitchFamily="34" charset="-120"/>
              </a:rPr>
              <a:t>Every recurring bill — rent, electricity, telecom, insurance, EMIs, subscriptions — generated on time, approved by the right people, paid and closed with a full audit trail.</a:t>
            </a:r>
            <a:endParaRPr lang="en-US" sz="1800" dirty="0"/>
          </a:p>
        </p:txBody>
      </p:sp>
      <p:sp>
        <p:nvSpPr>
          <p:cNvPr id="4" name="cycle ring"/>
          <p:cNvSpPr/>
          <p:nvPr/>
        </p:nvSpPr>
        <p:spPr>
          <a:xfrm>
            <a:off x="8412480" y="1097280"/>
            <a:ext cx="2834640" cy="2834640"/>
          </a:xfrm>
          <a:prstGeom prst="ellipse">
            <a:avLst/>
          </a:prstGeom>
          <a:ln w="31750">
            <a:solidFill>
              <a:schemeClr val="accent5"/>
            </a:solidFill>
            <a:prstDash val="solid"/>
          </a:ln>
        </p:spPr>
      </p:sp>
      <p:sp>
        <p:nvSpPr>
          <p:cNvPr id="5" name="cycle centre circle"/>
          <p:cNvSpPr/>
          <p:nvPr/>
        </p:nvSpPr>
        <p:spPr>
          <a:xfrm>
            <a:off x="9326880" y="2011680"/>
            <a:ext cx="1005840" cy="1005840"/>
          </a:xfrm>
          <a:prstGeom prst="ellipse">
            <a:avLst/>
          </a:prstGeom>
          <a:solidFill>
            <a:srgbClr val="E89B2D"/>
          </a:solidFill>
          <a:ln/>
        </p:spPr>
      </p:sp>
      <p:pic>
        <p:nvPicPr>
          <p:cNvPr id="6" name="cycle centre icon" descr="preencoded.png">    </p:cNvPr>
          <p:cNvPicPr>
            <a:picLocks noChangeAspect="1"/>
          </p:cNvPicPr>
          <p:nvPr/>
        </p:nvPicPr>
        <p:blipFill>
          <a:blip r:embed="rId1"/>
          <a:stretch>
            <a:fillRect/>
          </a:stretch>
        </p:blipFill>
        <p:spPr>
          <a:xfrm>
            <a:off x="9568282" y="2253082"/>
            <a:ext cx="523037" cy="523037"/>
          </a:xfrm>
          <a:prstGeom prst="rect">
            <a:avLst/>
          </a:prstGeom>
        </p:spPr>
      </p:pic>
      <p:sp>
        <p:nvSpPr>
          <p:cNvPr id="7" name="stage 1 circle"/>
          <p:cNvSpPr/>
          <p:nvPr/>
        </p:nvSpPr>
        <p:spPr>
          <a:xfrm>
            <a:off x="9546336" y="813816"/>
            <a:ext cx="566928" cy="566928"/>
          </a:xfrm>
          <a:prstGeom prst="ellipse">
            <a:avLst/>
          </a:prstGeom>
          <a:solidFill>
            <a:srgbClr val="0F766E"/>
          </a:solidFill>
          <a:ln/>
        </p:spPr>
      </p:sp>
      <p:pic>
        <p:nvPicPr>
          <p:cNvPr id="8" name="stage 1 icon" descr="preencoded.png">    </p:cNvPr>
          <p:cNvPicPr>
            <a:picLocks noChangeAspect="1"/>
          </p:cNvPicPr>
          <p:nvPr/>
        </p:nvPicPr>
        <p:blipFill>
          <a:blip r:embed="rId2"/>
          <a:stretch>
            <a:fillRect/>
          </a:stretch>
        </p:blipFill>
        <p:spPr>
          <a:xfrm>
            <a:off x="9682399" y="949879"/>
            <a:ext cx="294803" cy="294803"/>
          </a:xfrm>
          <a:prstGeom prst="rect">
            <a:avLst/>
          </a:prstGeom>
        </p:spPr>
      </p:pic>
      <p:sp>
        <p:nvSpPr>
          <p:cNvPr id="9" name="stage 2 circle"/>
          <p:cNvSpPr/>
          <p:nvPr/>
        </p:nvSpPr>
        <p:spPr>
          <a:xfrm>
            <a:off x="10894287" y="1793160"/>
            <a:ext cx="566928" cy="566928"/>
          </a:xfrm>
          <a:prstGeom prst="ellipse">
            <a:avLst/>
          </a:prstGeom>
          <a:solidFill>
            <a:srgbClr val="0F766E"/>
          </a:solidFill>
          <a:ln/>
        </p:spPr>
      </p:sp>
      <p:pic>
        <p:nvPicPr>
          <p:cNvPr id="10" name="stage 2 icon" descr="preencoded.png">    </p:cNvPr>
          <p:cNvPicPr>
            <a:picLocks noChangeAspect="1"/>
          </p:cNvPicPr>
          <p:nvPr/>
        </p:nvPicPr>
        <p:blipFill>
          <a:blip r:embed="rId3"/>
          <a:stretch>
            <a:fillRect/>
          </a:stretch>
        </p:blipFill>
        <p:spPr>
          <a:xfrm>
            <a:off x="11030350" y="1929223"/>
            <a:ext cx="294803" cy="294803"/>
          </a:xfrm>
          <a:prstGeom prst="rect">
            <a:avLst/>
          </a:prstGeom>
        </p:spPr>
      </p:pic>
      <p:sp>
        <p:nvSpPr>
          <p:cNvPr id="11" name="stage 3 circle"/>
          <p:cNvSpPr/>
          <p:nvPr/>
        </p:nvSpPr>
        <p:spPr>
          <a:xfrm>
            <a:off x="10379416" y="3377772"/>
            <a:ext cx="566928" cy="566928"/>
          </a:xfrm>
          <a:prstGeom prst="ellipse">
            <a:avLst/>
          </a:prstGeom>
          <a:solidFill>
            <a:srgbClr val="0F766E"/>
          </a:solidFill>
          <a:ln/>
        </p:spPr>
      </p:sp>
      <p:pic>
        <p:nvPicPr>
          <p:cNvPr id="12" name="stage 3 icon" descr="preencoded.png">    </p:cNvPr>
          <p:cNvPicPr>
            <a:picLocks noChangeAspect="1"/>
          </p:cNvPicPr>
          <p:nvPr/>
        </p:nvPicPr>
        <p:blipFill>
          <a:blip r:embed="rId4"/>
          <a:stretch>
            <a:fillRect/>
          </a:stretch>
        </p:blipFill>
        <p:spPr>
          <a:xfrm>
            <a:off x="10515479" y="3513835"/>
            <a:ext cx="294803" cy="294803"/>
          </a:xfrm>
          <a:prstGeom prst="rect">
            <a:avLst/>
          </a:prstGeom>
        </p:spPr>
      </p:pic>
      <p:sp>
        <p:nvSpPr>
          <p:cNvPr id="13" name="stage 4 circle"/>
          <p:cNvSpPr/>
          <p:nvPr/>
        </p:nvSpPr>
        <p:spPr>
          <a:xfrm>
            <a:off x="8713256" y="3377772"/>
            <a:ext cx="566928" cy="566928"/>
          </a:xfrm>
          <a:prstGeom prst="ellipse">
            <a:avLst/>
          </a:prstGeom>
          <a:solidFill>
            <a:srgbClr val="0F766E"/>
          </a:solidFill>
          <a:ln/>
        </p:spPr>
      </p:sp>
      <p:pic>
        <p:nvPicPr>
          <p:cNvPr id="14" name="stage 4 icon" descr="preencoded.png">    </p:cNvPr>
          <p:cNvPicPr>
            <a:picLocks noChangeAspect="1"/>
          </p:cNvPicPr>
          <p:nvPr/>
        </p:nvPicPr>
        <p:blipFill>
          <a:blip r:embed="rId5"/>
          <a:stretch>
            <a:fillRect/>
          </a:stretch>
        </p:blipFill>
        <p:spPr>
          <a:xfrm>
            <a:off x="8849319" y="3513835"/>
            <a:ext cx="294803" cy="294803"/>
          </a:xfrm>
          <a:prstGeom prst="rect">
            <a:avLst/>
          </a:prstGeom>
        </p:spPr>
      </p:pic>
      <p:sp>
        <p:nvSpPr>
          <p:cNvPr id="15" name="stage 5 circle"/>
          <p:cNvSpPr/>
          <p:nvPr/>
        </p:nvSpPr>
        <p:spPr>
          <a:xfrm>
            <a:off x="8198385" y="1793160"/>
            <a:ext cx="566928" cy="566928"/>
          </a:xfrm>
          <a:prstGeom prst="ellipse">
            <a:avLst/>
          </a:prstGeom>
          <a:solidFill>
            <a:srgbClr val="0F766E"/>
          </a:solidFill>
          <a:ln/>
        </p:spPr>
      </p:sp>
      <p:pic>
        <p:nvPicPr>
          <p:cNvPr id="16" name="stage 5 icon" descr="preencoded.png">    </p:cNvPr>
          <p:cNvPicPr>
            <a:picLocks noChangeAspect="1"/>
          </p:cNvPicPr>
          <p:nvPr/>
        </p:nvPicPr>
        <p:blipFill>
          <a:blip r:embed="rId6"/>
          <a:stretch>
            <a:fillRect/>
          </a:stretch>
        </p:blipFill>
        <p:spPr>
          <a:xfrm>
            <a:off x="8334447" y="1929223"/>
            <a:ext cx="294803" cy="294803"/>
          </a:xfrm>
          <a:prstGeom prst="rect">
            <a:avLst/>
          </a:prstGeom>
        </p:spPr>
      </p:pic>
      <p:sp>
        <p:nvSpPr>
          <p:cNvPr id="17" name="fact 1 number"/>
          <p:cNvSpPr txBox="1"/>
          <p:nvPr/>
        </p:nvSpPr>
        <p:spPr>
          <a:xfrm>
            <a:off x="685800" y="4526280"/>
            <a:ext cx="246888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8</a:t>
            </a:r>
            <a:endParaRPr lang="en-US" sz="5400" dirty="0"/>
          </a:p>
        </p:txBody>
      </p:sp>
      <p:sp>
        <p:nvSpPr>
          <p:cNvPr id="18" name="fact 1 label"/>
          <p:cNvSpPr txBox="1"/>
          <p:nvPr/>
        </p:nvSpPr>
        <p:spPr>
          <a:xfrm>
            <a:off x="685800" y="5349240"/>
            <a:ext cx="2377440" cy="548640"/>
          </a:xfrm>
          <a:prstGeom prst="rect">
            <a:avLst/>
          </a:prstGeom>
          <a:noFill/>
          <a:ln/>
        </p:spPr>
        <p:txBody>
          <a:bodyPr wrap="square" lIns="0" tIns="0" rIns="0" bIns="0" rtlCol="0" anchor="t"/>
          <a:lstStyle/>
          <a:p>
            <a:pPr indent="0" marL="0">
              <a:buNone/>
            </a:pPr>
            <a:r>
              <a:rPr lang="en-US" sz="1400" dirty="0">
                <a:solidFill>
                  <a:schemeClr val="bg1"/>
                </a:solidFill>
              </a:rPr>
              <a:t>billing frequencies, weekly to yearly</a:t>
            </a:r>
            <a:endParaRPr lang="en-US" sz="1400" dirty="0"/>
          </a:p>
        </p:txBody>
      </p:sp>
      <p:sp>
        <p:nvSpPr>
          <p:cNvPr id="19" name="fact 2 number"/>
          <p:cNvSpPr txBox="1"/>
          <p:nvPr/>
        </p:nvSpPr>
        <p:spPr>
          <a:xfrm>
            <a:off x="3429000" y="4526280"/>
            <a:ext cx="246888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5</a:t>
            </a:r>
            <a:endParaRPr lang="en-US" sz="5400" dirty="0"/>
          </a:p>
        </p:txBody>
      </p:sp>
      <p:sp>
        <p:nvSpPr>
          <p:cNvPr id="20" name="fact 2 label"/>
          <p:cNvSpPr txBox="1"/>
          <p:nvPr/>
        </p:nvSpPr>
        <p:spPr>
          <a:xfrm>
            <a:off x="3429000" y="5349240"/>
            <a:ext cx="2377440" cy="548640"/>
          </a:xfrm>
          <a:prstGeom prst="rect">
            <a:avLst/>
          </a:prstGeom>
          <a:noFill/>
          <a:ln/>
        </p:spPr>
        <p:txBody>
          <a:bodyPr wrap="square" lIns="0" tIns="0" rIns="0" bIns="0" rtlCol="0" anchor="t"/>
          <a:lstStyle/>
          <a:p>
            <a:pPr indent="0" marL="0">
              <a:buNone/>
            </a:pPr>
            <a:r>
              <a:rPr lang="en-US" sz="1400" dirty="0">
                <a:solidFill>
                  <a:schemeClr val="bg1"/>
                </a:solidFill>
              </a:rPr>
              <a:t>workflow steps, each with a deadline</a:t>
            </a:r>
            <a:endParaRPr lang="en-US" sz="1400" dirty="0"/>
          </a:p>
        </p:txBody>
      </p:sp>
      <p:sp>
        <p:nvSpPr>
          <p:cNvPr id="21" name="fact 3 number"/>
          <p:cNvSpPr txBox="1"/>
          <p:nvPr/>
        </p:nvSpPr>
        <p:spPr>
          <a:xfrm>
            <a:off x="6172200" y="4526280"/>
            <a:ext cx="246888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9</a:t>
            </a:r>
            <a:endParaRPr lang="en-US" sz="5400" dirty="0"/>
          </a:p>
        </p:txBody>
      </p:sp>
      <p:sp>
        <p:nvSpPr>
          <p:cNvPr id="22" name="fact 3 label"/>
          <p:cNvSpPr txBox="1"/>
          <p:nvPr/>
        </p:nvSpPr>
        <p:spPr>
          <a:xfrm>
            <a:off x="6172200" y="5349240"/>
            <a:ext cx="2377440" cy="548640"/>
          </a:xfrm>
          <a:prstGeom prst="rect">
            <a:avLst/>
          </a:prstGeom>
          <a:noFill/>
          <a:ln/>
        </p:spPr>
        <p:txBody>
          <a:bodyPr wrap="square" lIns="0" tIns="0" rIns="0" bIns="0" rtlCol="0" anchor="t"/>
          <a:lstStyle/>
          <a:p>
            <a:pPr indent="0" marL="0">
              <a:buNone/>
            </a:pPr>
            <a:r>
              <a:rPr lang="en-US" sz="1400" dirty="0">
                <a:solidFill>
                  <a:schemeClr val="bg1"/>
                </a:solidFill>
              </a:rPr>
              <a:t>ready-made reports, exportable to Excel</a:t>
            </a:r>
            <a:endParaRPr lang="en-US" sz="1400" dirty="0"/>
          </a:p>
        </p:txBody>
      </p:sp>
      <p:sp>
        <p:nvSpPr>
          <p:cNvPr id="23" name="date line"/>
          <p:cNvSpPr txBox="1"/>
          <p:nvPr/>
        </p:nvSpPr>
        <p:spPr>
          <a:xfrm>
            <a:off x="685800" y="6263640"/>
            <a:ext cx="7315200" cy="320040"/>
          </a:xfrm>
          <a:prstGeom prst="rect">
            <a:avLst/>
          </a:prstGeom>
          <a:noFill/>
          <a:ln/>
        </p:spPr>
        <p:txBody>
          <a:bodyPr wrap="square" lIns="0" tIns="0" rIns="0" bIns="0" rtlCol="0" anchor="ctr"/>
          <a:lstStyle/>
          <a:p>
            <a:pPr indent="0" marL="0">
              <a:buNone/>
            </a:pPr>
            <a:r>
              <a:rPr lang="en-US" sz="1200" dirty="0">
                <a:solidFill>
                  <a:schemeClr val="accent5"/>
                </a:solidFill>
              </a:rPr>
              <a:t>Presented to users and directors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One place for every recurring obligation</a:t>
            </a:r>
            <a:endParaRPr lang="en-US" sz="3200" dirty="0"/>
          </a:p>
        </p:txBody>
      </p:sp>
      <p:sp>
        <p:nvSpPr>
          <p:cNvPr id="3" name="lead"/>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1600" dirty="0">
                <a:solidFill>
                  <a:schemeClr val="tx1"/>
                </a:solidFill>
              </a:rPr>
              <a:t>Set a bill up once. From then on the system creates each cycle's payment before the bill arrives, routes it, and tracks it until it is closed.</a:t>
            </a:r>
            <a:endParaRPr lang="en-US" sz="1600" dirty="0"/>
          </a:p>
        </p:txBody>
      </p:sp>
      <p:sp>
        <p:nvSpPr>
          <p:cNvPr id="4" name="card 1"/>
          <p:cNvSpPr/>
          <p:nvPr/>
        </p:nvSpPr>
        <p:spPr>
          <a:xfrm>
            <a:off x="548640" y="2057400"/>
            <a:ext cx="5349240" cy="1965960"/>
          </a:xfrm>
          <a:prstGeom prst="roundRect">
            <a:avLst>
              <a:gd name="adj" fmla="val 5581"/>
            </a:avLst>
          </a:prstGeom>
          <a:solidFill>
            <a:schemeClr val="bg2"/>
          </a:solidFill>
          <a:ln/>
        </p:spPr>
      </p:sp>
      <p:sp>
        <p:nvSpPr>
          <p:cNvPr id="5" name="card 1 circle"/>
          <p:cNvSpPr/>
          <p:nvPr/>
        </p:nvSpPr>
        <p:spPr>
          <a:xfrm>
            <a:off x="822960" y="2331720"/>
            <a:ext cx="685800" cy="685800"/>
          </a:xfrm>
          <a:prstGeom prst="ellipse">
            <a:avLst/>
          </a:prstGeom>
          <a:solidFill>
            <a:srgbClr val="0F766E"/>
          </a:solidFill>
          <a:ln/>
        </p:spPr>
      </p:sp>
      <p:pic>
        <p:nvPicPr>
          <p:cNvPr id="6" name="card 1 icon" descr="preencoded.png">    </p:cNvPr>
          <p:cNvPicPr>
            <a:picLocks noChangeAspect="1"/>
          </p:cNvPicPr>
          <p:nvPr/>
        </p:nvPicPr>
        <p:blipFill>
          <a:blip r:embed="rId1"/>
          <a:stretch>
            <a:fillRect/>
          </a:stretch>
        </p:blipFill>
        <p:spPr>
          <a:xfrm>
            <a:off x="987552" y="2496312"/>
            <a:ext cx="356616" cy="356616"/>
          </a:xfrm>
          <a:prstGeom prst="rect">
            <a:avLst/>
          </a:prstGeom>
        </p:spPr>
      </p:pic>
      <p:sp>
        <p:nvSpPr>
          <p:cNvPr id="7" name="card 1 heading"/>
          <p:cNvSpPr txBox="1"/>
          <p:nvPr/>
        </p:nvSpPr>
        <p:spPr>
          <a:xfrm>
            <a:off x="1737360" y="233172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Recurring masters</a:t>
            </a:r>
            <a:endParaRPr lang="en-US" sz="2000" dirty="0"/>
          </a:p>
        </p:txBody>
      </p:sp>
      <p:sp>
        <p:nvSpPr>
          <p:cNvPr id="8" name="card 1 body"/>
          <p:cNvSpPr txBox="1"/>
          <p:nvPr/>
        </p:nvSpPr>
        <p:spPr>
          <a:xfrm>
            <a:off x="1737360" y="2788920"/>
            <a:ext cx="3886200" cy="1051560"/>
          </a:xfrm>
          <a:prstGeom prst="rect">
            <a:avLst/>
          </a:prstGeom>
          <a:noFill/>
          <a:ln/>
        </p:spPr>
        <p:txBody>
          <a:bodyPr wrap="square" lIns="0" tIns="0" rIns="0" bIns="0" rtlCol="0" anchor="t"/>
          <a:lstStyle/>
          <a:p>
            <a:pPr indent="0" marL="0">
              <a:buNone/>
            </a:pPr>
            <a:r>
              <a:rPr lang="en-US" sz="1400" dirty="0">
                <a:solidFill>
                  <a:schemeClr val="tx1"/>
                </a:solidFill>
              </a:rPr>
              <a:t>Configure a bill once: vendor, category, project, expected amount, billing period, bill and due-date rules, grace days and owner. Import many at once from CSV.</a:t>
            </a:r>
            <a:endParaRPr lang="en-US" sz="1400" dirty="0"/>
          </a:p>
        </p:txBody>
      </p:sp>
      <p:sp>
        <p:nvSpPr>
          <p:cNvPr id="9" name="card 2"/>
          <p:cNvSpPr/>
          <p:nvPr/>
        </p:nvSpPr>
        <p:spPr>
          <a:xfrm>
            <a:off x="6263640" y="2057400"/>
            <a:ext cx="5349240" cy="1965960"/>
          </a:xfrm>
          <a:prstGeom prst="roundRect">
            <a:avLst>
              <a:gd name="adj" fmla="val 5581"/>
            </a:avLst>
          </a:prstGeom>
          <a:solidFill>
            <a:schemeClr val="bg2"/>
          </a:solidFill>
          <a:ln/>
        </p:spPr>
      </p:sp>
      <p:sp>
        <p:nvSpPr>
          <p:cNvPr id="10" name="card 2 circle"/>
          <p:cNvSpPr/>
          <p:nvPr/>
        </p:nvSpPr>
        <p:spPr>
          <a:xfrm>
            <a:off x="6537960" y="2331720"/>
            <a:ext cx="685800" cy="685800"/>
          </a:xfrm>
          <a:prstGeom prst="ellipse">
            <a:avLst/>
          </a:prstGeom>
          <a:solidFill>
            <a:srgbClr val="0F766E"/>
          </a:solidFill>
          <a:ln/>
        </p:spPr>
      </p:sp>
      <p:pic>
        <p:nvPicPr>
          <p:cNvPr id="11" name="card 2 icon" descr="preencoded.png">    </p:cNvPr>
          <p:cNvPicPr>
            <a:picLocks noChangeAspect="1"/>
          </p:cNvPicPr>
          <p:nvPr/>
        </p:nvPicPr>
        <p:blipFill>
          <a:blip r:embed="rId2"/>
          <a:stretch>
            <a:fillRect/>
          </a:stretch>
        </p:blipFill>
        <p:spPr>
          <a:xfrm>
            <a:off x="6702552" y="2496312"/>
            <a:ext cx="356616" cy="356616"/>
          </a:xfrm>
          <a:prstGeom prst="rect">
            <a:avLst/>
          </a:prstGeom>
        </p:spPr>
      </p:pic>
      <p:sp>
        <p:nvSpPr>
          <p:cNvPr id="12" name="card 2 heading"/>
          <p:cNvSpPr txBox="1"/>
          <p:nvPr/>
        </p:nvSpPr>
        <p:spPr>
          <a:xfrm>
            <a:off x="7452360" y="233172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Automatic generation</a:t>
            </a:r>
            <a:endParaRPr lang="en-US" sz="2000" dirty="0"/>
          </a:p>
        </p:txBody>
      </p:sp>
      <p:sp>
        <p:nvSpPr>
          <p:cNvPr id="13" name="card 2 body"/>
          <p:cNvSpPr txBox="1"/>
          <p:nvPr/>
        </p:nvSpPr>
        <p:spPr>
          <a:xfrm>
            <a:off x="7452360" y="2788920"/>
            <a:ext cx="3886200" cy="1051560"/>
          </a:xfrm>
          <a:prstGeom prst="rect">
            <a:avLst/>
          </a:prstGeom>
          <a:noFill/>
          <a:ln/>
        </p:spPr>
        <p:txBody>
          <a:bodyPr wrap="square" lIns="0" tIns="0" rIns="0" bIns="0" rtlCol="0" anchor="t"/>
          <a:lstStyle/>
          <a:p>
            <a:pPr indent="0" marL="0">
              <a:buNone/>
            </a:pPr>
            <a:r>
              <a:rPr lang="en-US" sz="1400" dirty="0">
                <a:solidFill>
                  <a:schemeClr val="tx1"/>
                </a:solidFill>
              </a:rPr>
              <a:t>Every day, at the time and on the days set in Settings (06:00 by default), the system runs Generate all: each cycle's payment is created ahead of its bill and its workflow starts.</a:t>
            </a:r>
            <a:endParaRPr lang="en-US" sz="1400" dirty="0"/>
          </a:p>
        </p:txBody>
      </p:sp>
      <p:sp>
        <p:nvSpPr>
          <p:cNvPr id="14" name="card 3"/>
          <p:cNvSpPr/>
          <p:nvPr/>
        </p:nvSpPr>
        <p:spPr>
          <a:xfrm>
            <a:off x="548640" y="4297680"/>
            <a:ext cx="5349240" cy="1965960"/>
          </a:xfrm>
          <a:prstGeom prst="roundRect">
            <a:avLst>
              <a:gd name="adj" fmla="val 5581"/>
            </a:avLst>
          </a:prstGeom>
          <a:solidFill>
            <a:schemeClr val="bg2"/>
          </a:solidFill>
          <a:ln/>
        </p:spPr>
      </p:sp>
      <p:sp>
        <p:nvSpPr>
          <p:cNvPr id="15" name="card 3 circle"/>
          <p:cNvSpPr/>
          <p:nvPr/>
        </p:nvSpPr>
        <p:spPr>
          <a:xfrm>
            <a:off x="822960" y="4572000"/>
            <a:ext cx="685800" cy="685800"/>
          </a:xfrm>
          <a:prstGeom prst="ellipse">
            <a:avLst/>
          </a:prstGeom>
          <a:solidFill>
            <a:srgbClr val="0F766E"/>
          </a:solidFill>
          <a:ln/>
        </p:spPr>
      </p:sp>
      <p:pic>
        <p:nvPicPr>
          <p:cNvPr id="16" name="card 3 icon" descr="preencoded.png">    </p:cNvPr>
          <p:cNvPicPr>
            <a:picLocks noChangeAspect="1"/>
          </p:cNvPicPr>
          <p:nvPr/>
        </p:nvPicPr>
        <p:blipFill>
          <a:blip r:embed="rId3"/>
          <a:stretch>
            <a:fillRect/>
          </a:stretch>
        </p:blipFill>
        <p:spPr>
          <a:xfrm>
            <a:off x="987552" y="4736592"/>
            <a:ext cx="356616" cy="356616"/>
          </a:xfrm>
          <a:prstGeom prst="rect">
            <a:avLst/>
          </a:prstGeom>
        </p:spPr>
      </p:pic>
      <p:sp>
        <p:nvSpPr>
          <p:cNvPr id="17" name="card 3 heading"/>
          <p:cNvSpPr txBox="1"/>
          <p:nvPr/>
        </p:nvSpPr>
        <p:spPr>
          <a:xfrm>
            <a:off x="1737360" y="457200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Guided workflow</a:t>
            </a:r>
            <a:endParaRPr lang="en-US" sz="2000" dirty="0"/>
          </a:p>
        </p:txBody>
      </p:sp>
      <p:sp>
        <p:nvSpPr>
          <p:cNvPr id="18" name="card 3 body"/>
          <p:cNvSpPr txBox="1"/>
          <p:nvPr/>
        </p:nvSpPr>
        <p:spPr>
          <a:xfrm>
            <a:off x="1737360" y="5029200"/>
            <a:ext cx="3886200" cy="1051560"/>
          </a:xfrm>
          <a:prstGeom prst="rect">
            <a:avLst/>
          </a:prstGeom>
          <a:noFill/>
          <a:ln/>
        </p:spPr>
        <p:txBody>
          <a:bodyPr wrap="square" lIns="0" tIns="0" rIns="0" bIns="0" rtlCol="0" anchor="t"/>
          <a:lstStyle/>
          <a:p>
            <a:pPr indent="0" marL="0">
              <a:buNone/>
            </a:pPr>
            <a:r>
              <a:rPr lang="en-US" sz="1400" dirty="0">
                <a:solidFill>
                  <a:schemeClr val="tx1"/>
                </a:solidFill>
              </a:rPr>
              <a:t>Each step lands in the responsible person's queue with a deadline in working hours. Approvers are picked by amount, category and project.</a:t>
            </a:r>
            <a:endParaRPr lang="en-US" sz="1400" dirty="0"/>
          </a:p>
        </p:txBody>
      </p:sp>
      <p:sp>
        <p:nvSpPr>
          <p:cNvPr id="19" name="card 4"/>
          <p:cNvSpPr/>
          <p:nvPr/>
        </p:nvSpPr>
        <p:spPr>
          <a:xfrm>
            <a:off x="6263640" y="4297680"/>
            <a:ext cx="5349240" cy="1965960"/>
          </a:xfrm>
          <a:prstGeom prst="roundRect">
            <a:avLst>
              <a:gd name="adj" fmla="val 5581"/>
            </a:avLst>
          </a:prstGeom>
          <a:solidFill>
            <a:schemeClr val="bg2"/>
          </a:solidFill>
          <a:ln/>
        </p:spPr>
      </p:sp>
      <p:sp>
        <p:nvSpPr>
          <p:cNvPr id="20" name="card 4 circle"/>
          <p:cNvSpPr/>
          <p:nvPr/>
        </p:nvSpPr>
        <p:spPr>
          <a:xfrm>
            <a:off x="6537960" y="4572000"/>
            <a:ext cx="685800" cy="685800"/>
          </a:xfrm>
          <a:prstGeom prst="ellipse">
            <a:avLst/>
          </a:prstGeom>
          <a:solidFill>
            <a:srgbClr val="0F766E"/>
          </a:solidFill>
          <a:ln/>
        </p:spPr>
      </p:sp>
      <p:pic>
        <p:nvPicPr>
          <p:cNvPr id="21" name="card 4 icon" descr="preencoded.png">    </p:cNvPr>
          <p:cNvPicPr>
            <a:picLocks noChangeAspect="1"/>
          </p:cNvPicPr>
          <p:nvPr/>
        </p:nvPicPr>
        <p:blipFill>
          <a:blip r:embed="rId4"/>
          <a:stretch>
            <a:fillRect/>
          </a:stretch>
        </p:blipFill>
        <p:spPr>
          <a:xfrm>
            <a:off x="6702552" y="4736592"/>
            <a:ext cx="356616" cy="356616"/>
          </a:xfrm>
          <a:prstGeom prst="rect">
            <a:avLst/>
          </a:prstGeom>
        </p:spPr>
      </p:pic>
      <p:sp>
        <p:nvSpPr>
          <p:cNvPr id="22" name="card 4 heading"/>
          <p:cNvSpPr txBox="1"/>
          <p:nvPr/>
        </p:nvSpPr>
        <p:spPr>
          <a:xfrm>
            <a:off x="7452360" y="457200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Visibility</a:t>
            </a:r>
            <a:endParaRPr lang="en-US" sz="2000" dirty="0"/>
          </a:p>
        </p:txBody>
      </p:sp>
      <p:sp>
        <p:nvSpPr>
          <p:cNvPr id="23" name="card 4 body"/>
          <p:cNvSpPr txBox="1"/>
          <p:nvPr/>
        </p:nvSpPr>
        <p:spPr>
          <a:xfrm>
            <a:off x="7452360" y="5029200"/>
            <a:ext cx="3886200" cy="1051560"/>
          </a:xfrm>
          <a:prstGeom prst="rect">
            <a:avLst/>
          </a:prstGeom>
          <a:noFill/>
          <a:ln/>
        </p:spPr>
        <p:txBody>
          <a:bodyPr wrap="square" lIns="0" tIns="0" rIns="0" bIns="0" rtlCol="0" anchor="t"/>
          <a:lstStyle/>
          <a:p>
            <a:pPr indent="0" marL="0">
              <a:buNone/>
            </a:pPr>
            <a:r>
              <a:rPr lang="en-US" sz="1400" dirty="0">
                <a:solidFill>
                  <a:schemeClr val="tx1"/>
                </a:solidFill>
              </a:rPr>
              <a:t>Dashboard, payment calendar, overdue and upcoming lists, nine reports and Excel/CSV exports, with every action written to an audit log.</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How a bill moves from arrival to closure</a:t>
            </a:r>
            <a:endParaRPr lang="en-US" sz="3200" dirty="0"/>
          </a:p>
        </p:txBody>
      </p:sp>
      <p:sp>
        <p:nvSpPr>
          <p:cNvPr id="3" name="step 1 card"/>
          <p:cNvSpPr/>
          <p:nvPr/>
        </p:nvSpPr>
        <p:spPr>
          <a:xfrm>
            <a:off x="548640" y="1417320"/>
            <a:ext cx="2103120" cy="4160520"/>
          </a:xfrm>
          <a:prstGeom prst="roundRect">
            <a:avLst>
              <a:gd name="adj" fmla="val 5217"/>
            </a:avLst>
          </a:prstGeom>
          <a:solidFill>
            <a:schemeClr val="bg2"/>
          </a:solidFill>
          <a:ln/>
        </p:spPr>
      </p:sp>
      <p:sp>
        <p:nvSpPr>
          <p:cNvPr id="4" name="step 1 circle"/>
          <p:cNvSpPr/>
          <p:nvPr/>
        </p:nvSpPr>
        <p:spPr>
          <a:xfrm>
            <a:off x="777240" y="1645920"/>
            <a:ext cx="640080" cy="640080"/>
          </a:xfrm>
          <a:prstGeom prst="ellipse">
            <a:avLst/>
          </a:prstGeom>
          <a:solidFill>
            <a:srgbClr val="E89B2D"/>
          </a:solidFill>
          <a:ln/>
        </p:spPr>
      </p:sp>
      <p:pic>
        <p:nvPicPr>
          <p:cNvPr id="5" name="step 1 icon"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6" name="step 1 number"/>
          <p:cNvSpPr txBox="1"/>
          <p:nvPr/>
        </p:nvSpPr>
        <p:spPr>
          <a:xfrm>
            <a:off x="196596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1</a:t>
            </a:r>
            <a:endParaRPr lang="en-US" sz="2800" dirty="0"/>
          </a:p>
        </p:txBody>
      </p:sp>
      <p:sp>
        <p:nvSpPr>
          <p:cNvPr id="7" name="step 1 name"/>
          <p:cNvSpPr txBox="1"/>
          <p:nvPr/>
        </p:nvSpPr>
        <p:spPr>
          <a:xfrm>
            <a:off x="77724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Bill Collection</a:t>
            </a:r>
            <a:endParaRPr lang="en-US" sz="1800" dirty="0"/>
          </a:p>
        </p:txBody>
      </p:sp>
      <p:sp>
        <p:nvSpPr>
          <p:cNvPr id="8" name="step 1 owner"/>
          <p:cNvSpPr txBox="1"/>
          <p:nvPr/>
        </p:nvSpPr>
        <p:spPr>
          <a:xfrm>
            <a:off x="77724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Payment owner</a:t>
            </a:r>
            <a:endParaRPr lang="en-US" sz="1400" dirty="0"/>
          </a:p>
          <a:p>
            <a:pPr indent="0" marL="0">
              <a:buNone/>
            </a:pPr>
            <a:r>
              <a:rPr lang="en-US" sz="1400" dirty="0">
                <a:solidFill>
                  <a:schemeClr val="accent4"/>
                </a:solidFill>
              </a:rPr>
              <a:t>Deadline 24 h</a:t>
            </a:r>
            <a:endParaRPr lang="en-US" sz="1400" dirty="0"/>
          </a:p>
        </p:txBody>
      </p:sp>
      <p:sp>
        <p:nvSpPr>
          <p:cNvPr id="9" name="step 1 detail"/>
          <p:cNvSpPr txBox="1"/>
          <p:nvPr/>
        </p:nvSpPr>
        <p:spPr>
          <a:xfrm>
            <a:off x="77724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Enters bill number, date and amount; uploads the bill. Can move the billing period up to 5 days either way.</a:t>
            </a:r>
            <a:endParaRPr lang="en-US" sz="1400" dirty="0"/>
          </a:p>
        </p:txBody>
      </p:sp>
      <p:sp>
        <p:nvSpPr>
          <p:cNvPr id="10" name="step 2 card"/>
          <p:cNvSpPr/>
          <p:nvPr/>
        </p:nvSpPr>
        <p:spPr>
          <a:xfrm>
            <a:off x="2788920" y="1417320"/>
            <a:ext cx="2103120" cy="4160520"/>
          </a:xfrm>
          <a:prstGeom prst="roundRect">
            <a:avLst>
              <a:gd name="adj" fmla="val 5217"/>
            </a:avLst>
          </a:prstGeom>
          <a:solidFill>
            <a:schemeClr val="bg2"/>
          </a:solidFill>
          <a:ln/>
        </p:spPr>
      </p:sp>
      <p:sp>
        <p:nvSpPr>
          <p:cNvPr id="11" name="step 2 circle"/>
          <p:cNvSpPr/>
          <p:nvPr/>
        </p:nvSpPr>
        <p:spPr>
          <a:xfrm>
            <a:off x="3017520" y="1645920"/>
            <a:ext cx="640080" cy="640080"/>
          </a:xfrm>
          <a:prstGeom prst="ellipse">
            <a:avLst/>
          </a:prstGeom>
          <a:solidFill>
            <a:srgbClr val="0F766E"/>
          </a:solidFill>
          <a:ln/>
        </p:spPr>
      </p:sp>
      <p:pic>
        <p:nvPicPr>
          <p:cNvPr id="12" name="step 2 icon" descr="preencoded.png">    </p:cNvPr>
          <p:cNvPicPr>
            <a:picLocks noChangeAspect="1"/>
          </p:cNvPicPr>
          <p:nvPr/>
        </p:nvPicPr>
        <p:blipFill>
          <a:blip r:embed="rId2"/>
          <a:stretch>
            <a:fillRect/>
          </a:stretch>
        </p:blipFill>
        <p:spPr>
          <a:xfrm>
            <a:off x="3171139" y="1799539"/>
            <a:ext cx="332842" cy="332842"/>
          </a:xfrm>
          <a:prstGeom prst="rect">
            <a:avLst/>
          </a:prstGeom>
        </p:spPr>
      </p:pic>
      <p:sp>
        <p:nvSpPr>
          <p:cNvPr id="13" name="step 2 number"/>
          <p:cNvSpPr txBox="1"/>
          <p:nvPr/>
        </p:nvSpPr>
        <p:spPr>
          <a:xfrm>
            <a:off x="420624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2</a:t>
            </a:r>
            <a:endParaRPr lang="en-US" sz="2800" dirty="0"/>
          </a:p>
        </p:txBody>
      </p:sp>
      <p:sp>
        <p:nvSpPr>
          <p:cNvPr id="14" name="step 2 name"/>
          <p:cNvSpPr txBox="1"/>
          <p:nvPr/>
        </p:nvSpPr>
        <p:spPr>
          <a:xfrm>
            <a:off x="301752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Bill Verification</a:t>
            </a:r>
            <a:endParaRPr lang="en-US" sz="1800" dirty="0"/>
          </a:p>
        </p:txBody>
      </p:sp>
      <p:sp>
        <p:nvSpPr>
          <p:cNvPr id="15" name="step 2 owner"/>
          <p:cNvSpPr txBox="1"/>
          <p:nvPr/>
        </p:nvSpPr>
        <p:spPr>
          <a:xfrm>
            <a:off x="301752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Verifier</a:t>
            </a:r>
            <a:endParaRPr lang="en-US" sz="1400" dirty="0"/>
          </a:p>
          <a:p>
            <a:pPr indent="0" marL="0">
              <a:buNone/>
            </a:pPr>
            <a:r>
              <a:rPr lang="en-US" sz="1400" dirty="0">
                <a:solidFill>
                  <a:schemeClr val="accent4"/>
                </a:solidFill>
              </a:rPr>
              <a:t>Deadline 16 h</a:t>
            </a:r>
            <a:endParaRPr lang="en-US" sz="1400" dirty="0"/>
          </a:p>
        </p:txBody>
      </p:sp>
      <p:sp>
        <p:nvSpPr>
          <p:cNvPr id="16" name="step 2 detail"/>
          <p:cNvSpPr txBox="1"/>
          <p:nvPr/>
        </p:nvSpPr>
        <p:spPr>
          <a:xfrm>
            <a:off x="301752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Works through the checklist. Bills far from past amounts are flagged.</a:t>
            </a:r>
            <a:endParaRPr lang="en-US" sz="1400" dirty="0"/>
          </a:p>
        </p:txBody>
      </p:sp>
      <p:sp>
        <p:nvSpPr>
          <p:cNvPr id="17" name="step 3 card"/>
          <p:cNvSpPr/>
          <p:nvPr/>
        </p:nvSpPr>
        <p:spPr>
          <a:xfrm>
            <a:off x="5029200" y="1417320"/>
            <a:ext cx="2103120" cy="4160520"/>
          </a:xfrm>
          <a:prstGeom prst="roundRect">
            <a:avLst>
              <a:gd name="adj" fmla="val 5217"/>
            </a:avLst>
          </a:prstGeom>
          <a:solidFill>
            <a:schemeClr val="bg2"/>
          </a:solidFill>
          <a:ln/>
        </p:spPr>
      </p:sp>
      <p:sp>
        <p:nvSpPr>
          <p:cNvPr id="18" name="step 3 circle"/>
          <p:cNvSpPr/>
          <p:nvPr/>
        </p:nvSpPr>
        <p:spPr>
          <a:xfrm>
            <a:off x="5257800" y="1645920"/>
            <a:ext cx="640080" cy="640080"/>
          </a:xfrm>
          <a:prstGeom prst="ellipse">
            <a:avLst/>
          </a:prstGeom>
          <a:solidFill>
            <a:srgbClr val="0F766E"/>
          </a:solidFill>
          <a:ln/>
        </p:spPr>
      </p:sp>
      <p:pic>
        <p:nvPicPr>
          <p:cNvPr id="19" name="step 3 icon" descr="preencoded.png">    </p:cNvPr>
          <p:cNvPicPr>
            <a:picLocks noChangeAspect="1"/>
          </p:cNvPicPr>
          <p:nvPr/>
        </p:nvPicPr>
        <p:blipFill>
          <a:blip r:embed="rId3"/>
          <a:stretch>
            <a:fillRect/>
          </a:stretch>
        </p:blipFill>
        <p:spPr>
          <a:xfrm>
            <a:off x="5411419" y="1799539"/>
            <a:ext cx="332842" cy="332842"/>
          </a:xfrm>
          <a:prstGeom prst="rect">
            <a:avLst/>
          </a:prstGeom>
        </p:spPr>
      </p:pic>
      <p:sp>
        <p:nvSpPr>
          <p:cNvPr id="20" name="step 3 number"/>
          <p:cNvSpPr txBox="1"/>
          <p:nvPr/>
        </p:nvSpPr>
        <p:spPr>
          <a:xfrm>
            <a:off x="644652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3</a:t>
            </a:r>
            <a:endParaRPr lang="en-US" sz="2800" dirty="0"/>
          </a:p>
        </p:txBody>
      </p:sp>
      <p:sp>
        <p:nvSpPr>
          <p:cNvPr id="21" name="step 3 name"/>
          <p:cNvSpPr txBox="1"/>
          <p:nvPr/>
        </p:nvSpPr>
        <p:spPr>
          <a:xfrm>
            <a:off x="525780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Payment Approval</a:t>
            </a:r>
            <a:endParaRPr lang="en-US" sz="1800" dirty="0"/>
          </a:p>
        </p:txBody>
      </p:sp>
      <p:sp>
        <p:nvSpPr>
          <p:cNvPr id="22" name="step 3 owner"/>
          <p:cNvSpPr txBox="1"/>
          <p:nvPr/>
        </p:nvSpPr>
        <p:spPr>
          <a:xfrm>
            <a:off x="525780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Approver(s) by amount</a:t>
            </a:r>
            <a:endParaRPr lang="en-US" sz="1400" dirty="0"/>
          </a:p>
          <a:p>
            <a:pPr indent="0" marL="0">
              <a:buNone/>
            </a:pPr>
            <a:r>
              <a:rPr lang="en-US" sz="1400" dirty="0">
                <a:solidFill>
                  <a:schemeClr val="accent4"/>
                </a:solidFill>
              </a:rPr>
              <a:t>Deadline 8 h</a:t>
            </a:r>
            <a:endParaRPr lang="en-US" sz="1400" dirty="0"/>
          </a:p>
        </p:txBody>
      </p:sp>
      <p:sp>
        <p:nvSpPr>
          <p:cNvPr id="23" name="step 3 detail"/>
          <p:cNvSpPr txBox="1"/>
          <p:nvPr/>
        </p:nvSpPr>
        <p:spPr>
          <a:xfrm>
            <a:off x="525780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One or several levels, in sequence or in parallel, per the approval rules.</a:t>
            </a:r>
            <a:endParaRPr lang="en-US" sz="1400" dirty="0"/>
          </a:p>
        </p:txBody>
      </p:sp>
      <p:sp>
        <p:nvSpPr>
          <p:cNvPr id="24" name="step 4 card"/>
          <p:cNvSpPr/>
          <p:nvPr/>
        </p:nvSpPr>
        <p:spPr>
          <a:xfrm>
            <a:off x="7269480" y="1417320"/>
            <a:ext cx="2103120" cy="4160520"/>
          </a:xfrm>
          <a:prstGeom prst="roundRect">
            <a:avLst>
              <a:gd name="adj" fmla="val 5217"/>
            </a:avLst>
          </a:prstGeom>
          <a:solidFill>
            <a:schemeClr val="bg2"/>
          </a:solidFill>
          <a:ln/>
        </p:spPr>
      </p:sp>
      <p:sp>
        <p:nvSpPr>
          <p:cNvPr id="25" name="step 4 circle"/>
          <p:cNvSpPr/>
          <p:nvPr/>
        </p:nvSpPr>
        <p:spPr>
          <a:xfrm>
            <a:off x="7498080" y="1645920"/>
            <a:ext cx="640080" cy="640080"/>
          </a:xfrm>
          <a:prstGeom prst="ellipse">
            <a:avLst/>
          </a:prstGeom>
          <a:solidFill>
            <a:srgbClr val="0F766E"/>
          </a:solidFill>
          <a:ln/>
        </p:spPr>
      </p:sp>
      <p:pic>
        <p:nvPicPr>
          <p:cNvPr id="26" name="step 4 icon" descr="preencoded.png">    </p:cNvPr>
          <p:cNvPicPr>
            <a:picLocks noChangeAspect="1"/>
          </p:cNvPicPr>
          <p:nvPr/>
        </p:nvPicPr>
        <p:blipFill>
          <a:blip r:embed="rId4"/>
          <a:stretch>
            <a:fillRect/>
          </a:stretch>
        </p:blipFill>
        <p:spPr>
          <a:xfrm>
            <a:off x="7651699" y="1799539"/>
            <a:ext cx="332842" cy="332842"/>
          </a:xfrm>
          <a:prstGeom prst="rect">
            <a:avLst/>
          </a:prstGeom>
        </p:spPr>
      </p:pic>
      <p:sp>
        <p:nvSpPr>
          <p:cNvPr id="27" name="step 4 number"/>
          <p:cNvSpPr txBox="1"/>
          <p:nvPr/>
        </p:nvSpPr>
        <p:spPr>
          <a:xfrm>
            <a:off x="868680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4</a:t>
            </a:r>
            <a:endParaRPr lang="en-US" sz="2800" dirty="0"/>
          </a:p>
        </p:txBody>
      </p:sp>
      <p:sp>
        <p:nvSpPr>
          <p:cNvPr id="28" name="step 4 name"/>
          <p:cNvSpPr txBox="1"/>
          <p:nvPr/>
        </p:nvSpPr>
        <p:spPr>
          <a:xfrm>
            <a:off x="749808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Payment Processing</a:t>
            </a:r>
            <a:endParaRPr lang="en-US" sz="1800" dirty="0"/>
          </a:p>
        </p:txBody>
      </p:sp>
      <p:sp>
        <p:nvSpPr>
          <p:cNvPr id="29" name="step 4 owner"/>
          <p:cNvSpPr txBox="1"/>
          <p:nvPr/>
        </p:nvSpPr>
        <p:spPr>
          <a:xfrm>
            <a:off x="749808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Accounts</a:t>
            </a:r>
            <a:endParaRPr lang="en-US" sz="1400" dirty="0"/>
          </a:p>
          <a:p>
            <a:pPr indent="0" marL="0">
              <a:buNone/>
            </a:pPr>
            <a:r>
              <a:rPr lang="en-US" sz="1400" dirty="0">
                <a:solidFill>
                  <a:schemeClr val="accent4"/>
                </a:solidFill>
              </a:rPr>
              <a:t>Deadline 8 h</a:t>
            </a:r>
            <a:endParaRPr lang="en-US" sz="1400" dirty="0"/>
          </a:p>
        </p:txBody>
      </p:sp>
      <p:sp>
        <p:nvSpPr>
          <p:cNvPr id="30" name="step 4 detail"/>
          <p:cNvSpPr txBox="1"/>
          <p:nvPr/>
        </p:nvSpPr>
        <p:spPr>
          <a:xfrm>
            <a:off x="749808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Records the payment, UTR and bank; part-payments allowed.</a:t>
            </a:r>
            <a:endParaRPr lang="en-US" sz="1400" dirty="0"/>
          </a:p>
        </p:txBody>
      </p:sp>
      <p:sp>
        <p:nvSpPr>
          <p:cNvPr id="31" name="step 5 card"/>
          <p:cNvSpPr/>
          <p:nvPr/>
        </p:nvSpPr>
        <p:spPr>
          <a:xfrm>
            <a:off x="9509760" y="1417320"/>
            <a:ext cx="2103120" cy="4160520"/>
          </a:xfrm>
          <a:prstGeom prst="roundRect">
            <a:avLst>
              <a:gd name="adj" fmla="val 5217"/>
            </a:avLst>
          </a:prstGeom>
          <a:solidFill>
            <a:schemeClr val="bg2"/>
          </a:solidFill>
          <a:ln/>
        </p:spPr>
      </p:sp>
      <p:sp>
        <p:nvSpPr>
          <p:cNvPr id="32" name="step 5 circle"/>
          <p:cNvSpPr/>
          <p:nvPr/>
        </p:nvSpPr>
        <p:spPr>
          <a:xfrm>
            <a:off x="9738360" y="1645920"/>
            <a:ext cx="640080" cy="640080"/>
          </a:xfrm>
          <a:prstGeom prst="ellipse">
            <a:avLst/>
          </a:prstGeom>
          <a:solidFill>
            <a:srgbClr val="0F766E"/>
          </a:solidFill>
          <a:ln/>
        </p:spPr>
      </p:sp>
      <p:pic>
        <p:nvPicPr>
          <p:cNvPr id="33" name="step 5 icon" descr="preencoded.png">    </p:cNvPr>
          <p:cNvPicPr>
            <a:picLocks noChangeAspect="1"/>
          </p:cNvPicPr>
          <p:nvPr/>
        </p:nvPicPr>
        <p:blipFill>
          <a:blip r:embed="rId5"/>
          <a:stretch>
            <a:fillRect/>
          </a:stretch>
        </p:blipFill>
        <p:spPr>
          <a:xfrm>
            <a:off x="9891979" y="1799539"/>
            <a:ext cx="332842" cy="332842"/>
          </a:xfrm>
          <a:prstGeom prst="rect">
            <a:avLst/>
          </a:prstGeom>
        </p:spPr>
      </p:pic>
      <p:sp>
        <p:nvSpPr>
          <p:cNvPr id="34" name="step 5 number"/>
          <p:cNvSpPr txBox="1"/>
          <p:nvPr/>
        </p:nvSpPr>
        <p:spPr>
          <a:xfrm>
            <a:off x="1092708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5</a:t>
            </a:r>
            <a:endParaRPr lang="en-US" sz="2800" dirty="0"/>
          </a:p>
        </p:txBody>
      </p:sp>
      <p:sp>
        <p:nvSpPr>
          <p:cNvPr id="35" name="step 5 name"/>
          <p:cNvSpPr txBox="1"/>
          <p:nvPr/>
        </p:nvSpPr>
        <p:spPr>
          <a:xfrm>
            <a:off x="973836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Receipt &amp; Closure</a:t>
            </a:r>
            <a:endParaRPr lang="en-US" sz="1800" dirty="0"/>
          </a:p>
        </p:txBody>
      </p:sp>
      <p:sp>
        <p:nvSpPr>
          <p:cNvPr id="36" name="step 5 owner"/>
          <p:cNvSpPr txBox="1"/>
          <p:nvPr/>
        </p:nvSpPr>
        <p:spPr>
          <a:xfrm>
            <a:off x="973836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Accounts</a:t>
            </a:r>
            <a:endParaRPr lang="en-US" sz="1400" dirty="0"/>
          </a:p>
          <a:p>
            <a:pPr indent="0" marL="0">
              <a:buNone/>
            </a:pPr>
            <a:r>
              <a:rPr lang="en-US" sz="1400" dirty="0">
                <a:solidFill>
                  <a:schemeClr val="accent4"/>
                </a:solidFill>
              </a:rPr>
              <a:t>Deadline 8 h</a:t>
            </a:r>
            <a:endParaRPr lang="en-US" sz="1400" dirty="0"/>
          </a:p>
        </p:txBody>
      </p:sp>
      <p:sp>
        <p:nvSpPr>
          <p:cNvPr id="37" name="step 5 detail"/>
          <p:cNvSpPr txBox="1"/>
          <p:nvPr/>
        </p:nvSpPr>
        <p:spPr>
          <a:xfrm>
            <a:off x="973836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Checks the payment proof and closes the payment.</a:t>
            </a:r>
            <a:endParaRPr lang="en-US" sz="1400" dirty="0"/>
          </a:p>
        </p:txBody>
      </p:sp>
      <p:sp>
        <p:nvSpPr>
          <p:cNvPr id="38" name="workflow footnote"/>
          <p:cNvSpPr txBox="1"/>
          <p:nvPr/>
        </p:nvSpPr>
        <p:spPr>
          <a:xfrm>
            <a:off x="548640" y="5715000"/>
            <a:ext cx="11064240" cy="502920"/>
          </a:xfrm>
          <a:prstGeom prst="rect">
            <a:avLst/>
          </a:prstGeom>
          <a:noFill/>
          <a:ln/>
        </p:spPr>
        <p:txBody>
          <a:bodyPr wrap="square" lIns="0" tIns="0" rIns="0" bIns="0" rtlCol="0" anchor="ctr"/>
          <a:lstStyle/>
          <a:p>
            <a:pPr indent="0" marL="0">
              <a:buNone/>
            </a:pPr>
            <a:r>
              <a:rPr lang="en-US" sz="1400" i="1" dirty="0">
                <a:solidFill>
                  <a:schemeClr val="accent4"/>
                </a:solidFill>
              </a:rPr>
              <a:t>Return for Correction sends a payment back one step and restarts its approvals, so earlier approvers see the corrected figures. Reject ends it. Deadlines count working hours and holidays only.</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Controls directors can rely on</a:t>
            </a:r>
            <a:endParaRPr lang="en-US" sz="3200" dirty="0"/>
          </a:p>
        </p:txBody>
      </p:sp>
      <p:sp>
        <p:nvSpPr>
          <p:cNvPr id="3" name="timeline heading"/>
          <p:cNvSpPr txBox="1"/>
          <p:nvPr/>
        </p:nvSpPr>
        <p:spPr>
          <a:xfrm>
            <a:off x="548640" y="1325880"/>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Around every due date</a:t>
            </a:r>
            <a:endParaRPr lang="en-US" sz="2000" dirty="0"/>
          </a:p>
        </p:txBody>
      </p:sp>
      <p:sp>
        <p:nvSpPr>
          <p:cNvPr id="4" name="timeline line"/>
          <p:cNvSpPr/>
          <p:nvPr/>
        </p:nvSpPr>
        <p:spPr>
          <a:xfrm>
            <a:off x="822960" y="2788920"/>
            <a:ext cx="5212080" cy="0"/>
          </a:xfrm>
          <a:prstGeom prst="line">
            <a:avLst/>
          </a:prstGeom>
          <a:noFill/>
          <a:ln w="38100">
            <a:solidFill>
              <a:schemeClr val="accent5"/>
            </a:solidFill>
            <a:prstDash val="solid"/>
          </a:ln>
        </p:spPr>
      </p:sp>
      <p:sp>
        <p:nvSpPr>
          <p:cNvPr id="5" name="mark 1"/>
          <p:cNvSpPr/>
          <p:nvPr/>
        </p:nvSpPr>
        <p:spPr>
          <a:xfrm>
            <a:off x="694944" y="2660904"/>
            <a:ext cx="256032" cy="256032"/>
          </a:xfrm>
          <a:prstGeom prst="ellipse">
            <a:avLst/>
          </a:prstGeom>
          <a:solidFill>
            <a:srgbClr val="0F766E"/>
          </a:solidFill>
          <a:ln w="25400">
            <a:solidFill>
              <a:srgbClr val="FFFFFF"/>
            </a:solidFill>
            <a:prstDash val="solid"/>
          </a:ln>
        </p:spPr>
      </p:sp>
      <p:sp>
        <p:nvSpPr>
          <p:cNvPr id="6" name="mark 1 label"/>
          <p:cNvSpPr txBox="1"/>
          <p:nvPr/>
        </p:nvSpPr>
        <p:spPr>
          <a:xfrm>
            <a:off x="137160" y="1874520"/>
            <a:ext cx="1371600" cy="640080"/>
          </a:xfrm>
          <a:prstGeom prst="rect">
            <a:avLst/>
          </a:prstGeom>
          <a:noFill/>
          <a:ln/>
        </p:spPr>
        <p:txBody>
          <a:bodyPr wrap="square" lIns="0" tIns="0" rIns="0" bIns="0" rtlCol="0" anchor="b"/>
          <a:lstStyle/>
          <a:p>
            <a:pPr algn="ctr" indent="0" marL="0">
              <a:buNone/>
            </a:pPr>
            <a:r>
              <a:rPr lang="en-US" sz="1200" b="1" dirty="0">
                <a:solidFill>
                  <a:schemeClr val="tx1"/>
                </a:solidFill>
              </a:rPr>
              <a:t>7 days</a:t>
            </a:r>
            <a:endParaRPr lang="en-US" sz="1200" dirty="0"/>
          </a:p>
          <a:p>
            <a:pPr algn="ctr" indent="0" marL="0">
              <a:buNone/>
            </a:pPr>
            <a:r>
              <a:rPr lang="en-US" sz="1200" dirty="0">
                <a:solidFill>
                  <a:schemeClr val="accent4"/>
                </a:solidFill>
              </a:rPr>
              <a:t>first reminder</a:t>
            </a:r>
            <a:endParaRPr lang="en-US" sz="1200" dirty="0"/>
          </a:p>
        </p:txBody>
      </p:sp>
      <p:sp>
        <p:nvSpPr>
          <p:cNvPr id="7" name="mark 2"/>
          <p:cNvSpPr/>
          <p:nvPr/>
        </p:nvSpPr>
        <p:spPr>
          <a:xfrm>
            <a:off x="1841602" y="2660904"/>
            <a:ext cx="256032" cy="256032"/>
          </a:xfrm>
          <a:prstGeom prst="ellipse">
            <a:avLst/>
          </a:prstGeom>
          <a:solidFill>
            <a:srgbClr val="0F766E"/>
          </a:solidFill>
          <a:ln w="25400">
            <a:solidFill>
              <a:srgbClr val="FFFFFF"/>
            </a:solidFill>
            <a:prstDash val="solid"/>
          </a:ln>
        </p:spPr>
      </p:sp>
      <p:sp>
        <p:nvSpPr>
          <p:cNvPr id="8" name="mark 2 label"/>
          <p:cNvSpPr txBox="1"/>
          <p:nvPr/>
        </p:nvSpPr>
        <p:spPr>
          <a:xfrm>
            <a:off x="1283818" y="3044952"/>
            <a:ext cx="1371600" cy="640080"/>
          </a:xfrm>
          <a:prstGeom prst="rect">
            <a:avLst/>
          </a:prstGeom>
          <a:noFill/>
          <a:ln/>
        </p:spPr>
        <p:txBody>
          <a:bodyPr wrap="square" lIns="0" tIns="0" rIns="0" bIns="0" rtlCol="0" anchor="t"/>
          <a:lstStyle/>
          <a:p>
            <a:pPr algn="ctr" indent="0" marL="0">
              <a:buNone/>
            </a:pPr>
            <a:r>
              <a:rPr lang="en-US" sz="1200" b="1" dirty="0">
                <a:solidFill>
                  <a:schemeClr val="tx1"/>
                </a:solidFill>
              </a:rPr>
              <a:t>3 days</a:t>
            </a:r>
            <a:endParaRPr lang="en-US" sz="1200" dirty="0"/>
          </a:p>
          <a:p>
            <a:pPr algn="ctr" indent="0" marL="0">
              <a:buNone/>
            </a:pPr>
            <a:r>
              <a:rPr lang="en-US" sz="1200" dirty="0">
                <a:solidFill>
                  <a:schemeClr val="accent4"/>
                </a:solidFill>
              </a:rPr>
              <a:t>reminder</a:t>
            </a:r>
            <a:endParaRPr lang="en-US" sz="1200" dirty="0"/>
          </a:p>
        </p:txBody>
      </p:sp>
      <p:sp>
        <p:nvSpPr>
          <p:cNvPr id="9" name="mark 3"/>
          <p:cNvSpPr/>
          <p:nvPr/>
        </p:nvSpPr>
        <p:spPr>
          <a:xfrm>
            <a:off x="2884018" y="2660904"/>
            <a:ext cx="256032" cy="256032"/>
          </a:xfrm>
          <a:prstGeom prst="ellipse">
            <a:avLst/>
          </a:prstGeom>
          <a:solidFill>
            <a:srgbClr val="0F766E"/>
          </a:solidFill>
          <a:ln w="25400">
            <a:solidFill>
              <a:srgbClr val="FFFFFF"/>
            </a:solidFill>
            <a:prstDash val="solid"/>
          </a:ln>
        </p:spPr>
      </p:sp>
      <p:sp>
        <p:nvSpPr>
          <p:cNvPr id="10" name="mark 3 label"/>
          <p:cNvSpPr txBox="1"/>
          <p:nvPr/>
        </p:nvSpPr>
        <p:spPr>
          <a:xfrm>
            <a:off x="2326234" y="1874520"/>
            <a:ext cx="1371600" cy="640080"/>
          </a:xfrm>
          <a:prstGeom prst="rect">
            <a:avLst/>
          </a:prstGeom>
          <a:noFill/>
          <a:ln/>
        </p:spPr>
        <p:txBody>
          <a:bodyPr wrap="square" lIns="0" tIns="0" rIns="0" bIns="0" rtlCol="0" anchor="b"/>
          <a:lstStyle/>
          <a:p>
            <a:pPr algn="ctr" indent="0" marL="0">
              <a:buNone/>
            </a:pPr>
            <a:r>
              <a:rPr lang="en-US" sz="1200" b="1" dirty="0">
                <a:solidFill>
                  <a:schemeClr val="tx1"/>
                </a:solidFill>
              </a:rPr>
              <a:t>1 day</a:t>
            </a:r>
            <a:endParaRPr lang="en-US" sz="1200" dirty="0"/>
          </a:p>
          <a:p>
            <a:pPr algn="ctr" indent="0" marL="0">
              <a:buNone/>
            </a:pPr>
            <a:r>
              <a:rPr lang="en-US" sz="1200" dirty="0">
                <a:solidFill>
                  <a:schemeClr val="accent4"/>
                </a:solidFill>
              </a:rPr>
              <a:t>reminder</a:t>
            </a:r>
            <a:endParaRPr lang="en-US" sz="1200" dirty="0"/>
          </a:p>
        </p:txBody>
      </p:sp>
      <p:sp>
        <p:nvSpPr>
          <p:cNvPr id="11" name="mark 4"/>
          <p:cNvSpPr/>
          <p:nvPr/>
        </p:nvSpPr>
        <p:spPr>
          <a:xfrm>
            <a:off x="3822192" y="2660904"/>
            <a:ext cx="256032" cy="256032"/>
          </a:xfrm>
          <a:prstGeom prst="ellipse">
            <a:avLst/>
          </a:prstGeom>
          <a:solidFill>
            <a:srgbClr val="E89B2D"/>
          </a:solidFill>
          <a:ln w="25400">
            <a:solidFill>
              <a:srgbClr val="FFFFFF"/>
            </a:solidFill>
            <a:prstDash val="solid"/>
          </a:ln>
        </p:spPr>
      </p:sp>
      <p:sp>
        <p:nvSpPr>
          <p:cNvPr id="12" name="mark 4 label"/>
          <p:cNvSpPr txBox="1"/>
          <p:nvPr/>
        </p:nvSpPr>
        <p:spPr>
          <a:xfrm>
            <a:off x="3264408" y="3044952"/>
            <a:ext cx="1371600" cy="640080"/>
          </a:xfrm>
          <a:prstGeom prst="rect">
            <a:avLst/>
          </a:prstGeom>
          <a:noFill/>
          <a:ln/>
        </p:spPr>
        <p:txBody>
          <a:bodyPr wrap="square" lIns="0" tIns="0" rIns="0" bIns="0" rtlCol="0" anchor="t"/>
          <a:lstStyle/>
          <a:p>
            <a:pPr algn="ctr" indent="0" marL="0">
              <a:buNone/>
            </a:pPr>
            <a:r>
              <a:rPr lang="en-US" sz="1200" b="1" dirty="0">
                <a:solidFill>
                  <a:schemeClr val="tx1"/>
                </a:solidFill>
              </a:rPr>
              <a:t>Due date</a:t>
            </a:r>
            <a:endParaRPr lang="en-US" sz="1200" dirty="0"/>
          </a:p>
          <a:p>
            <a:pPr algn="ctr" indent="0" marL="0">
              <a:buNone/>
            </a:pPr>
            <a:r>
              <a:rPr lang="en-US" sz="1200" dirty="0">
                <a:solidFill>
                  <a:schemeClr val="accent4"/>
                </a:solidFill>
              </a:rPr>
              <a:t>payment due</a:t>
            </a:r>
            <a:endParaRPr lang="en-US" sz="1200" dirty="0"/>
          </a:p>
        </p:txBody>
      </p:sp>
      <p:sp>
        <p:nvSpPr>
          <p:cNvPr id="13" name="mark 5"/>
          <p:cNvSpPr/>
          <p:nvPr/>
        </p:nvSpPr>
        <p:spPr>
          <a:xfrm>
            <a:off x="4864608" y="2660904"/>
            <a:ext cx="256032" cy="256032"/>
          </a:xfrm>
          <a:prstGeom prst="ellipse">
            <a:avLst/>
          </a:prstGeom>
          <a:solidFill>
            <a:srgbClr val="5B7F7A"/>
          </a:solidFill>
          <a:ln w="25400">
            <a:solidFill>
              <a:srgbClr val="FFFFFF"/>
            </a:solidFill>
            <a:prstDash val="solid"/>
          </a:ln>
        </p:spPr>
      </p:sp>
      <p:sp>
        <p:nvSpPr>
          <p:cNvPr id="14" name="mark 5 label"/>
          <p:cNvSpPr txBox="1"/>
          <p:nvPr/>
        </p:nvSpPr>
        <p:spPr>
          <a:xfrm>
            <a:off x="4306824" y="1874520"/>
            <a:ext cx="1371600" cy="640080"/>
          </a:xfrm>
          <a:prstGeom prst="rect">
            <a:avLst/>
          </a:prstGeom>
          <a:noFill/>
          <a:ln/>
        </p:spPr>
        <p:txBody>
          <a:bodyPr wrap="square" lIns="0" tIns="0" rIns="0" bIns="0" rtlCol="0" anchor="b"/>
          <a:lstStyle/>
          <a:p>
            <a:pPr algn="ctr" indent="0" marL="0">
              <a:buNone/>
            </a:pPr>
            <a:r>
              <a:rPr lang="en-US" sz="1200" b="1" dirty="0">
                <a:solidFill>
                  <a:schemeClr val="tx1"/>
                </a:solidFill>
              </a:rPr>
              <a:t>Grace</a:t>
            </a:r>
            <a:endParaRPr lang="en-US" sz="1200" dirty="0"/>
          </a:p>
          <a:p>
            <a:pPr algn="ctr" indent="0" marL="0">
              <a:buNone/>
            </a:pPr>
            <a:r>
              <a:rPr lang="en-US" sz="1200" dirty="0">
                <a:solidFill>
                  <a:schemeClr val="accent4"/>
                </a:solidFill>
              </a:rPr>
              <a:t>still in good standing</a:t>
            </a:r>
            <a:endParaRPr lang="en-US" sz="1200" dirty="0"/>
          </a:p>
        </p:txBody>
      </p:sp>
      <p:sp>
        <p:nvSpPr>
          <p:cNvPr id="15" name="mark 6"/>
          <p:cNvSpPr/>
          <p:nvPr/>
        </p:nvSpPr>
        <p:spPr>
          <a:xfrm>
            <a:off x="5907024" y="2660904"/>
            <a:ext cx="256032" cy="256032"/>
          </a:xfrm>
          <a:prstGeom prst="ellipse">
            <a:avLst/>
          </a:prstGeom>
          <a:solidFill>
            <a:srgbClr val="C8434F"/>
          </a:solidFill>
          <a:ln w="25400">
            <a:solidFill>
              <a:srgbClr val="FFFFFF"/>
            </a:solidFill>
            <a:prstDash val="solid"/>
          </a:ln>
        </p:spPr>
      </p:sp>
      <p:sp>
        <p:nvSpPr>
          <p:cNvPr id="16" name="mark 6 label"/>
          <p:cNvSpPr txBox="1"/>
          <p:nvPr/>
        </p:nvSpPr>
        <p:spPr>
          <a:xfrm>
            <a:off x="5349240" y="3044952"/>
            <a:ext cx="1371600" cy="640080"/>
          </a:xfrm>
          <a:prstGeom prst="rect">
            <a:avLst/>
          </a:prstGeom>
          <a:noFill/>
          <a:ln/>
        </p:spPr>
        <p:txBody>
          <a:bodyPr wrap="square" lIns="0" tIns="0" rIns="0" bIns="0" rtlCol="0" anchor="t"/>
          <a:lstStyle/>
          <a:p>
            <a:pPr algn="ctr" indent="0" marL="0">
              <a:buNone/>
            </a:pPr>
            <a:r>
              <a:rPr lang="en-US" sz="1200" b="1" dirty="0">
                <a:solidFill>
                  <a:schemeClr val="tx1"/>
                </a:solidFill>
              </a:rPr>
              <a:t>Overdue</a:t>
            </a:r>
            <a:endParaRPr lang="en-US" sz="1200" dirty="0"/>
          </a:p>
          <a:p>
            <a:pPr algn="ctr" indent="0" marL="0">
              <a:buNone/>
            </a:pPr>
            <a:r>
              <a:rPr lang="en-US" sz="1200" dirty="0">
                <a:solidFill>
                  <a:schemeClr val="accent4"/>
                </a:solidFill>
              </a:rPr>
              <a:t>daily escalation</a:t>
            </a:r>
            <a:endParaRPr lang="en-US" sz="1200" dirty="0"/>
          </a:p>
        </p:txBody>
      </p:sp>
      <p:sp>
        <p:nvSpPr>
          <p:cNvPr id="17" name="timeline note"/>
          <p:cNvSpPr txBox="1"/>
          <p:nvPr/>
        </p:nvSpPr>
        <p:spPr>
          <a:xfrm>
            <a:off x="548640" y="3886200"/>
            <a:ext cx="5577840" cy="822960"/>
          </a:xfrm>
          <a:prstGeom prst="rect">
            <a:avLst/>
          </a:prstGeom>
          <a:noFill/>
          <a:ln/>
        </p:spPr>
        <p:txBody>
          <a:bodyPr wrap="square" lIns="0" tIns="0" rIns="0" bIns="0" rtlCol="0" anchor="t"/>
          <a:lstStyle/>
          <a:p>
            <a:pPr indent="0" marL="0">
              <a:buNone/>
            </a:pPr>
            <a:r>
              <a:rPr lang="en-US" sz="1400" dirty="0">
                <a:solidFill>
                  <a:schemeClr val="tx1"/>
                </a:solidFill>
              </a:rPr>
              <a:t>A payment is only Overdue once its due date and its grace period have both passed. Every reminder and escalation follows that same rule.</a:t>
            </a:r>
            <a:endParaRPr lang="en-US" sz="1400" dirty="0"/>
          </a:p>
        </p:txBody>
      </p:sp>
      <p:sp>
        <p:nvSpPr>
          <p:cNvPr id="18" name="audit card"/>
          <p:cNvSpPr/>
          <p:nvPr/>
        </p:nvSpPr>
        <p:spPr>
          <a:xfrm>
            <a:off x="548640" y="4800600"/>
            <a:ext cx="5577840" cy="1325880"/>
          </a:xfrm>
          <a:prstGeom prst="roundRect">
            <a:avLst>
              <a:gd name="adj" fmla="val 8276"/>
            </a:avLst>
          </a:prstGeom>
          <a:solidFill>
            <a:schemeClr val="bg2"/>
          </a:solidFill>
          <a:ln/>
        </p:spPr>
      </p:sp>
      <p:sp>
        <p:nvSpPr>
          <p:cNvPr id="19" name="audit circle"/>
          <p:cNvSpPr/>
          <p:nvPr/>
        </p:nvSpPr>
        <p:spPr>
          <a:xfrm>
            <a:off x="777240" y="5120640"/>
            <a:ext cx="685800" cy="685800"/>
          </a:xfrm>
          <a:prstGeom prst="ellipse">
            <a:avLst/>
          </a:prstGeom>
          <a:solidFill>
            <a:srgbClr val="0F766E"/>
          </a:solidFill>
          <a:ln/>
        </p:spPr>
      </p:sp>
      <p:pic>
        <p:nvPicPr>
          <p:cNvPr id="20" name="audit icon" descr="preencoded.png">    </p:cNvPr>
          <p:cNvPicPr>
            <a:picLocks noChangeAspect="1"/>
          </p:cNvPicPr>
          <p:nvPr/>
        </p:nvPicPr>
        <p:blipFill>
          <a:blip r:embed="rId1"/>
          <a:stretch>
            <a:fillRect/>
          </a:stretch>
        </p:blipFill>
        <p:spPr>
          <a:xfrm>
            <a:off x="941832" y="5285232"/>
            <a:ext cx="356616" cy="356616"/>
          </a:xfrm>
          <a:prstGeom prst="rect">
            <a:avLst/>
          </a:prstGeom>
        </p:spPr>
      </p:pic>
      <p:sp>
        <p:nvSpPr>
          <p:cNvPr id="21" name="audit text"/>
          <p:cNvSpPr txBox="1"/>
          <p:nvPr/>
        </p:nvSpPr>
        <p:spPr>
          <a:xfrm>
            <a:off x="1691640" y="4937760"/>
            <a:ext cx="4251960" cy="1051560"/>
          </a:xfrm>
          <a:prstGeom prst="rect">
            <a:avLst/>
          </a:prstGeom>
          <a:noFill/>
          <a:ln/>
        </p:spPr>
        <p:txBody>
          <a:bodyPr wrap="square" lIns="0" tIns="0" rIns="0" bIns="0" rtlCol="0" anchor="ctr"/>
          <a:lstStyle/>
          <a:p>
            <a:pPr indent="0" marL="0">
              <a:buNone/>
            </a:pPr>
            <a:r>
              <a:rPr lang="en-US" sz="1400" b="1" dirty="0">
                <a:solidFill>
                  <a:schemeClr val="tx2"/>
                </a:solidFill>
              </a:rPr>
              <a:t>Complete audit trail</a:t>
            </a:r>
            <a:endParaRPr lang="en-US" sz="1400" dirty="0"/>
          </a:p>
          <a:p>
            <a:pPr indent="0" marL="0">
              <a:buNone/>
            </a:pPr>
            <a:r>
              <a:rPr lang="en-US" sz="1400" dirty="0">
                <a:solidFill>
                  <a:schemeClr val="tx1"/>
                </a:solidFill>
              </a:rPr>
              <a:t>Who did what, when, with what amount and comment — on every step, edit, payment and deletion.</a:t>
            </a:r>
            <a:endParaRPr lang="en-US" sz="1400" dirty="0"/>
          </a:p>
        </p:txBody>
      </p:sp>
      <p:sp>
        <p:nvSpPr>
          <p:cNvPr id="22" name="control 1 circle"/>
          <p:cNvSpPr/>
          <p:nvPr/>
        </p:nvSpPr>
        <p:spPr>
          <a:xfrm>
            <a:off x="6720840" y="1371600"/>
            <a:ext cx="548640" cy="548640"/>
          </a:xfrm>
          <a:prstGeom prst="ellipse">
            <a:avLst/>
          </a:prstGeom>
          <a:solidFill>
            <a:srgbClr val="0F766E"/>
          </a:solidFill>
          <a:ln/>
        </p:spPr>
      </p:sp>
      <p:pic>
        <p:nvPicPr>
          <p:cNvPr id="23" name="control 1 icon" descr="preencoded.png">    </p:cNvPr>
          <p:cNvPicPr>
            <a:picLocks noChangeAspect="1"/>
          </p:cNvPicPr>
          <p:nvPr/>
        </p:nvPicPr>
        <p:blipFill>
          <a:blip r:embed="rId2"/>
          <a:stretch>
            <a:fillRect/>
          </a:stretch>
        </p:blipFill>
        <p:spPr>
          <a:xfrm>
            <a:off x="6852514" y="1503274"/>
            <a:ext cx="285293" cy="285293"/>
          </a:xfrm>
          <a:prstGeom prst="rect">
            <a:avLst/>
          </a:prstGeom>
        </p:spPr>
      </p:pic>
      <p:sp>
        <p:nvSpPr>
          <p:cNvPr id="24" name="control 1 text"/>
          <p:cNvSpPr txBox="1"/>
          <p:nvPr/>
        </p:nvSpPr>
        <p:spPr>
          <a:xfrm>
            <a:off x="7452360" y="1325880"/>
            <a:ext cx="4160520" cy="868680"/>
          </a:xfrm>
          <a:prstGeom prst="rect">
            <a:avLst/>
          </a:prstGeom>
          <a:noFill/>
          <a:ln/>
        </p:spPr>
        <p:txBody>
          <a:bodyPr wrap="square" lIns="0" tIns="0" rIns="0" bIns="0" rtlCol="0" anchor="t"/>
          <a:lstStyle/>
          <a:p>
            <a:pPr indent="0" marL="0">
              <a:buNone/>
            </a:pPr>
            <a:r>
              <a:rPr lang="en-US" sz="1400" b="1" dirty="0">
                <a:solidFill>
                  <a:schemeClr val="tx2"/>
                </a:solidFill>
              </a:rPr>
              <a:t>Approval rules by amount, category and project</a:t>
            </a:r>
            <a:endParaRPr lang="en-US" sz="1400" dirty="0"/>
          </a:p>
          <a:p>
            <a:pPr indent="0" marL="0">
              <a:buNone/>
            </a:pPr>
            <a:r>
              <a:rPr lang="en-US" sz="1400" dirty="0">
                <a:solidFill>
                  <a:schemeClr val="tx1"/>
                </a:solidFill>
              </a:rPr>
              <a:t>When rules overlap, the most specific one applies.</a:t>
            </a:r>
            <a:endParaRPr lang="en-US" sz="1400" dirty="0"/>
          </a:p>
        </p:txBody>
      </p:sp>
      <p:sp>
        <p:nvSpPr>
          <p:cNvPr id="25" name="control 2 circle"/>
          <p:cNvSpPr/>
          <p:nvPr/>
        </p:nvSpPr>
        <p:spPr>
          <a:xfrm>
            <a:off x="6720840" y="2350008"/>
            <a:ext cx="548640" cy="548640"/>
          </a:xfrm>
          <a:prstGeom prst="ellipse">
            <a:avLst/>
          </a:prstGeom>
          <a:solidFill>
            <a:srgbClr val="0F766E"/>
          </a:solidFill>
          <a:ln/>
        </p:spPr>
      </p:sp>
      <p:pic>
        <p:nvPicPr>
          <p:cNvPr id="26" name="control 2 icon" descr="preencoded.png">    </p:cNvPr>
          <p:cNvPicPr>
            <a:picLocks noChangeAspect="1"/>
          </p:cNvPicPr>
          <p:nvPr/>
        </p:nvPicPr>
        <p:blipFill>
          <a:blip r:embed="rId3"/>
          <a:stretch>
            <a:fillRect/>
          </a:stretch>
        </p:blipFill>
        <p:spPr>
          <a:xfrm>
            <a:off x="6852514" y="2481682"/>
            <a:ext cx="285293" cy="285293"/>
          </a:xfrm>
          <a:prstGeom prst="rect">
            <a:avLst/>
          </a:prstGeom>
        </p:spPr>
      </p:pic>
      <p:sp>
        <p:nvSpPr>
          <p:cNvPr id="27" name="control 2 text"/>
          <p:cNvSpPr txBox="1"/>
          <p:nvPr/>
        </p:nvSpPr>
        <p:spPr>
          <a:xfrm>
            <a:off x="7452360" y="2304288"/>
            <a:ext cx="4160520" cy="868680"/>
          </a:xfrm>
          <a:prstGeom prst="rect">
            <a:avLst/>
          </a:prstGeom>
          <a:noFill/>
          <a:ln/>
        </p:spPr>
        <p:txBody>
          <a:bodyPr wrap="square" lIns="0" tIns="0" rIns="0" bIns="0" rtlCol="0" anchor="t"/>
          <a:lstStyle/>
          <a:p>
            <a:pPr indent="0" marL="0">
              <a:buNone/>
            </a:pPr>
            <a:r>
              <a:rPr lang="en-US" sz="1400" b="1" dirty="0">
                <a:solidFill>
                  <a:schemeClr val="tx2"/>
                </a:solidFill>
              </a:rPr>
              <a:t>Duplicate bills blocked</a:t>
            </a:r>
            <a:endParaRPr lang="en-US" sz="1400" dirty="0"/>
          </a:p>
          <a:p>
            <a:pPr indent="0" marL="0">
              <a:buNone/>
            </a:pPr>
            <a:r>
              <a:rPr lang="en-US" sz="1400" dirty="0">
                <a:solidFill>
                  <a:schemeClr val="tx1"/>
                </a:solidFill>
              </a:rPr>
              <a:t>The same bill number cannot be entered twice for a vendor.</a:t>
            </a:r>
            <a:endParaRPr lang="en-US" sz="1400" dirty="0"/>
          </a:p>
        </p:txBody>
      </p:sp>
      <p:sp>
        <p:nvSpPr>
          <p:cNvPr id="28" name="control 3 circle"/>
          <p:cNvSpPr/>
          <p:nvPr/>
        </p:nvSpPr>
        <p:spPr>
          <a:xfrm>
            <a:off x="6720840" y="3328416"/>
            <a:ext cx="548640" cy="548640"/>
          </a:xfrm>
          <a:prstGeom prst="ellipse">
            <a:avLst/>
          </a:prstGeom>
          <a:solidFill>
            <a:srgbClr val="E89B2D"/>
          </a:solidFill>
          <a:ln/>
        </p:spPr>
      </p:sp>
      <p:pic>
        <p:nvPicPr>
          <p:cNvPr id="29" name="control 3 icon" descr="preencoded.png">    </p:cNvPr>
          <p:cNvPicPr>
            <a:picLocks noChangeAspect="1"/>
          </p:cNvPicPr>
          <p:nvPr/>
        </p:nvPicPr>
        <p:blipFill>
          <a:blip r:embed="rId4"/>
          <a:stretch>
            <a:fillRect/>
          </a:stretch>
        </p:blipFill>
        <p:spPr>
          <a:xfrm>
            <a:off x="6852514" y="3460090"/>
            <a:ext cx="285293" cy="285293"/>
          </a:xfrm>
          <a:prstGeom prst="rect">
            <a:avLst/>
          </a:prstGeom>
        </p:spPr>
      </p:pic>
      <p:sp>
        <p:nvSpPr>
          <p:cNvPr id="30" name="control 3 text"/>
          <p:cNvSpPr txBox="1"/>
          <p:nvPr/>
        </p:nvSpPr>
        <p:spPr>
          <a:xfrm>
            <a:off x="7452360" y="3282696"/>
            <a:ext cx="4160520" cy="868680"/>
          </a:xfrm>
          <a:prstGeom prst="rect">
            <a:avLst/>
          </a:prstGeom>
          <a:noFill/>
          <a:ln/>
        </p:spPr>
        <p:txBody>
          <a:bodyPr wrap="square" lIns="0" tIns="0" rIns="0" bIns="0" rtlCol="0" anchor="t"/>
          <a:lstStyle/>
          <a:p>
            <a:pPr indent="0" marL="0">
              <a:buNone/>
            </a:pPr>
            <a:r>
              <a:rPr lang="en-US" sz="1400" b="1" dirty="0">
                <a:solidFill>
                  <a:schemeClr val="tx2"/>
                </a:solidFill>
              </a:rPr>
              <a:t>Variance warnings</a:t>
            </a:r>
            <a:endParaRPr lang="en-US" sz="1400" dirty="0"/>
          </a:p>
          <a:p>
            <a:pPr indent="0" marL="0">
              <a:buNone/>
            </a:pPr>
            <a:r>
              <a:rPr lang="en-US" sz="1400" dirty="0">
                <a:solidFill>
                  <a:schemeClr val="tx1"/>
                </a:solidFill>
              </a:rPr>
              <a:t>Bills 20% (configurable) away from past amounts need a review comment.</a:t>
            </a:r>
            <a:endParaRPr lang="en-US" sz="1400" dirty="0"/>
          </a:p>
        </p:txBody>
      </p:sp>
      <p:sp>
        <p:nvSpPr>
          <p:cNvPr id="31" name="control 4 circle"/>
          <p:cNvSpPr/>
          <p:nvPr/>
        </p:nvSpPr>
        <p:spPr>
          <a:xfrm>
            <a:off x="6720840" y="4306824"/>
            <a:ext cx="548640" cy="548640"/>
          </a:xfrm>
          <a:prstGeom prst="ellipse">
            <a:avLst/>
          </a:prstGeom>
          <a:solidFill>
            <a:srgbClr val="0F766E"/>
          </a:solidFill>
          <a:ln/>
        </p:spPr>
      </p:sp>
      <p:pic>
        <p:nvPicPr>
          <p:cNvPr id="32" name="control 4 icon" descr="preencoded.png">    </p:cNvPr>
          <p:cNvPicPr>
            <a:picLocks noChangeAspect="1"/>
          </p:cNvPicPr>
          <p:nvPr/>
        </p:nvPicPr>
        <p:blipFill>
          <a:blip r:embed="rId5"/>
          <a:stretch>
            <a:fillRect/>
          </a:stretch>
        </p:blipFill>
        <p:spPr>
          <a:xfrm>
            <a:off x="6852514" y="4438498"/>
            <a:ext cx="285293" cy="285293"/>
          </a:xfrm>
          <a:prstGeom prst="rect">
            <a:avLst/>
          </a:prstGeom>
        </p:spPr>
      </p:pic>
      <p:sp>
        <p:nvSpPr>
          <p:cNvPr id="33" name="control 4 text"/>
          <p:cNvSpPr txBox="1"/>
          <p:nvPr/>
        </p:nvSpPr>
        <p:spPr>
          <a:xfrm>
            <a:off x="7452360" y="4261104"/>
            <a:ext cx="4160520" cy="868680"/>
          </a:xfrm>
          <a:prstGeom prst="rect">
            <a:avLst/>
          </a:prstGeom>
          <a:noFill/>
          <a:ln/>
        </p:spPr>
        <p:txBody>
          <a:bodyPr wrap="square" lIns="0" tIns="0" rIns="0" bIns="0" rtlCol="0" anchor="t"/>
          <a:lstStyle/>
          <a:p>
            <a:pPr indent="0" marL="0">
              <a:buNone/>
            </a:pPr>
            <a:r>
              <a:rPr lang="en-US" sz="1400" b="1" dirty="0">
                <a:solidFill>
                  <a:schemeClr val="tx2"/>
                </a:solidFill>
              </a:rPr>
              <a:t>Locked after approval</a:t>
            </a:r>
            <a:endParaRPr lang="en-US" sz="1400" dirty="0"/>
          </a:p>
          <a:p>
            <a:pPr indent="0" marL="0">
              <a:buNone/>
            </a:pPr>
            <a:r>
              <a:rPr lang="en-US" sz="1400" dirty="0">
                <a:solidFill>
                  <a:schemeClr val="tx1"/>
                </a:solidFill>
              </a:rPr>
              <a:t>Approved figures cannot be edited; changes go back through the workflow.</a:t>
            </a:r>
            <a:endParaRPr lang="en-US" sz="1400" dirty="0"/>
          </a:p>
        </p:txBody>
      </p:sp>
      <p:sp>
        <p:nvSpPr>
          <p:cNvPr id="34" name="control 5 circle"/>
          <p:cNvSpPr/>
          <p:nvPr/>
        </p:nvSpPr>
        <p:spPr>
          <a:xfrm>
            <a:off x="6720840" y="5285232"/>
            <a:ext cx="548640" cy="548640"/>
          </a:xfrm>
          <a:prstGeom prst="ellipse">
            <a:avLst/>
          </a:prstGeom>
          <a:solidFill>
            <a:srgbClr val="0F766E"/>
          </a:solidFill>
          <a:ln/>
        </p:spPr>
      </p:sp>
      <p:pic>
        <p:nvPicPr>
          <p:cNvPr id="35" name="control 5 icon" descr="preencoded.png">    </p:cNvPr>
          <p:cNvPicPr>
            <a:picLocks noChangeAspect="1"/>
          </p:cNvPicPr>
          <p:nvPr/>
        </p:nvPicPr>
        <p:blipFill>
          <a:blip r:embed="rId6"/>
          <a:stretch>
            <a:fillRect/>
          </a:stretch>
        </p:blipFill>
        <p:spPr>
          <a:xfrm>
            <a:off x="6852514" y="5416906"/>
            <a:ext cx="285293" cy="285293"/>
          </a:xfrm>
          <a:prstGeom prst="rect">
            <a:avLst/>
          </a:prstGeom>
        </p:spPr>
      </p:pic>
      <p:sp>
        <p:nvSpPr>
          <p:cNvPr id="36" name="control 5 text"/>
          <p:cNvSpPr txBox="1"/>
          <p:nvPr/>
        </p:nvSpPr>
        <p:spPr>
          <a:xfrm>
            <a:off x="7452360" y="5239512"/>
            <a:ext cx="4160520" cy="868680"/>
          </a:xfrm>
          <a:prstGeom prst="rect">
            <a:avLst/>
          </a:prstGeom>
          <a:noFill/>
          <a:ln/>
        </p:spPr>
        <p:txBody>
          <a:bodyPr wrap="square" lIns="0" tIns="0" rIns="0" bIns="0" rtlCol="0" anchor="t"/>
          <a:lstStyle/>
          <a:p>
            <a:pPr indent="0" marL="0">
              <a:buNone/>
            </a:pPr>
            <a:r>
              <a:rPr lang="en-US" sz="1400" b="1" dirty="0">
                <a:solidFill>
                  <a:schemeClr val="tx2"/>
                </a:solidFill>
              </a:rPr>
              <a:t>Optional E-Approval link</a:t>
            </a:r>
            <a:endParaRPr lang="en-US" sz="1400" dirty="0"/>
          </a:p>
          <a:p>
            <a:pPr indent="0" marL="0">
              <a:buNone/>
            </a:pPr>
            <a:r>
              <a:rPr lang="en-US" sz="1400" dirty="0">
                <a:solidFill>
                  <a:schemeClr val="tx1"/>
                </a:solidFill>
              </a:rPr>
              <a:t>Mirror payments into E-Approval note-sheets for sign-off there.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This release, and what we need next</a:t>
            </a:r>
            <a:endParaRPr lang="en-US" sz="3200" dirty="0"/>
          </a:p>
        </p:txBody>
      </p:sp>
      <p:sp>
        <p:nvSpPr>
          <p:cNvPr id="3" name="left heading"/>
          <p:cNvSpPr txBox="1"/>
          <p:nvPr/>
        </p:nvSpPr>
        <p:spPr>
          <a:xfrm>
            <a:off x="548640" y="1371600"/>
            <a:ext cx="53949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Strengthened in October 2026</a:t>
            </a:r>
            <a:endParaRPr lang="en-US" sz="2000" dirty="0"/>
          </a:p>
        </p:txBody>
      </p:sp>
      <p:sp>
        <p:nvSpPr>
          <p:cNvPr id="4" name="done list"/>
          <p:cNvSpPr txBox="1"/>
          <p:nvPr/>
        </p:nvSpPr>
        <p:spPr>
          <a:xfrm>
            <a:off x="548640" y="1965960"/>
            <a:ext cx="5394960" cy="384048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bg1"/>
                </a:solidFill>
              </a:rPr>
              <a:t>"Generate now" always creates the cycle that is actually missing</a:t>
            </a:r>
            <a:endParaRPr lang="en-US" sz="1500" dirty="0"/>
          </a:p>
          <a:p>
            <a:pPr marL="228600" indent="-228600">
              <a:spcAft>
                <a:spcPts val="900"/>
              </a:spcAft>
              <a:buSzPct val="100000"/>
              <a:buChar char="•"/>
            </a:pPr>
            <a:r>
              <a:rPr lang="en-US" sz="1500" dirty="0">
                <a:solidFill>
                  <a:schemeClr val="bg1"/>
                </a:solidFill>
              </a:rPr>
              <a:t>One faulty record can no longer stop the nightly run</a:t>
            </a:r>
            <a:endParaRPr lang="en-US" sz="1500" dirty="0"/>
          </a:p>
          <a:p>
            <a:pPr marL="228600" indent="-228600">
              <a:spcAft>
                <a:spcPts val="900"/>
              </a:spcAft>
              <a:buSzPct val="100000"/>
              <a:buChar char="•"/>
            </a:pPr>
            <a:r>
              <a:rPr lang="en-US" sz="1500" dirty="0">
                <a:solidFill>
                  <a:schemeClr val="bg1"/>
                </a:solidFill>
              </a:rPr>
              <a:t>Reports and dashboard show the amount still owed, not the gross bill</a:t>
            </a:r>
            <a:endParaRPr lang="en-US" sz="1500" dirty="0"/>
          </a:p>
          <a:p>
            <a:pPr marL="228600" indent="-228600">
              <a:spcAft>
                <a:spcPts val="900"/>
              </a:spcAft>
              <a:buSzPct val="100000"/>
              <a:buChar char="•"/>
            </a:pPr>
            <a:r>
              <a:rPr lang="en-US" sz="1500" dirty="0">
                <a:solidFill>
                  <a:schemeClr val="bg1"/>
                </a:solidFill>
              </a:rPr>
              <a:t>Approvals restart when a bill is returned for correction</a:t>
            </a:r>
            <a:endParaRPr lang="en-US" sz="1500" dirty="0"/>
          </a:p>
          <a:p>
            <a:pPr marL="228600" indent="-228600">
              <a:spcAft>
                <a:spcPts val="900"/>
              </a:spcAft>
              <a:buSzPct val="100000"/>
              <a:buChar char="•"/>
            </a:pPr>
            <a:r>
              <a:rPr lang="en-US" sz="1500" dirty="0">
                <a:solidFill>
                  <a:schemeClr val="bg1"/>
                </a:solidFill>
              </a:rPr>
              <a:t>Overpayment, duplicate generation and silent edits are blocked</a:t>
            </a:r>
            <a:endParaRPr lang="en-US" sz="1500" dirty="0"/>
          </a:p>
          <a:p>
            <a:pPr marL="228600" indent="-228600">
              <a:spcAft>
                <a:spcPts val="900"/>
              </a:spcAft>
              <a:buSzPct val="100000"/>
              <a:buChar char="•"/>
            </a:pPr>
            <a:r>
              <a:rPr lang="en-US" sz="1500" dirty="0">
                <a:solidFill>
                  <a:schemeClr val="bg1"/>
                </a:solidFill>
              </a:rPr>
              <a:t>Billing period adjustable by up to 5 days at bill collection</a:t>
            </a:r>
            <a:endParaRPr lang="en-US" sz="1500" dirty="0"/>
          </a:p>
        </p:txBody>
      </p:sp>
      <p:sp>
        <p:nvSpPr>
          <p:cNvPr id="5" name="asks card"/>
          <p:cNvSpPr/>
          <p:nvPr/>
        </p:nvSpPr>
        <p:spPr>
          <a:xfrm>
            <a:off x="6355080" y="1280160"/>
            <a:ext cx="5303520" cy="4709160"/>
          </a:xfrm>
          <a:prstGeom prst="roundRect">
            <a:avLst>
              <a:gd name="adj" fmla="val 2330"/>
            </a:avLst>
          </a:prstGeom>
          <a:solidFill>
            <a:schemeClr val="bg1"/>
          </a:solidFill>
          <a:ln/>
        </p:spPr>
      </p:sp>
      <p:sp>
        <p:nvSpPr>
          <p:cNvPr id="6" name="right heading"/>
          <p:cNvSpPr txBox="1"/>
          <p:nvPr/>
        </p:nvSpPr>
        <p:spPr>
          <a:xfrm>
            <a:off x="6675120" y="1508760"/>
            <a:ext cx="4754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Decisions and next steps</a:t>
            </a:r>
            <a:endParaRPr lang="en-US" sz="2000" dirty="0"/>
          </a:p>
        </p:txBody>
      </p:sp>
      <p:sp>
        <p:nvSpPr>
          <p:cNvPr id="7" name="ask 1 circle"/>
          <p:cNvSpPr/>
          <p:nvPr/>
        </p:nvSpPr>
        <p:spPr>
          <a:xfrm>
            <a:off x="6675120" y="2194560"/>
            <a:ext cx="548640" cy="548640"/>
          </a:xfrm>
          <a:prstGeom prst="ellipse">
            <a:avLst/>
          </a:prstGeom>
          <a:solidFill>
            <a:srgbClr val="0F766E"/>
          </a:solidFill>
          <a:ln/>
        </p:spPr>
      </p:sp>
      <p:pic>
        <p:nvPicPr>
          <p:cNvPr id="8" name="ask 1 icon" descr="preencoded.png">    </p:cNvPr>
          <p:cNvPicPr>
            <a:picLocks noChangeAspect="1"/>
          </p:cNvPicPr>
          <p:nvPr/>
        </p:nvPicPr>
        <p:blipFill>
          <a:blip r:embed="rId1"/>
          <a:stretch>
            <a:fillRect/>
          </a:stretch>
        </p:blipFill>
        <p:spPr>
          <a:xfrm>
            <a:off x="6806794" y="2326234"/>
            <a:ext cx="285293" cy="285293"/>
          </a:xfrm>
          <a:prstGeom prst="rect">
            <a:avLst/>
          </a:prstGeom>
        </p:spPr>
      </p:pic>
      <p:sp>
        <p:nvSpPr>
          <p:cNvPr id="9" name="ask 1 text"/>
          <p:cNvSpPr txBox="1"/>
          <p:nvPr/>
        </p:nvSpPr>
        <p:spPr>
          <a:xfrm>
            <a:off x="7406640" y="2148840"/>
            <a:ext cx="4023360" cy="868680"/>
          </a:xfrm>
          <a:prstGeom prst="rect">
            <a:avLst/>
          </a:prstGeom>
          <a:noFill/>
          <a:ln/>
        </p:spPr>
        <p:txBody>
          <a:bodyPr wrap="square" lIns="0" tIns="0" rIns="0" bIns="0" rtlCol="0" anchor="t"/>
          <a:lstStyle/>
          <a:p>
            <a:pPr indent="0" marL="0">
              <a:buNone/>
            </a:pPr>
            <a:r>
              <a:rPr lang="en-US" sz="1400" b="1" dirty="0">
                <a:solidFill>
                  <a:schemeClr val="tx2"/>
                </a:solidFill>
              </a:rPr>
              <a:t>Email / SMS reminders</a:t>
            </a:r>
            <a:endParaRPr lang="en-US" sz="1400" dirty="0"/>
          </a:p>
          <a:p>
            <a:pPr indent="0" marL="0">
              <a:buNone/>
            </a:pPr>
            <a:r>
              <a:rPr lang="en-US" sz="1400" dirty="0">
                <a:solidFill>
                  <a:schemeClr val="tx1"/>
                </a:solidFill>
              </a:rPr>
              <a:t>Approve building delivery; today only in-app and push alerts are sent.</a:t>
            </a:r>
            <a:endParaRPr lang="en-US" sz="1400" dirty="0"/>
          </a:p>
        </p:txBody>
      </p:sp>
      <p:sp>
        <p:nvSpPr>
          <p:cNvPr id="10" name="ask 2 circle"/>
          <p:cNvSpPr/>
          <p:nvPr/>
        </p:nvSpPr>
        <p:spPr>
          <a:xfrm>
            <a:off x="6675120" y="3136392"/>
            <a:ext cx="548640" cy="548640"/>
          </a:xfrm>
          <a:prstGeom prst="ellipse">
            <a:avLst/>
          </a:prstGeom>
          <a:solidFill>
            <a:srgbClr val="0F766E"/>
          </a:solidFill>
          <a:ln/>
        </p:spPr>
      </p:sp>
      <p:pic>
        <p:nvPicPr>
          <p:cNvPr id="11" name="ask 2 icon" descr="preencoded.png">    </p:cNvPr>
          <p:cNvPicPr>
            <a:picLocks noChangeAspect="1"/>
          </p:cNvPicPr>
          <p:nvPr/>
        </p:nvPicPr>
        <p:blipFill>
          <a:blip r:embed="rId2"/>
          <a:stretch>
            <a:fillRect/>
          </a:stretch>
        </p:blipFill>
        <p:spPr>
          <a:xfrm>
            <a:off x="6806794" y="3268066"/>
            <a:ext cx="285293" cy="285293"/>
          </a:xfrm>
          <a:prstGeom prst="rect">
            <a:avLst/>
          </a:prstGeom>
        </p:spPr>
      </p:pic>
      <p:sp>
        <p:nvSpPr>
          <p:cNvPr id="12" name="ask 2 text"/>
          <p:cNvSpPr txBox="1"/>
          <p:nvPr/>
        </p:nvSpPr>
        <p:spPr>
          <a:xfrm>
            <a:off x="7406640" y="3090672"/>
            <a:ext cx="4023360" cy="868680"/>
          </a:xfrm>
          <a:prstGeom prst="rect">
            <a:avLst/>
          </a:prstGeom>
          <a:noFill/>
          <a:ln/>
        </p:spPr>
        <p:txBody>
          <a:bodyPr wrap="square" lIns="0" tIns="0" rIns="0" bIns="0" rtlCol="0" anchor="t"/>
          <a:lstStyle/>
          <a:p>
            <a:pPr indent="0" marL="0">
              <a:buNone/>
            </a:pPr>
            <a:r>
              <a:rPr lang="en-US" sz="1400" b="1" dirty="0">
                <a:solidFill>
                  <a:schemeClr val="tx2"/>
                </a:solidFill>
              </a:rPr>
              <a:t>Vendor master link</a:t>
            </a:r>
            <a:endParaRPr lang="en-US" sz="1400" dirty="0"/>
          </a:p>
          <a:p>
            <a:pPr indent="0" marL="0">
              <a:buNone/>
            </a:pPr>
            <a:r>
              <a:rPr lang="en-US" sz="1400" dirty="0">
                <a:solidFill>
                  <a:schemeClr val="tx1"/>
                </a:solidFill>
              </a:rPr>
              <a:t>Link payments to vendor IDs so a vendor rename keeps its history.</a:t>
            </a:r>
            <a:endParaRPr lang="en-US" sz="1400" dirty="0"/>
          </a:p>
        </p:txBody>
      </p:sp>
      <p:sp>
        <p:nvSpPr>
          <p:cNvPr id="13" name="ask 3 circle"/>
          <p:cNvSpPr/>
          <p:nvPr/>
        </p:nvSpPr>
        <p:spPr>
          <a:xfrm>
            <a:off x="6675120" y="4078224"/>
            <a:ext cx="548640" cy="548640"/>
          </a:xfrm>
          <a:prstGeom prst="ellipse">
            <a:avLst/>
          </a:prstGeom>
          <a:solidFill>
            <a:srgbClr val="0F766E"/>
          </a:solidFill>
          <a:ln/>
        </p:spPr>
      </p:sp>
      <p:pic>
        <p:nvPicPr>
          <p:cNvPr id="14" name="ask 3 icon" descr="preencoded.png">    </p:cNvPr>
          <p:cNvPicPr>
            <a:picLocks noChangeAspect="1"/>
          </p:cNvPicPr>
          <p:nvPr/>
        </p:nvPicPr>
        <p:blipFill>
          <a:blip r:embed="rId3"/>
          <a:stretch>
            <a:fillRect/>
          </a:stretch>
        </p:blipFill>
        <p:spPr>
          <a:xfrm>
            <a:off x="6806794" y="4209898"/>
            <a:ext cx="285293" cy="285293"/>
          </a:xfrm>
          <a:prstGeom prst="rect">
            <a:avLst/>
          </a:prstGeom>
        </p:spPr>
      </p:pic>
      <p:sp>
        <p:nvSpPr>
          <p:cNvPr id="15" name="ask 3 text"/>
          <p:cNvSpPr txBox="1"/>
          <p:nvPr/>
        </p:nvSpPr>
        <p:spPr>
          <a:xfrm>
            <a:off x="7406640" y="4032504"/>
            <a:ext cx="4023360" cy="868680"/>
          </a:xfrm>
          <a:prstGeom prst="rect">
            <a:avLst/>
          </a:prstGeom>
          <a:noFill/>
          <a:ln/>
        </p:spPr>
        <p:txBody>
          <a:bodyPr wrap="square" lIns="0" tIns="0" rIns="0" bIns="0" rtlCol="0" anchor="t"/>
          <a:lstStyle/>
          <a:p>
            <a:pPr indent="0" marL="0">
              <a:buNone/>
            </a:pPr>
            <a:r>
              <a:rPr lang="en-US" sz="1400" b="1" dirty="0">
                <a:solidFill>
                  <a:schemeClr val="tx2"/>
                </a:solidFill>
              </a:rPr>
              <a:t>Reopen policy</a:t>
            </a:r>
            <a:endParaRPr lang="en-US" sz="1400" dirty="0"/>
          </a:p>
          <a:p>
            <a:pPr indent="0" marL="0">
              <a:buNone/>
            </a:pPr>
            <a:r>
              <a:rPr lang="en-US" sz="1400" dirty="0">
                <a:solidFill>
                  <a:schemeClr val="tx1"/>
                </a:solidFill>
              </a:rPr>
              <a:t>Confirm Closed and Rejected stay final, or ask for a controlled reopen.</a:t>
            </a:r>
            <a:endParaRPr lang="en-US" sz="1400" dirty="0"/>
          </a:p>
        </p:txBody>
      </p:sp>
      <p:sp>
        <p:nvSpPr>
          <p:cNvPr id="16" name="ask 4 circle"/>
          <p:cNvSpPr/>
          <p:nvPr/>
        </p:nvSpPr>
        <p:spPr>
          <a:xfrm>
            <a:off x="6675120" y="5020056"/>
            <a:ext cx="548640" cy="548640"/>
          </a:xfrm>
          <a:prstGeom prst="ellipse">
            <a:avLst/>
          </a:prstGeom>
          <a:solidFill>
            <a:srgbClr val="0F766E"/>
          </a:solidFill>
          <a:ln/>
        </p:spPr>
      </p:sp>
      <p:pic>
        <p:nvPicPr>
          <p:cNvPr id="17" name="ask 4 icon" descr="preencoded.png">    </p:cNvPr>
          <p:cNvPicPr>
            <a:picLocks noChangeAspect="1"/>
          </p:cNvPicPr>
          <p:nvPr/>
        </p:nvPicPr>
        <p:blipFill>
          <a:blip r:embed="rId4"/>
          <a:stretch>
            <a:fillRect/>
          </a:stretch>
        </p:blipFill>
        <p:spPr>
          <a:xfrm>
            <a:off x="6806794" y="5151730"/>
            <a:ext cx="285293" cy="285293"/>
          </a:xfrm>
          <a:prstGeom prst="rect">
            <a:avLst/>
          </a:prstGeom>
        </p:spPr>
      </p:pic>
      <p:sp>
        <p:nvSpPr>
          <p:cNvPr id="18" name="ask 4 text"/>
          <p:cNvSpPr txBox="1"/>
          <p:nvPr/>
        </p:nvSpPr>
        <p:spPr>
          <a:xfrm>
            <a:off x="7406640" y="4974336"/>
            <a:ext cx="4023360" cy="868680"/>
          </a:xfrm>
          <a:prstGeom prst="rect">
            <a:avLst/>
          </a:prstGeom>
          <a:noFill/>
          <a:ln/>
        </p:spPr>
        <p:txBody>
          <a:bodyPr wrap="square" lIns="0" tIns="0" rIns="0" bIns="0" rtlCol="0" anchor="t"/>
          <a:lstStyle/>
          <a:p>
            <a:pPr indent="0" marL="0">
              <a:buNone/>
            </a:pPr>
            <a:r>
              <a:rPr lang="en-US" sz="1400" b="1" dirty="0">
                <a:solidFill>
                  <a:schemeClr val="tx2"/>
                </a:solidFill>
              </a:rPr>
              <a:t>Roll-out</a:t>
            </a:r>
            <a:endParaRPr lang="en-US" sz="1400" dirty="0"/>
          </a:p>
          <a:p>
            <a:pPr indent="0" marL="0">
              <a:buNone/>
            </a:pPr>
            <a:r>
              <a:rPr lang="en-US" sz="1400" dirty="0">
                <a:solidFill>
                  <a:schemeClr val="tx1"/>
                </a:solidFill>
              </a:rPr>
              <a:t>Owner and approver walkthroughs using the in-app Handbook.</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Recurring Payments">
  <a:themeElements>
    <a:clrScheme name="Recurring Payments">
      <a:dk1>
        <a:srgbClr val="16302F"/>
      </a:dk1>
      <a:lt1>
        <a:srgbClr val="FFFFFF"/>
      </a:lt1>
      <a:dk2>
        <a:srgbClr val="0F4C4A"/>
      </a:dk2>
      <a:lt2>
        <a:srgbClr val="EEF4F2"/>
      </a:lt2>
      <a:accent1>
        <a:srgbClr val="0F766E"/>
      </a:accent1>
      <a:accent2>
        <a:srgbClr val="E89B2D"/>
      </a:accent2>
      <a:accent3>
        <a:srgbClr val="C8434F"/>
      </a:accent3>
      <a:accent4>
        <a:srgbClr val="5B7F7A"/>
      </a:accent4>
      <a:accent5>
        <a:srgbClr val="A9CFC7"/>
      </a:accent5>
      <a:accent6>
        <a:srgbClr val="2B3A55"/>
      </a:accent6>
      <a:hlink>
        <a:srgbClr val="0F766E"/>
      </a:hlink>
      <a:folHlink>
        <a:srgbClr val="5B7F7A"/>
      </a:folHlink>
    </a:clrScheme>
    <a:fontScheme name="Recurring Paym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Recurring Payments</dc:title>
  <dc:subject>Recurring Payments module overview for users and directors</dc:subject>
  <dc:creator>SEL Live</dc:creator>
  <cp:lastModifiedBy>SEL Live</cp:lastModifiedBy>
  <cp:revision>1</cp:revision>
  <dcterms:created xsi:type="dcterms:W3CDTF">2026-10-06T06:24:02Z</dcterms:created>
  <dcterms:modified xsi:type="dcterms:W3CDTF">2026-10-06T06:24:02Z</dcterms:modified>
</cp:coreProperties>
</file>