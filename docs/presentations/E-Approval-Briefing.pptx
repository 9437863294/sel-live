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becac6e-52af-907b-71b7-829d2d134cb2}">
          <p14:sldIdLst>
            <p14:sldId id="256"/>
          </p14:sldIdLst>
        </p14:section>
        <p14:section name="The system" id="{4650214e-d459-6cbb-802f-591167fdf16f}">
          <p14:sldIdLst>
            <p14:sldId id="257"/>
            <p14:sldId id="258"/>
            <p14:sldId id="259"/>
          </p14:sldIdLst>
        </p14:section>
        <p14:section name="Next steps" id="{6895b4ec-9bfc-ab3e-14d7-36e97f0e5139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E-Approval is the electronic note-sheet. Everything that today goes round on a paper file — the proposal, the quotations, the remarks, the signatures — now moves on screen. In the next few minutes: what changes, how a request travels, what control it gives directors, and how we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approvals, same people — different medium. Left is how it works on paper today; right is what E-Approval does instead. The point to stress: nobody has to ask where a file is, and no remark is ever lost, because each one stays attached to the desk that wrote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typical site request. The Site Incharge raises it with the quotation; the GM (Projects) reviews and forwards it; the Executive Director approves — and can sanction a lower amount than asked. The approval note then prints from the record. Below: when the Director has a question, it goes to the GM, the GM can ask the Project Co-ordinator to check, and the answers come back up the same chain. Every step, and every note written, shows in the Workflow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directors, the question is control. Four guarantees on the left: nothing is ever erased; if the amount or proposal changes after someone approved, that approval stops counting; an approver can sanction less than was asked; and approvals can be delegated during leave. On the right, the default reminder schedule — set in Settings, and run automatically every hour — so no file can sit on a desk unnoticed.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need from each group. Everyone: raise note-sheets in E-Approval and stop chasing by phone — the "Pending with" line answers it. Approvers and directors: act from the inbox on desktop or phone, and set a delegate before leave. Administrators: build the workflows for each department and project, choose which approver types people may pick, and review the reminder schedule — it runs every hour. The full handbook is under E-Approval, Help. Two things are not in this release, so nobody expects them: certificate-backed digital signatures (DSC) and WhatsApp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30936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08960"/>
            <a:ext cx="603504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Sidhartha Engineering Limited  ·  E-Approval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erline"/>
          <p:cNvSpPr txBox="1"/>
          <p:nvPr/>
        </p:nvSpPr>
        <p:spPr>
          <a:xfrm>
            <a:off x="731520" y="14173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SIDHARTHA ENGINEERING LIMITED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87452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E-Approval</a:t>
            </a:r>
            <a:endParaRPr lang="en-US" sz="6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10896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Electronic note-sheets — raised, routed, approved and printed in one place</a:t>
            </a:r>
            <a:endParaRPr lang="en-US" sz="2400" dirty="0"/>
          </a:p>
        </p:txBody>
      </p:sp>
      <p:sp>
        <p:nvSpPr>
          <p:cNvPr id="6" name="occasion"/>
          <p:cNvSpPr txBox="1"/>
          <p:nvPr/>
        </p:nvSpPr>
        <p:spPr>
          <a:xfrm>
            <a:off x="731520" y="56235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Briefing for users and directors</a:t>
            </a:r>
            <a:endParaRPr lang="en-US" sz="1600" dirty="0"/>
          </a:p>
        </p:txBody>
      </p:sp>
      <p:sp>
        <p:nvSpPr>
          <p:cNvPr id="7" name="journey-link-1"/>
          <p:cNvSpPr/>
          <p:nvPr/>
        </p:nvSpPr>
        <p:spPr>
          <a:xfrm>
            <a:off x="8229600" y="2057400"/>
            <a:ext cx="91" cy="411480"/>
          </a:xfrm>
          <a:prstGeom prst="line">
            <a:avLst/>
          </a:prstGeom>
          <a:noFill/>
          <a:ln w="19050">
            <a:solidFill>
              <a:schemeClr val="bg2"/>
            </a:solidFill>
            <a:prstDash val="dash"/>
          </a:ln>
        </p:spPr>
      </p:sp>
      <p:sp>
        <p:nvSpPr>
          <p:cNvPr id="8" name="journey-1-tile"/>
          <p:cNvSpPr/>
          <p:nvPr/>
        </p:nvSpPr>
        <p:spPr>
          <a:xfrm>
            <a:off x="7818120" y="1234440"/>
            <a:ext cx="822960" cy="822960"/>
          </a:xfrm>
          <a:prstGeom prst="roundRect">
            <a:avLst>
              <a:gd name="adj" fmla="val 22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9" name="journey-1" descr="Rai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5630" y="1431950"/>
            <a:ext cx="427939" cy="427939"/>
          </a:xfrm>
          <a:prstGeom prst="rect">
            <a:avLst/>
          </a:prstGeom>
        </p:spPr>
      </p:pic>
      <p:sp>
        <p:nvSpPr>
          <p:cNvPr id="10" name="journey-1-label"/>
          <p:cNvSpPr txBox="1"/>
          <p:nvPr/>
        </p:nvSpPr>
        <p:spPr>
          <a:xfrm>
            <a:off x="891540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Raise</a:t>
            </a:r>
            <a:endParaRPr lang="en-US" sz="2200" dirty="0"/>
          </a:p>
        </p:txBody>
      </p:sp>
      <p:sp>
        <p:nvSpPr>
          <p:cNvPr id="11" name="journey-1-caption"/>
          <p:cNvSpPr txBox="1"/>
          <p:nvPr/>
        </p:nvSpPr>
        <p:spPr>
          <a:xfrm>
            <a:off x="891540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From the site or office</a:t>
            </a:r>
            <a:endParaRPr lang="en-US" sz="1400" dirty="0"/>
          </a:p>
        </p:txBody>
      </p:sp>
      <p:sp>
        <p:nvSpPr>
          <p:cNvPr id="12" name="journey-link-2"/>
          <p:cNvSpPr/>
          <p:nvPr/>
        </p:nvSpPr>
        <p:spPr>
          <a:xfrm>
            <a:off x="8229600" y="3291840"/>
            <a:ext cx="91" cy="411480"/>
          </a:xfrm>
          <a:prstGeom prst="line">
            <a:avLst/>
          </a:prstGeom>
          <a:noFill/>
          <a:ln w="19050">
            <a:solidFill>
              <a:schemeClr val="bg2"/>
            </a:solidFill>
            <a:prstDash val="dash"/>
          </a:ln>
        </p:spPr>
      </p:sp>
      <p:sp>
        <p:nvSpPr>
          <p:cNvPr id="13" name="journey-2-tile"/>
          <p:cNvSpPr/>
          <p:nvPr/>
        </p:nvSpPr>
        <p:spPr>
          <a:xfrm>
            <a:off x="7818120" y="2468880"/>
            <a:ext cx="822960" cy="822960"/>
          </a:xfrm>
          <a:prstGeom prst="roundRect">
            <a:avLst>
              <a:gd name="adj" fmla="val 22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4" name="journey-2" descr="Ro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630" y="2666390"/>
            <a:ext cx="427939" cy="427939"/>
          </a:xfrm>
          <a:prstGeom prst="rect">
            <a:avLst/>
          </a:prstGeom>
        </p:spPr>
      </p:pic>
      <p:sp>
        <p:nvSpPr>
          <p:cNvPr id="15" name="journey-2-label"/>
          <p:cNvSpPr txBox="1"/>
          <p:nvPr/>
        </p:nvSpPr>
        <p:spPr>
          <a:xfrm>
            <a:off x="8915400" y="2514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Route</a:t>
            </a:r>
            <a:endParaRPr lang="en-US" sz="2200" dirty="0"/>
          </a:p>
        </p:txBody>
      </p:sp>
      <p:sp>
        <p:nvSpPr>
          <p:cNvPr id="16" name="journey-2-caption"/>
          <p:cNvSpPr txBox="1"/>
          <p:nvPr/>
        </p:nvSpPr>
        <p:spPr>
          <a:xfrm>
            <a:off x="891540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the right desks, automatically</a:t>
            </a:r>
            <a:endParaRPr lang="en-US" sz="1400" dirty="0"/>
          </a:p>
        </p:txBody>
      </p:sp>
      <p:sp>
        <p:nvSpPr>
          <p:cNvPr id="17" name="journey-link-3"/>
          <p:cNvSpPr/>
          <p:nvPr/>
        </p:nvSpPr>
        <p:spPr>
          <a:xfrm>
            <a:off x="8229600" y="4526280"/>
            <a:ext cx="91" cy="411480"/>
          </a:xfrm>
          <a:prstGeom prst="line">
            <a:avLst/>
          </a:prstGeom>
          <a:noFill/>
          <a:ln w="19050">
            <a:solidFill>
              <a:schemeClr val="bg2"/>
            </a:solidFill>
            <a:prstDash val="dash"/>
          </a:ln>
        </p:spPr>
      </p:sp>
      <p:sp>
        <p:nvSpPr>
          <p:cNvPr id="18" name="journey-3-tile"/>
          <p:cNvSpPr/>
          <p:nvPr/>
        </p:nvSpPr>
        <p:spPr>
          <a:xfrm>
            <a:off x="7818120" y="3703320"/>
            <a:ext cx="822960" cy="822960"/>
          </a:xfrm>
          <a:prstGeom prst="roundRect">
            <a:avLst>
              <a:gd name="adj" fmla="val 22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9" name="journey-3" descr="Appr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630" y="3900830"/>
            <a:ext cx="427939" cy="427939"/>
          </a:xfrm>
          <a:prstGeom prst="rect">
            <a:avLst/>
          </a:prstGeom>
        </p:spPr>
      </p:pic>
      <p:sp>
        <p:nvSpPr>
          <p:cNvPr id="20" name="journey-3-label"/>
          <p:cNvSpPr txBox="1"/>
          <p:nvPr/>
        </p:nvSpPr>
        <p:spPr>
          <a:xfrm>
            <a:off x="8915400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Approve</a:t>
            </a:r>
            <a:endParaRPr lang="en-US" sz="2200" dirty="0"/>
          </a:p>
        </p:txBody>
      </p:sp>
      <p:sp>
        <p:nvSpPr>
          <p:cNvPr id="21" name="journey-3-caption"/>
          <p:cNvSpPr txBox="1"/>
          <p:nvPr/>
        </p:nvSpPr>
        <p:spPr>
          <a:xfrm>
            <a:off x="891540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Verify, question, sanction</a:t>
            </a:r>
            <a:endParaRPr lang="en-US" sz="1400" dirty="0"/>
          </a:p>
        </p:txBody>
      </p:sp>
      <p:sp>
        <p:nvSpPr>
          <p:cNvPr id="22" name="journey-4-tile"/>
          <p:cNvSpPr/>
          <p:nvPr/>
        </p:nvSpPr>
        <p:spPr>
          <a:xfrm>
            <a:off x="7818120" y="4937760"/>
            <a:ext cx="822960" cy="822960"/>
          </a:xfrm>
          <a:prstGeom prst="roundRect">
            <a:avLst>
              <a:gd name="adj" fmla="val 22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23" name="journey-4" descr="Pri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5630" y="5135270"/>
            <a:ext cx="427939" cy="427939"/>
          </a:xfrm>
          <a:prstGeom prst="rect">
            <a:avLst/>
          </a:prstGeom>
        </p:spPr>
      </p:pic>
      <p:sp>
        <p:nvSpPr>
          <p:cNvPr id="24" name="journey-4-label"/>
          <p:cNvSpPr txBox="1"/>
          <p:nvPr/>
        </p:nvSpPr>
        <p:spPr>
          <a:xfrm>
            <a:off x="8915400" y="4983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Print</a:t>
            </a:r>
            <a:endParaRPr lang="en-US" sz="2200" dirty="0"/>
          </a:p>
        </p:txBody>
      </p:sp>
      <p:sp>
        <p:nvSpPr>
          <p:cNvPr id="25" name="journey-4-caption"/>
          <p:cNvSpPr txBox="1"/>
          <p:nvPr/>
        </p:nvSpPr>
        <p:spPr>
          <a:xfrm>
            <a:off x="8915400" y="5394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approval note, from the record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changes for every note-sheet</a:t>
            </a:r>
            <a:endParaRPr lang="en-US" sz="3600" dirty="0"/>
          </a:p>
        </p:txBody>
      </p:sp>
      <p:sp>
        <p:nvSpPr>
          <p:cNvPr id="4" name="lede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approvals you give today — without the file going missing on someone’s desk.</a:t>
            </a:r>
            <a:endParaRPr lang="en-US" sz="1800" dirty="0"/>
          </a:p>
        </p:txBody>
      </p:sp>
      <p:pic>
        <p:nvPicPr>
          <p:cNvPr id="5" name="icon-file-stack" descr="Pap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292608" cy="292608"/>
          </a:xfrm>
          <a:prstGeom prst="rect">
            <a:avLst/>
          </a:prstGeom>
        </p:spPr>
      </p:pic>
      <p:sp>
        <p:nvSpPr>
          <p:cNvPr id="6" name="col-paper"/>
          <p:cNvSpPr txBox="1"/>
          <p:nvPr/>
        </p:nvSpPr>
        <p:spPr>
          <a:xfrm>
            <a:off x="932688" y="18105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On paper</a:t>
            </a:r>
            <a:endParaRPr lang="en-US" sz="1600" dirty="0"/>
          </a:p>
        </p:txBody>
      </p:sp>
      <p:pic>
        <p:nvPicPr>
          <p:cNvPr id="7" name="icon-circle-check" descr="E-Approv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28800"/>
            <a:ext cx="292608" cy="292608"/>
          </a:xfrm>
          <a:prstGeom prst="rect">
            <a:avLst/>
          </a:prstGeom>
        </p:spPr>
      </p:pic>
      <p:sp>
        <p:nvSpPr>
          <p:cNvPr id="8" name="col-eapproval"/>
          <p:cNvSpPr txBox="1"/>
          <p:nvPr/>
        </p:nvSpPr>
        <p:spPr>
          <a:xfrm>
            <a:off x="6419088" y="18105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 E-Approval</a:t>
            </a:r>
            <a:endParaRPr lang="en-US" sz="1600" dirty="0"/>
          </a:p>
        </p:txBody>
      </p:sp>
      <p:sp>
        <p:nvSpPr>
          <p:cNvPr id="9" name="paper-1"/>
          <p:cNvSpPr/>
          <p:nvPr/>
        </p:nvSpPr>
        <p:spPr>
          <a:xfrm>
            <a:off x="548640" y="2331720"/>
            <a:ext cx="4800600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12700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10" name="paper-1-text"/>
          <p:cNvSpPr txBox="1"/>
          <p:nvPr/>
        </p:nvSpPr>
        <p:spPr>
          <a:xfrm>
            <a:off x="822960" y="2441448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file travels desk to desk — and can stop on any of them</a:t>
            </a:r>
            <a:endParaRPr lang="en-US" sz="1600" dirty="0"/>
          </a:p>
        </p:txBody>
      </p:sp>
      <p:pic>
        <p:nvPicPr>
          <p:cNvPr id="11" name="icon-arrow-right" descr="becom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2569464"/>
            <a:ext cx="365760" cy="365760"/>
          </a:xfrm>
          <a:prstGeom prst="rect">
            <a:avLst/>
          </a:prstGeom>
        </p:spPr>
      </p:pic>
      <p:sp>
        <p:nvSpPr>
          <p:cNvPr id="12" name="digital-1"/>
          <p:cNvSpPr/>
          <p:nvPr/>
        </p:nvSpPr>
        <p:spPr>
          <a:xfrm>
            <a:off x="6035040" y="2331720"/>
            <a:ext cx="56052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3" name="digital-1-icon-tile"/>
          <p:cNvSpPr/>
          <p:nvPr/>
        </p:nvSpPr>
        <p:spPr>
          <a:xfrm>
            <a:off x="6236208" y="2496312"/>
            <a:ext cx="512064" cy="51206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4" name="digital-1-icon" descr="Sent to the right desks automatically — by department, project and amou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103" y="2619207"/>
            <a:ext cx="266273" cy="266273"/>
          </a:xfrm>
          <a:prstGeom prst="rect">
            <a:avLst/>
          </a:prstGeom>
        </p:spPr>
      </p:pic>
      <p:sp>
        <p:nvSpPr>
          <p:cNvPr id="15" name="digital-1-text"/>
          <p:cNvSpPr txBox="1"/>
          <p:nvPr/>
        </p:nvSpPr>
        <p:spPr>
          <a:xfrm>
            <a:off x="6931152" y="2441448"/>
            <a:ext cx="4462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Sent to the right desks automatically — by department, project and amount</a:t>
            </a:r>
            <a:endParaRPr lang="en-US" sz="1600" dirty="0"/>
          </a:p>
        </p:txBody>
      </p:sp>
      <p:sp>
        <p:nvSpPr>
          <p:cNvPr id="16" name="paper-2"/>
          <p:cNvSpPr/>
          <p:nvPr/>
        </p:nvSpPr>
        <p:spPr>
          <a:xfrm>
            <a:off x="548640" y="3355848"/>
            <a:ext cx="4800600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12700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17" name="paper-2-text"/>
          <p:cNvSpPr txBox="1"/>
          <p:nvPr/>
        </p:nvSpPr>
        <p:spPr>
          <a:xfrm>
            <a:off x="822960" y="3465576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“Who has the file?” takes a phone call</a:t>
            </a:r>
            <a:endParaRPr lang="en-US" sz="1600" dirty="0"/>
          </a:p>
        </p:txBody>
      </p:sp>
      <p:pic>
        <p:nvPicPr>
          <p:cNvPr id="18" name="icon-arrow-right" descr="becom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88" y="3593592"/>
            <a:ext cx="365760" cy="365760"/>
          </a:xfrm>
          <a:prstGeom prst="rect">
            <a:avLst/>
          </a:prstGeom>
        </p:spPr>
      </p:pic>
      <p:sp>
        <p:nvSpPr>
          <p:cNvPr id="19" name="digital-2"/>
          <p:cNvSpPr/>
          <p:nvPr/>
        </p:nvSpPr>
        <p:spPr>
          <a:xfrm>
            <a:off x="6035040" y="3355848"/>
            <a:ext cx="56052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0" name="digital-2-icon-tile"/>
          <p:cNvSpPr/>
          <p:nvPr/>
        </p:nvSpPr>
        <p:spPr>
          <a:xfrm>
            <a:off x="6236208" y="3520440"/>
            <a:ext cx="512064" cy="51206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21" name="digital-2-icon" descr="Every request shows who holds it, and since wh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9103" y="3643335"/>
            <a:ext cx="266273" cy="266273"/>
          </a:xfrm>
          <a:prstGeom prst="rect">
            <a:avLst/>
          </a:prstGeom>
        </p:spPr>
      </p:pic>
      <p:sp>
        <p:nvSpPr>
          <p:cNvPr id="22" name="digital-2-text"/>
          <p:cNvSpPr txBox="1"/>
          <p:nvPr/>
        </p:nvSpPr>
        <p:spPr>
          <a:xfrm>
            <a:off x="6931152" y="3465576"/>
            <a:ext cx="4462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Every request shows who holds it, and since when</a:t>
            </a:r>
            <a:endParaRPr lang="en-US" sz="1600" dirty="0"/>
          </a:p>
        </p:txBody>
      </p:sp>
      <p:sp>
        <p:nvSpPr>
          <p:cNvPr id="23" name="paper-3"/>
          <p:cNvSpPr/>
          <p:nvPr/>
        </p:nvSpPr>
        <p:spPr>
          <a:xfrm>
            <a:off x="548640" y="4379976"/>
            <a:ext cx="4800600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12700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24" name="paper-3-text"/>
          <p:cNvSpPr txBox="1"/>
          <p:nvPr/>
        </p:nvSpPr>
        <p:spPr>
          <a:xfrm>
            <a:off x="822960" y="4489704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Covering notes and remarks get lost or overwritten</a:t>
            </a:r>
            <a:endParaRPr lang="en-US" sz="1600" dirty="0"/>
          </a:p>
        </p:txBody>
      </p:sp>
      <p:pic>
        <p:nvPicPr>
          <p:cNvPr id="25" name="icon-arrow-right" descr="becom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4688" y="4617720"/>
            <a:ext cx="365760" cy="365760"/>
          </a:xfrm>
          <a:prstGeom prst="rect">
            <a:avLst/>
          </a:prstGeom>
        </p:spPr>
      </p:pic>
      <p:sp>
        <p:nvSpPr>
          <p:cNvPr id="26" name="digital-3"/>
          <p:cNvSpPr/>
          <p:nvPr/>
        </p:nvSpPr>
        <p:spPr>
          <a:xfrm>
            <a:off x="6035040" y="4379976"/>
            <a:ext cx="56052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7" name="digital-3-icon-tile"/>
          <p:cNvSpPr/>
          <p:nvPr/>
        </p:nvSpPr>
        <p:spPr>
          <a:xfrm>
            <a:off x="6236208" y="4544568"/>
            <a:ext cx="512064" cy="51206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28" name="digital-3-icon" descr="Every remark stays at the desk it was written, with name and tim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9103" y="4667463"/>
            <a:ext cx="266273" cy="266273"/>
          </a:xfrm>
          <a:prstGeom prst="rect">
            <a:avLst/>
          </a:prstGeom>
        </p:spPr>
      </p:pic>
      <p:sp>
        <p:nvSpPr>
          <p:cNvPr id="29" name="digital-3-text"/>
          <p:cNvSpPr txBox="1"/>
          <p:nvPr/>
        </p:nvSpPr>
        <p:spPr>
          <a:xfrm>
            <a:off x="6931152" y="4489704"/>
            <a:ext cx="4462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Every remark stays at the desk it was written, with name and time</a:t>
            </a:r>
            <a:endParaRPr lang="en-US" sz="1600" dirty="0"/>
          </a:p>
        </p:txBody>
      </p:sp>
      <p:sp>
        <p:nvSpPr>
          <p:cNvPr id="30" name="paper-4"/>
          <p:cNvSpPr/>
          <p:nvPr/>
        </p:nvSpPr>
        <p:spPr>
          <a:xfrm>
            <a:off x="548640" y="5404104"/>
            <a:ext cx="4800600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12700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31" name="paper-4-text"/>
          <p:cNvSpPr txBox="1"/>
          <p:nvPr/>
        </p:nvSpPr>
        <p:spPr>
          <a:xfrm>
            <a:off x="822960" y="5513832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approval note is retyped for signature</a:t>
            </a:r>
            <a:endParaRPr lang="en-US" sz="1600" dirty="0"/>
          </a:p>
        </p:txBody>
      </p:sp>
      <p:pic>
        <p:nvPicPr>
          <p:cNvPr id="32" name="icon-arrow-right" descr="become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4688" y="5641848"/>
            <a:ext cx="365760" cy="365760"/>
          </a:xfrm>
          <a:prstGeom prst="rect">
            <a:avLst/>
          </a:prstGeom>
        </p:spPr>
      </p:pic>
      <p:sp>
        <p:nvSpPr>
          <p:cNvPr id="33" name="digital-4"/>
          <p:cNvSpPr/>
          <p:nvPr/>
        </p:nvSpPr>
        <p:spPr>
          <a:xfrm>
            <a:off x="6035040" y="5404104"/>
            <a:ext cx="56052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34" name="digital-4-icon-tile"/>
          <p:cNvSpPr/>
          <p:nvPr/>
        </p:nvSpPr>
        <p:spPr>
          <a:xfrm>
            <a:off x="6236208" y="5568696"/>
            <a:ext cx="512064" cy="51206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35" name="digital-4-icon" descr="The approval note prints straight from the record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9103" y="5691591"/>
            <a:ext cx="266273" cy="266273"/>
          </a:xfrm>
          <a:prstGeom prst="rect">
            <a:avLst/>
          </a:prstGeom>
        </p:spPr>
      </p:pic>
      <p:sp>
        <p:nvSpPr>
          <p:cNvPr id="36" name="digital-4-text"/>
          <p:cNvSpPr txBox="1"/>
          <p:nvPr/>
        </p:nvSpPr>
        <p:spPr>
          <a:xfrm>
            <a:off x="6931152" y="5513832"/>
            <a:ext cx="4462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approval note prints straight from the record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a request moves through the chain</a:t>
            </a:r>
            <a:endParaRPr lang="en-US" sz="3600" dirty="0"/>
          </a:p>
        </p:txBody>
      </p:sp>
      <p:sp>
        <p:nvSpPr>
          <p:cNvPr id="4" name="lede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Questions travel down the chain and answers come back up — the file never loses its place.</a:t>
            </a:r>
            <a:endParaRPr lang="en-US" sz="1800" dirty="0"/>
          </a:p>
        </p:txBody>
      </p:sp>
      <p:sp>
        <p:nvSpPr>
          <p:cNvPr id="5" name="chain-1"/>
          <p:cNvSpPr/>
          <p:nvPr/>
        </p:nvSpPr>
        <p:spPr>
          <a:xfrm>
            <a:off x="548640" y="1874520"/>
            <a:ext cx="2377440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1C1A33">
                <a:alpha val="12000"/>
              </a:srgbClr>
            </a:outerShdw>
          </a:effectLst>
        </p:spPr>
      </p:sp>
      <p:sp>
        <p:nvSpPr>
          <p:cNvPr id="6" name="chain-1-icon-tile"/>
          <p:cNvSpPr/>
          <p:nvPr/>
        </p:nvSpPr>
        <p:spPr>
          <a:xfrm>
            <a:off x="777240" y="2103120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7" name="chain-1-icon" descr="Site Inchar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234794"/>
            <a:ext cx="285293" cy="285293"/>
          </a:xfrm>
          <a:prstGeom prst="rect">
            <a:avLst/>
          </a:prstGeom>
        </p:spPr>
      </p:pic>
      <p:sp>
        <p:nvSpPr>
          <p:cNvPr id="8" name="chain-1-number"/>
          <p:cNvSpPr txBox="1"/>
          <p:nvPr/>
        </p:nvSpPr>
        <p:spPr>
          <a:xfrm>
            <a:off x="2423160" y="2103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chain-1-role"/>
          <p:cNvSpPr txBox="1"/>
          <p:nvPr/>
        </p:nvSpPr>
        <p:spPr>
          <a:xfrm>
            <a:off x="777240" y="27706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Site Incharge</a:t>
            </a:r>
            <a:endParaRPr lang="en-US" sz="1800" dirty="0"/>
          </a:p>
        </p:txBody>
      </p:sp>
      <p:sp>
        <p:nvSpPr>
          <p:cNvPr id="10" name="chain-1-action"/>
          <p:cNvSpPr txBox="1"/>
          <p:nvPr/>
        </p:nvSpPr>
        <p:spPr>
          <a:xfrm>
            <a:off x="777240" y="31181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Raises the request with the quotation attached</a:t>
            </a:r>
            <a:endParaRPr lang="en-US" sz="1400" dirty="0"/>
          </a:p>
        </p:txBody>
      </p:sp>
      <p:sp>
        <p:nvSpPr>
          <p:cNvPr id="11" name="chain-arrow-1"/>
          <p:cNvSpPr/>
          <p:nvPr/>
        </p:nvSpPr>
        <p:spPr>
          <a:xfrm>
            <a:off x="2999232" y="2766060"/>
            <a:ext cx="381000" cy="91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chain-2"/>
          <p:cNvSpPr/>
          <p:nvPr/>
        </p:nvSpPr>
        <p:spPr>
          <a:xfrm>
            <a:off x="3453384" y="1874520"/>
            <a:ext cx="2377440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1C1A33">
                <a:alpha val="12000"/>
              </a:srgbClr>
            </a:outerShdw>
          </a:effectLst>
        </p:spPr>
      </p:sp>
      <p:sp>
        <p:nvSpPr>
          <p:cNvPr id="13" name="chain-2-icon-tile"/>
          <p:cNvSpPr/>
          <p:nvPr/>
        </p:nvSpPr>
        <p:spPr>
          <a:xfrm>
            <a:off x="3681984" y="2103120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4" name="chain-2-icon" descr="GM (Projects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658" y="2234794"/>
            <a:ext cx="285293" cy="285293"/>
          </a:xfrm>
          <a:prstGeom prst="rect">
            <a:avLst/>
          </a:prstGeom>
        </p:spPr>
      </p:pic>
      <p:sp>
        <p:nvSpPr>
          <p:cNvPr id="15" name="chain-2-number"/>
          <p:cNvSpPr txBox="1"/>
          <p:nvPr/>
        </p:nvSpPr>
        <p:spPr>
          <a:xfrm>
            <a:off x="5327904" y="2103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chain-2-role"/>
          <p:cNvSpPr txBox="1"/>
          <p:nvPr/>
        </p:nvSpPr>
        <p:spPr>
          <a:xfrm>
            <a:off x="3681984" y="27706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GM (Projects)</a:t>
            </a:r>
            <a:endParaRPr lang="en-US" sz="1800" dirty="0"/>
          </a:p>
        </p:txBody>
      </p:sp>
      <p:sp>
        <p:nvSpPr>
          <p:cNvPr id="17" name="chain-2-action"/>
          <p:cNvSpPr txBox="1"/>
          <p:nvPr/>
        </p:nvSpPr>
        <p:spPr>
          <a:xfrm>
            <a:off x="3681984" y="31181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Reviews it and forwards it for approval</a:t>
            </a:r>
            <a:endParaRPr lang="en-US" sz="1400" dirty="0"/>
          </a:p>
        </p:txBody>
      </p:sp>
      <p:sp>
        <p:nvSpPr>
          <p:cNvPr id="18" name="chain-arrow-2"/>
          <p:cNvSpPr/>
          <p:nvPr/>
        </p:nvSpPr>
        <p:spPr>
          <a:xfrm>
            <a:off x="5903976" y="2766060"/>
            <a:ext cx="381000" cy="91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chain-3"/>
          <p:cNvSpPr/>
          <p:nvPr/>
        </p:nvSpPr>
        <p:spPr>
          <a:xfrm>
            <a:off x="6358128" y="1874520"/>
            <a:ext cx="2377440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1C1A33">
                <a:alpha val="12000"/>
              </a:srgbClr>
            </a:outerShdw>
          </a:effectLst>
        </p:spPr>
      </p:sp>
      <p:sp>
        <p:nvSpPr>
          <p:cNvPr id="20" name="chain-3-icon-tile"/>
          <p:cNvSpPr/>
          <p:nvPr/>
        </p:nvSpPr>
        <p:spPr>
          <a:xfrm>
            <a:off x="6586728" y="2103120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21" name="chain-3-icon" descr="Executive Direct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402" y="2234794"/>
            <a:ext cx="285293" cy="285293"/>
          </a:xfrm>
          <a:prstGeom prst="rect">
            <a:avLst/>
          </a:prstGeom>
        </p:spPr>
      </p:pic>
      <p:sp>
        <p:nvSpPr>
          <p:cNvPr id="22" name="chain-3-number"/>
          <p:cNvSpPr txBox="1"/>
          <p:nvPr/>
        </p:nvSpPr>
        <p:spPr>
          <a:xfrm>
            <a:off x="8232648" y="2103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chain-3-role"/>
          <p:cNvSpPr txBox="1"/>
          <p:nvPr/>
        </p:nvSpPr>
        <p:spPr>
          <a:xfrm>
            <a:off x="6586728" y="27706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Executive Director</a:t>
            </a:r>
            <a:endParaRPr lang="en-US" sz="1800" dirty="0"/>
          </a:p>
        </p:txBody>
      </p:sp>
      <p:sp>
        <p:nvSpPr>
          <p:cNvPr id="24" name="chain-3-action"/>
          <p:cNvSpPr txBox="1"/>
          <p:nvPr/>
        </p:nvSpPr>
        <p:spPr>
          <a:xfrm>
            <a:off x="6586728" y="31181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Approves — or sanctions a lower amount</a:t>
            </a:r>
            <a:endParaRPr lang="en-US" sz="1400" dirty="0"/>
          </a:p>
        </p:txBody>
      </p:sp>
      <p:sp>
        <p:nvSpPr>
          <p:cNvPr id="25" name="chain-arrow-3"/>
          <p:cNvSpPr/>
          <p:nvPr/>
        </p:nvSpPr>
        <p:spPr>
          <a:xfrm>
            <a:off x="8808720" y="2766060"/>
            <a:ext cx="381000" cy="91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chain-4"/>
          <p:cNvSpPr/>
          <p:nvPr/>
        </p:nvSpPr>
        <p:spPr>
          <a:xfrm>
            <a:off x="9262872" y="1874520"/>
            <a:ext cx="2377440" cy="1783080"/>
          </a:xfrm>
          <a:prstGeom prst="roundRect">
            <a:avLst>
              <a:gd name="adj" fmla="val 7179"/>
            </a:avLst>
          </a:prstGeom>
          <a:solidFill>
            <a:schemeClr val="bg2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7" name="chain-4-icon-tile"/>
          <p:cNvSpPr/>
          <p:nvPr/>
        </p:nvSpPr>
        <p:spPr>
          <a:xfrm>
            <a:off x="9491472" y="2103120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accent3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28" name="chain-4-icon" descr="Approval No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146" y="2234794"/>
            <a:ext cx="285293" cy="285293"/>
          </a:xfrm>
          <a:prstGeom prst="rect">
            <a:avLst/>
          </a:prstGeom>
        </p:spPr>
      </p:pic>
      <p:sp>
        <p:nvSpPr>
          <p:cNvPr id="29" name="chain-4-number"/>
          <p:cNvSpPr txBox="1"/>
          <p:nvPr/>
        </p:nvSpPr>
        <p:spPr>
          <a:xfrm>
            <a:off x="11137392" y="2103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chain-4-role"/>
          <p:cNvSpPr txBox="1"/>
          <p:nvPr/>
        </p:nvSpPr>
        <p:spPr>
          <a:xfrm>
            <a:off x="9491472" y="27706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Approval Note</a:t>
            </a:r>
            <a:endParaRPr lang="en-US" sz="1800" dirty="0"/>
          </a:p>
        </p:txBody>
      </p:sp>
      <p:sp>
        <p:nvSpPr>
          <p:cNvPr id="31" name="chain-4-action"/>
          <p:cNvSpPr txBox="1"/>
          <p:nvPr/>
        </p:nvSpPr>
        <p:spPr>
          <a:xfrm>
            <a:off x="9491472" y="31181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Printed from the record, ready to file</a:t>
            </a:r>
            <a:endParaRPr lang="en-US" sz="1400" dirty="0"/>
          </a:p>
        </p:txBody>
      </p:sp>
      <p:sp>
        <p:nvSpPr>
          <p:cNvPr id="32" name="loop-panel"/>
          <p:cNvSpPr/>
          <p:nvPr/>
        </p:nvSpPr>
        <p:spPr>
          <a:xfrm>
            <a:off x="548640" y="4069080"/>
            <a:ext cx="110916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33" name="loop-title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When someone needs to check something</a:t>
            </a:r>
            <a:endParaRPr lang="en-US" sz="1800" dirty="0"/>
          </a:p>
        </p:txBody>
      </p:sp>
      <p:sp>
        <p:nvSpPr>
          <p:cNvPr id="34" name="loop-1-icon-tile"/>
          <p:cNvSpPr/>
          <p:nvPr/>
        </p:nvSpPr>
        <p:spPr>
          <a:xfrm>
            <a:off x="822960" y="4892040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35" name="loop-1-icon" descr="The Director asks the G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4" y="5023714"/>
            <a:ext cx="285293" cy="285293"/>
          </a:xfrm>
          <a:prstGeom prst="rect">
            <a:avLst/>
          </a:prstGeom>
        </p:spPr>
      </p:pic>
      <p:sp>
        <p:nvSpPr>
          <p:cNvPr id="36" name="loop-1-text"/>
          <p:cNvSpPr txBox="1"/>
          <p:nvPr/>
        </p:nvSpPr>
        <p:spPr>
          <a:xfrm>
            <a:off x="1536192" y="4873752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Director asks the GM</a:t>
            </a:r>
            <a:endParaRPr lang="en-US" sz="1600" dirty="0"/>
          </a:p>
        </p:txBody>
      </p:sp>
      <p:sp>
        <p:nvSpPr>
          <p:cNvPr id="37" name="loop-arrow-1"/>
          <p:cNvSpPr/>
          <p:nvPr/>
        </p:nvSpPr>
        <p:spPr>
          <a:xfrm>
            <a:off x="4069080" y="5166360"/>
            <a:ext cx="310896" cy="91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38" name="loop-2-icon-tile"/>
          <p:cNvSpPr/>
          <p:nvPr/>
        </p:nvSpPr>
        <p:spPr>
          <a:xfrm>
            <a:off x="4517136" y="4892040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39" name="loop-2-icon" descr="The GM asks the Project Co-ordinator to verif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810" y="5023714"/>
            <a:ext cx="285293" cy="285293"/>
          </a:xfrm>
          <a:prstGeom prst="rect">
            <a:avLst/>
          </a:prstGeom>
        </p:spPr>
      </p:pic>
      <p:sp>
        <p:nvSpPr>
          <p:cNvPr id="40" name="loop-2-text"/>
          <p:cNvSpPr txBox="1"/>
          <p:nvPr/>
        </p:nvSpPr>
        <p:spPr>
          <a:xfrm>
            <a:off x="5230368" y="4873752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GM asks the Project Co-ordinator to verify</a:t>
            </a:r>
            <a:endParaRPr lang="en-US" sz="1600" dirty="0"/>
          </a:p>
        </p:txBody>
      </p:sp>
      <p:sp>
        <p:nvSpPr>
          <p:cNvPr id="41" name="loop-arrow-2"/>
          <p:cNvSpPr/>
          <p:nvPr/>
        </p:nvSpPr>
        <p:spPr>
          <a:xfrm>
            <a:off x="7763256" y="5166360"/>
            <a:ext cx="310896" cy="91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42" name="loop-3-icon-tile"/>
          <p:cNvSpPr/>
          <p:nvPr/>
        </p:nvSpPr>
        <p:spPr>
          <a:xfrm>
            <a:off x="8211312" y="4892040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43" name="loop-3-icon" descr="The answers return up the same chain to the Directo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2986" y="5023714"/>
            <a:ext cx="285293" cy="285293"/>
          </a:xfrm>
          <a:prstGeom prst="rect">
            <a:avLst/>
          </a:prstGeom>
        </p:spPr>
      </p:pic>
      <p:sp>
        <p:nvSpPr>
          <p:cNvPr id="44" name="loop-3-text"/>
          <p:cNvSpPr txBox="1"/>
          <p:nvPr/>
        </p:nvSpPr>
        <p:spPr>
          <a:xfrm>
            <a:off x="8924544" y="4873752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answers return up the same chain to the Director</a:t>
            </a:r>
            <a:endParaRPr lang="en-US" sz="1600" dirty="0"/>
          </a:p>
        </p:txBody>
      </p:sp>
      <p:pic>
        <p:nvPicPr>
          <p:cNvPr id="45" name="icon-history" descr="Recorde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641848"/>
            <a:ext cx="237744" cy="237744"/>
          </a:xfrm>
          <a:prstGeom prst="rect">
            <a:avLst/>
          </a:prstGeom>
        </p:spPr>
      </p:pic>
      <p:sp>
        <p:nvSpPr>
          <p:cNvPr id="46" name="loop-footnote"/>
          <p:cNvSpPr txBox="1"/>
          <p:nvPr/>
        </p:nvSpPr>
        <p:spPr>
          <a:xfrm>
            <a:off x="1152144" y="560527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Every step, and every note written along the way, is shown in the request’s Workflow tab.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Control built in for directors</a:t>
            </a:r>
            <a:endParaRPr lang="en-US" sz="3600" dirty="0"/>
          </a:p>
        </p:txBody>
      </p:sp>
      <p:sp>
        <p:nvSpPr>
          <p:cNvPr id="4" name="lede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Every decision leaves a trail, and no file sits unnoticed.</a:t>
            </a:r>
            <a:endParaRPr lang="en-US" sz="1800" dirty="0"/>
          </a:p>
        </p:txBody>
      </p:sp>
      <p:sp>
        <p:nvSpPr>
          <p:cNvPr id="5" name="guarantee-1"/>
          <p:cNvSpPr/>
          <p:nvPr/>
        </p:nvSpPr>
        <p:spPr>
          <a:xfrm>
            <a:off x="548640" y="1874520"/>
            <a:ext cx="3246120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1C1A33">
                <a:alpha val="12000"/>
              </a:srgbClr>
            </a:outerShdw>
          </a:effectLst>
        </p:spPr>
      </p:sp>
      <p:sp>
        <p:nvSpPr>
          <p:cNvPr id="6" name="guarantee-1-icon-tile"/>
          <p:cNvSpPr/>
          <p:nvPr/>
        </p:nvSpPr>
        <p:spPr>
          <a:xfrm>
            <a:off x="777240" y="2103120"/>
            <a:ext cx="512064" cy="51206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7" name="guarantee-1-icon" descr="Nothing is lo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35" y="2226015"/>
            <a:ext cx="266273" cy="266273"/>
          </a:xfrm>
          <a:prstGeom prst="rect">
            <a:avLst/>
          </a:prstGeom>
        </p:spPr>
      </p:pic>
      <p:sp>
        <p:nvSpPr>
          <p:cNvPr id="8" name="guarantee-1-title"/>
          <p:cNvSpPr txBox="1"/>
          <p:nvPr/>
        </p:nvSpPr>
        <p:spPr>
          <a:xfrm>
            <a:off x="777240" y="27432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Nothing is lost</a:t>
            </a:r>
            <a:endParaRPr lang="en-US" sz="1800" dirty="0"/>
          </a:p>
        </p:txBody>
      </p:sp>
      <p:sp>
        <p:nvSpPr>
          <p:cNvPr id="9" name="guarantee-1-body"/>
          <p:cNvSpPr txBox="1"/>
          <p:nvPr/>
        </p:nvSpPr>
        <p:spPr>
          <a:xfrm>
            <a:off x="777240" y="3090672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Every action and remark is kept. Undoing an action adds to the record — it never erases it.</a:t>
            </a:r>
            <a:endParaRPr lang="en-US" sz="1400" dirty="0"/>
          </a:p>
        </p:txBody>
      </p:sp>
      <p:sp>
        <p:nvSpPr>
          <p:cNvPr id="10" name="guarantee-2"/>
          <p:cNvSpPr/>
          <p:nvPr/>
        </p:nvSpPr>
        <p:spPr>
          <a:xfrm>
            <a:off x="4023360" y="1874520"/>
            <a:ext cx="3246120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1C1A33">
                <a:alpha val="12000"/>
              </a:srgbClr>
            </a:outerShdw>
          </a:effectLst>
        </p:spPr>
      </p:sp>
      <p:sp>
        <p:nvSpPr>
          <p:cNvPr id="11" name="guarantee-2-icon-tile"/>
          <p:cNvSpPr/>
          <p:nvPr/>
        </p:nvSpPr>
        <p:spPr>
          <a:xfrm>
            <a:off x="4251960" y="2103120"/>
            <a:ext cx="512064" cy="51206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2" name="guarantee-2-icon" descr="Edits cancel approva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855" y="2226015"/>
            <a:ext cx="266273" cy="266273"/>
          </a:xfrm>
          <a:prstGeom prst="rect">
            <a:avLst/>
          </a:prstGeom>
        </p:spPr>
      </p:pic>
      <p:sp>
        <p:nvSpPr>
          <p:cNvPr id="13" name="guarantee-2-title"/>
          <p:cNvSpPr txBox="1"/>
          <p:nvPr/>
        </p:nvSpPr>
        <p:spPr>
          <a:xfrm>
            <a:off x="4251960" y="27432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Edits cancel approvals</a:t>
            </a:r>
            <a:endParaRPr lang="en-US" sz="1800" dirty="0"/>
          </a:p>
        </p:txBody>
      </p:sp>
      <p:sp>
        <p:nvSpPr>
          <p:cNvPr id="14" name="guarantee-2-body"/>
          <p:cNvSpPr txBox="1"/>
          <p:nvPr/>
        </p:nvSpPr>
        <p:spPr>
          <a:xfrm>
            <a:off x="4251960" y="3090672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If the amount or proposal changes after someone approved, their approval no longer counts.</a:t>
            </a:r>
            <a:endParaRPr lang="en-US" sz="1400" dirty="0"/>
          </a:p>
        </p:txBody>
      </p:sp>
      <p:sp>
        <p:nvSpPr>
          <p:cNvPr id="15" name="guarantee-3"/>
          <p:cNvSpPr/>
          <p:nvPr/>
        </p:nvSpPr>
        <p:spPr>
          <a:xfrm>
            <a:off x="548640" y="4114800"/>
            <a:ext cx="3246120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1C1A33">
                <a:alpha val="12000"/>
              </a:srgbClr>
            </a:outerShdw>
          </a:effectLst>
        </p:spPr>
      </p:sp>
      <p:sp>
        <p:nvSpPr>
          <p:cNvPr id="16" name="guarantee-3-icon-tile"/>
          <p:cNvSpPr/>
          <p:nvPr/>
        </p:nvSpPr>
        <p:spPr>
          <a:xfrm>
            <a:off x="777240" y="4343400"/>
            <a:ext cx="512064" cy="51206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7" name="guarantee-3-icon" descr="Sanction a different amou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35" y="4466295"/>
            <a:ext cx="266273" cy="266273"/>
          </a:xfrm>
          <a:prstGeom prst="rect">
            <a:avLst/>
          </a:prstGeom>
        </p:spPr>
      </p:pic>
      <p:sp>
        <p:nvSpPr>
          <p:cNvPr id="18" name="guarantee-3-title"/>
          <p:cNvSpPr txBox="1"/>
          <p:nvPr/>
        </p:nvSpPr>
        <p:spPr>
          <a:xfrm>
            <a:off x="777240" y="49834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Sanction a different amount</a:t>
            </a:r>
            <a:endParaRPr lang="en-US" sz="1800" dirty="0"/>
          </a:p>
        </p:txBody>
      </p:sp>
      <p:sp>
        <p:nvSpPr>
          <p:cNvPr id="19" name="guarantee-3-body"/>
          <p:cNvSpPr txBox="1"/>
          <p:nvPr/>
        </p:nvSpPr>
        <p:spPr>
          <a:xfrm>
            <a:off x="777240" y="5330952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Approve less than was asked. Both figures appear on the record and on the printed note.</a:t>
            </a:r>
            <a:endParaRPr lang="en-US" sz="1400" dirty="0"/>
          </a:p>
        </p:txBody>
      </p:sp>
      <p:sp>
        <p:nvSpPr>
          <p:cNvPr id="20" name="guarantee-4"/>
          <p:cNvSpPr/>
          <p:nvPr/>
        </p:nvSpPr>
        <p:spPr>
          <a:xfrm>
            <a:off x="4023360" y="4114800"/>
            <a:ext cx="3246120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1C1A33">
                <a:alpha val="12000"/>
              </a:srgbClr>
            </a:outerShdw>
          </a:effectLst>
        </p:spPr>
      </p:sp>
      <p:sp>
        <p:nvSpPr>
          <p:cNvPr id="21" name="guarantee-4-icon-tile"/>
          <p:cNvSpPr/>
          <p:nvPr/>
        </p:nvSpPr>
        <p:spPr>
          <a:xfrm>
            <a:off x="4251960" y="4343400"/>
            <a:ext cx="512064" cy="51206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22" name="guarantee-4-icon" descr="Cover during leav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855" y="4466295"/>
            <a:ext cx="266273" cy="266273"/>
          </a:xfrm>
          <a:prstGeom prst="rect">
            <a:avLst/>
          </a:prstGeom>
        </p:spPr>
      </p:pic>
      <p:sp>
        <p:nvSpPr>
          <p:cNvPr id="23" name="guarantee-4-title"/>
          <p:cNvSpPr txBox="1"/>
          <p:nvPr/>
        </p:nvSpPr>
        <p:spPr>
          <a:xfrm>
            <a:off x="4251960" y="49834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Cover during leave</a:t>
            </a:r>
            <a:endParaRPr lang="en-US" sz="1800" dirty="0"/>
          </a:p>
        </p:txBody>
      </p:sp>
      <p:sp>
        <p:nvSpPr>
          <p:cNvPr id="24" name="guarantee-4-body"/>
          <p:cNvSpPr txBox="1"/>
          <p:nvPr/>
        </p:nvSpPr>
        <p:spPr>
          <a:xfrm>
            <a:off x="4251960" y="5330952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Hand your approvals to a colleague for the days you are away.</a:t>
            </a:r>
            <a:endParaRPr lang="en-US" sz="1400" dirty="0"/>
          </a:p>
        </p:txBody>
      </p:sp>
      <p:sp>
        <p:nvSpPr>
          <p:cNvPr id="25" name="ladder-panel"/>
          <p:cNvSpPr/>
          <p:nvPr/>
        </p:nvSpPr>
        <p:spPr>
          <a:xfrm>
            <a:off x="7635240" y="1874520"/>
            <a:ext cx="4005072" cy="4251960"/>
          </a:xfrm>
          <a:prstGeom prst="roundRect">
            <a:avLst>
              <a:gd name="adj" fmla="val 3196"/>
            </a:avLst>
          </a:prstGeom>
          <a:solidFill>
            <a:schemeClr val="bg2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26" name="icon-alarm-clock" descr="Remind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2148840"/>
            <a:ext cx="329184" cy="329184"/>
          </a:xfrm>
          <a:prstGeom prst="rect">
            <a:avLst/>
          </a:prstGeom>
        </p:spPr>
      </p:pic>
      <p:sp>
        <p:nvSpPr>
          <p:cNvPr id="27" name="ladder-title"/>
          <p:cNvSpPr txBox="1"/>
          <p:nvPr/>
        </p:nvSpPr>
        <p:spPr>
          <a:xfrm>
            <a:off x="8348472" y="213055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file sits unnoticed</a:t>
            </a:r>
            <a:endParaRPr lang="en-US" sz="1800" dirty="0"/>
          </a:p>
        </p:txBody>
      </p:sp>
      <p:sp>
        <p:nvSpPr>
          <p:cNvPr id="28" name="ladder-caption"/>
          <p:cNvSpPr txBox="1"/>
          <p:nvPr/>
        </p:nvSpPr>
        <p:spPr>
          <a:xfrm>
            <a:off x="7909560" y="258775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Default reminder schedule — adjustable in Settings</a:t>
            </a:r>
            <a:endParaRPr lang="en-US" sz="1200" dirty="0"/>
          </a:p>
        </p:txBody>
      </p:sp>
      <p:sp>
        <p:nvSpPr>
          <p:cNvPr id="29" name="ladder-spine"/>
          <p:cNvSpPr/>
          <p:nvPr/>
        </p:nvSpPr>
        <p:spPr>
          <a:xfrm>
            <a:off x="8019288" y="3191256"/>
            <a:ext cx="91" cy="241401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30" name="ladder-dot-1"/>
          <p:cNvSpPr/>
          <p:nvPr/>
        </p:nvSpPr>
        <p:spPr>
          <a:xfrm>
            <a:off x="7909560" y="3081528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31" name="ladder-1-hours"/>
          <p:cNvSpPr txBox="1"/>
          <p:nvPr/>
        </p:nvSpPr>
        <p:spPr>
          <a:xfrm>
            <a:off x="8348472" y="302666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 h</a:t>
            </a:r>
            <a:endParaRPr lang="en-US" sz="1600" dirty="0"/>
          </a:p>
        </p:txBody>
      </p:sp>
      <p:sp>
        <p:nvSpPr>
          <p:cNvPr id="32" name="ladder-1-label"/>
          <p:cNvSpPr txBox="1"/>
          <p:nvPr/>
        </p:nvSpPr>
        <p:spPr>
          <a:xfrm>
            <a:off x="9006840" y="302666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Approver notified</a:t>
            </a:r>
            <a:endParaRPr lang="en-US" sz="1600" dirty="0"/>
          </a:p>
        </p:txBody>
      </p:sp>
      <p:sp>
        <p:nvSpPr>
          <p:cNvPr id="33" name="ladder-dot-2"/>
          <p:cNvSpPr/>
          <p:nvPr/>
        </p:nvSpPr>
        <p:spPr>
          <a:xfrm>
            <a:off x="7909560" y="368503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34" name="ladder-2-hours"/>
          <p:cNvSpPr txBox="1"/>
          <p:nvPr/>
        </p:nvSpPr>
        <p:spPr>
          <a:xfrm>
            <a:off x="8348472" y="36301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24 h</a:t>
            </a:r>
            <a:endParaRPr lang="en-US" sz="1600" dirty="0"/>
          </a:p>
        </p:txBody>
      </p:sp>
      <p:sp>
        <p:nvSpPr>
          <p:cNvPr id="35" name="ladder-2-label"/>
          <p:cNvSpPr txBox="1"/>
          <p:nvPr/>
        </p:nvSpPr>
        <p:spPr>
          <a:xfrm>
            <a:off x="9006840" y="363016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Reminder</a:t>
            </a:r>
            <a:endParaRPr lang="en-US" sz="1600" dirty="0"/>
          </a:p>
        </p:txBody>
      </p:sp>
      <p:sp>
        <p:nvSpPr>
          <p:cNvPr id="36" name="ladder-dot-3"/>
          <p:cNvSpPr/>
          <p:nvPr/>
        </p:nvSpPr>
        <p:spPr>
          <a:xfrm>
            <a:off x="7909560" y="4288536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37" name="ladder-3-hours"/>
          <p:cNvSpPr txBox="1"/>
          <p:nvPr/>
        </p:nvSpPr>
        <p:spPr>
          <a:xfrm>
            <a:off x="8348472" y="423367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48 h</a:t>
            </a:r>
            <a:endParaRPr lang="en-US" sz="1600" dirty="0"/>
          </a:p>
        </p:txBody>
      </p:sp>
      <p:sp>
        <p:nvSpPr>
          <p:cNvPr id="38" name="ladder-3-label"/>
          <p:cNvSpPr txBox="1"/>
          <p:nvPr/>
        </p:nvSpPr>
        <p:spPr>
          <a:xfrm>
            <a:off x="9006840" y="4233672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Second reminder</a:t>
            </a:r>
            <a:endParaRPr lang="en-US" sz="1600" dirty="0"/>
          </a:p>
        </p:txBody>
      </p:sp>
      <p:sp>
        <p:nvSpPr>
          <p:cNvPr id="39" name="ladder-dot-4"/>
          <p:cNvSpPr/>
          <p:nvPr/>
        </p:nvSpPr>
        <p:spPr>
          <a:xfrm>
            <a:off x="7909560" y="4892040"/>
            <a:ext cx="219456" cy="21945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40" name="ladder-4-hours"/>
          <p:cNvSpPr txBox="1"/>
          <p:nvPr/>
        </p:nvSpPr>
        <p:spPr>
          <a:xfrm>
            <a:off x="8348472" y="483717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72 h</a:t>
            </a:r>
            <a:endParaRPr lang="en-US" sz="1600" dirty="0"/>
          </a:p>
        </p:txBody>
      </p:sp>
      <p:sp>
        <p:nvSpPr>
          <p:cNvPr id="41" name="ladder-4-label"/>
          <p:cNvSpPr txBox="1"/>
          <p:nvPr/>
        </p:nvSpPr>
        <p:spPr>
          <a:xfrm>
            <a:off x="9006840" y="4837176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Escalated to the HOD</a:t>
            </a:r>
            <a:endParaRPr lang="en-US" sz="1600" dirty="0"/>
          </a:p>
        </p:txBody>
      </p:sp>
      <p:sp>
        <p:nvSpPr>
          <p:cNvPr id="42" name="ladder-dot-5"/>
          <p:cNvSpPr/>
          <p:nvPr/>
        </p:nvSpPr>
        <p:spPr>
          <a:xfrm>
            <a:off x="7909560" y="5495544"/>
            <a:ext cx="219456" cy="21945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43" name="ladder-5-hours"/>
          <p:cNvSpPr txBox="1"/>
          <p:nvPr/>
        </p:nvSpPr>
        <p:spPr>
          <a:xfrm>
            <a:off x="8348472" y="544068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96 h</a:t>
            </a:r>
            <a:endParaRPr lang="en-US" sz="1600" dirty="0"/>
          </a:p>
        </p:txBody>
      </p:sp>
      <p:sp>
        <p:nvSpPr>
          <p:cNvPr id="44" name="ladder-5-label"/>
          <p:cNvSpPr txBox="1"/>
          <p:nvPr/>
        </p:nvSpPr>
        <p:spPr>
          <a:xfrm>
            <a:off x="9006840" y="5440680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HOD and requester told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Getting started</a:t>
            </a:r>
            <a:endParaRPr lang="en-US" sz="4000" dirty="0"/>
          </a:p>
        </p:txBody>
      </p:sp>
      <p:sp>
        <p:nvSpPr>
          <p:cNvPr id="4" name="group-1"/>
          <p:cNvSpPr/>
          <p:nvPr/>
        </p:nvSpPr>
        <p:spPr>
          <a:xfrm>
            <a:off x="548640" y="1554480"/>
            <a:ext cx="3520440" cy="3566160"/>
          </a:xfrm>
          <a:prstGeom prst="roundRect">
            <a:avLst>
              <a:gd name="adj" fmla="val 363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25000"/>
              </a:schemeClr>
            </a:solidFill>
            <a:prstDash val="solid"/>
          </a:ln>
        </p:spPr>
      </p:sp>
      <p:sp>
        <p:nvSpPr>
          <p:cNvPr id="5" name="group-1-icon-tile"/>
          <p:cNvSpPr/>
          <p:nvPr/>
        </p:nvSpPr>
        <p:spPr>
          <a:xfrm>
            <a:off x="822960" y="1828800"/>
            <a:ext cx="603504" cy="603504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6" name="group-1-icon" descr="For every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01" y="1973641"/>
            <a:ext cx="313822" cy="313822"/>
          </a:xfrm>
          <a:prstGeom prst="rect">
            <a:avLst/>
          </a:prstGeom>
        </p:spPr>
      </p:pic>
      <p:sp>
        <p:nvSpPr>
          <p:cNvPr id="7" name="group-1-heading"/>
          <p:cNvSpPr txBox="1"/>
          <p:nvPr/>
        </p:nvSpPr>
        <p:spPr>
          <a:xfrm>
            <a:off x="822960" y="25786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For everyone</a:t>
            </a:r>
            <a:endParaRPr lang="en-US" sz="2000" dirty="0"/>
          </a:p>
        </p:txBody>
      </p:sp>
      <p:sp>
        <p:nvSpPr>
          <p:cNvPr id="8" name="group-1-items"/>
          <p:cNvSpPr txBox="1"/>
          <p:nvPr/>
        </p:nvSpPr>
        <p:spPr>
          <a:xfrm>
            <a:off x="822960" y="310896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Raise note-sheets in E-Approval</a:t>
            </a:r>
            <a:endParaRPr lang="en-US" sz="16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Attach the quotation or bill</a:t>
            </a:r>
            <a:endParaRPr lang="en-US" sz="16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Use “Pending with” instead of phoning around</a:t>
            </a:r>
            <a:endParaRPr lang="en-US" sz="1600" dirty="0"/>
          </a:p>
        </p:txBody>
      </p:sp>
      <p:sp>
        <p:nvSpPr>
          <p:cNvPr id="9" name="group-2"/>
          <p:cNvSpPr/>
          <p:nvPr/>
        </p:nvSpPr>
        <p:spPr>
          <a:xfrm>
            <a:off x="4334256" y="1554480"/>
            <a:ext cx="3520440" cy="3566160"/>
          </a:xfrm>
          <a:prstGeom prst="roundRect">
            <a:avLst>
              <a:gd name="adj" fmla="val 363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25000"/>
              </a:schemeClr>
            </a:solidFill>
            <a:prstDash val="solid"/>
          </a:ln>
        </p:spPr>
      </p:sp>
      <p:sp>
        <p:nvSpPr>
          <p:cNvPr id="10" name="group-2-icon-tile"/>
          <p:cNvSpPr/>
          <p:nvPr/>
        </p:nvSpPr>
        <p:spPr>
          <a:xfrm>
            <a:off x="4608576" y="1828800"/>
            <a:ext cx="603504" cy="603504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1" name="group-2-icon" descr="For approvers and directo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417" y="1973641"/>
            <a:ext cx="313822" cy="313822"/>
          </a:xfrm>
          <a:prstGeom prst="rect">
            <a:avLst/>
          </a:prstGeom>
        </p:spPr>
      </p:pic>
      <p:sp>
        <p:nvSpPr>
          <p:cNvPr id="12" name="group-2-heading"/>
          <p:cNvSpPr txBox="1"/>
          <p:nvPr/>
        </p:nvSpPr>
        <p:spPr>
          <a:xfrm>
            <a:off x="4608576" y="25786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For approvers and directors</a:t>
            </a:r>
            <a:endParaRPr lang="en-US" sz="2000" dirty="0"/>
          </a:p>
        </p:txBody>
      </p:sp>
      <p:sp>
        <p:nvSpPr>
          <p:cNvPr id="13" name="group-2-items"/>
          <p:cNvSpPr txBox="1"/>
          <p:nvPr/>
        </p:nvSpPr>
        <p:spPr>
          <a:xfrm>
            <a:off x="4608576" y="310896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Act from your inbox — desktop or phone</a:t>
            </a:r>
            <a:endParaRPr lang="en-US" sz="16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Sanction a different amount</a:t>
            </a:r>
            <a:endParaRPr lang="en-US" sz="16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Name a delegate before you go on leave</a:t>
            </a:r>
            <a:endParaRPr lang="en-US" sz="1600" dirty="0"/>
          </a:p>
        </p:txBody>
      </p:sp>
      <p:sp>
        <p:nvSpPr>
          <p:cNvPr id="14" name="group-3"/>
          <p:cNvSpPr/>
          <p:nvPr/>
        </p:nvSpPr>
        <p:spPr>
          <a:xfrm>
            <a:off x="8119872" y="1554480"/>
            <a:ext cx="3520440" cy="3566160"/>
          </a:xfrm>
          <a:prstGeom prst="roundRect">
            <a:avLst>
              <a:gd name="adj" fmla="val 363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25000"/>
              </a:schemeClr>
            </a:solidFill>
            <a:prstDash val="solid"/>
          </a:ln>
        </p:spPr>
      </p:sp>
      <p:sp>
        <p:nvSpPr>
          <p:cNvPr id="15" name="group-3-icon-tile"/>
          <p:cNvSpPr/>
          <p:nvPr/>
        </p:nvSpPr>
        <p:spPr>
          <a:xfrm>
            <a:off x="8394192" y="1828800"/>
            <a:ext cx="603504" cy="603504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pic>
        <p:nvPicPr>
          <p:cNvPr id="16" name="group-3-icon" descr="For administrato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033" y="1973641"/>
            <a:ext cx="313822" cy="313822"/>
          </a:xfrm>
          <a:prstGeom prst="rect">
            <a:avLst/>
          </a:prstGeom>
        </p:spPr>
      </p:pic>
      <p:sp>
        <p:nvSpPr>
          <p:cNvPr id="17" name="group-3-heading"/>
          <p:cNvSpPr txBox="1"/>
          <p:nvPr/>
        </p:nvSpPr>
        <p:spPr>
          <a:xfrm>
            <a:off x="8394192" y="25786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For administrators</a:t>
            </a:r>
            <a:endParaRPr lang="en-US" sz="2000" dirty="0"/>
          </a:p>
        </p:txBody>
      </p:sp>
      <p:sp>
        <p:nvSpPr>
          <p:cNvPr id="18" name="group-3-items"/>
          <p:cNvSpPr txBox="1"/>
          <p:nvPr/>
        </p:nvSpPr>
        <p:spPr>
          <a:xfrm>
            <a:off x="8394192" y="310896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Set up workflows by department and project</a:t>
            </a:r>
            <a:endParaRPr lang="en-US" sz="16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Choose approver types in Policies</a:t>
            </a:r>
            <a:endParaRPr lang="en-US" sz="16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Review the reminder schedule</a:t>
            </a:r>
            <a:endParaRPr lang="en-US" sz="1600" dirty="0"/>
          </a:p>
        </p:txBody>
      </p:sp>
      <p:pic>
        <p:nvPicPr>
          <p:cNvPr id="19" name="icon-book-open" descr="Handboo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349240"/>
            <a:ext cx="329184" cy="329184"/>
          </a:xfrm>
          <a:prstGeom prst="rect">
            <a:avLst/>
          </a:prstGeom>
        </p:spPr>
      </p:pic>
      <p:sp>
        <p:nvSpPr>
          <p:cNvPr id="20" name="handbook"/>
          <p:cNvSpPr txBox="1"/>
          <p:nvPr/>
        </p:nvSpPr>
        <p:spPr>
          <a:xfrm>
            <a:off x="1005840" y="53309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The full handbook is in E-Approval → Help.</a:t>
            </a:r>
            <a:endParaRPr lang="en-US" sz="1800" dirty="0"/>
          </a:p>
        </p:txBody>
      </p:sp>
      <p:sp>
        <p:nvSpPr>
          <p:cNvPr id="21" name="not-yet"/>
          <p:cNvSpPr txBox="1"/>
          <p:nvPr/>
        </p:nvSpPr>
        <p:spPr>
          <a:xfrm>
            <a:off x="1005840" y="57607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Not in this release: certificate-backed digital signatures (DSC) and WhatsApp alerts.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L E-Approval">
  <a:themeElements>
    <a:clrScheme name="SEL E-Approval">
      <a:dk1>
        <a:srgbClr val="1C1A33"/>
      </a:dk1>
      <a:lt1>
        <a:srgbClr val="FFFFFF"/>
      </a:lt1>
      <a:dk2>
        <a:srgbClr val="2E1065"/>
      </a:dk2>
      <a:lt2>
        <a:srgbClr val="F5F3FF"/>
      </a:lt2>
      <a:accent1>
        <a:srgbClr val="6D28D9"/>
      </a:accent1>
      <a:accent2>
        <a:srgbClr val="F59E0B"/>
      </a:accent2>
      <a:accent3>
        <a:srgbClr val="059669"/>
      </a:accent3>
      <a:accent4>
        <a:srgbClr val="0EA5E9"/>
      </a:accent4>
      <a:accent5>
        <a:srgbClr val="E11D48"/>
      </a:accent5>
      <a:accent6>
        <a:srgbClr val="64748B"/>
      </a:accent6>
      <a:hlink>
        <a:srgbClr val="6D28D9"/>
      </a:hlink>
      <a:folHlink>
        <a:srgbClr val="4C1D95"/>
      </a:folHlink>
    </a:clrScheme>
    <a:fontScheme name="SEL E-Approv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Sidhartha Engineering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E-Approval — briefing for users and directors</dc:title>
  <dc:subject>Electronic note-sheets at Sidhartha Engineering Limited</dc:subject>
  <dc:creator>Sidhartha Engineering Limited</dc:creator>
  <cp:lastModifiedBy>Sidhartha Engineering Limited</cp:lastModifiedBy>
  <cp:revision>1</cp:revision>
  <dcterms:created xsi:type="dcterms:W3CDTF">2026-10-05T06:02:28Z</dcterms:created>
  <dcterms:modified xsi:type="dcterms:W3CDTF">2026-10-05T06:02:28Z</dcterms:modified>
</cp:coreProperties>
</file>